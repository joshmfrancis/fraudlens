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posal" id="{F4F12325-6DA0-1078-551A-255AEF348849}">
          <p14:sldIdLst>
            <p14:sldId id="256"/>
            <p14:sldId id="257"/>
            <p14:sldId id="258"/>
            <p14:sldId id="259"/>
            <p14:sldId id="260"/>
            <p14:sldId id="261"/>
            <p14:sldId id="262"/>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48889" autoAdjust="0"/>
  </p:normalViewPr>
  <p:slideViewPr>
    <p:cSldViewPr snapToGrid="0" snapToObjects="1">
      <p:cViewPr varScale="1">
        <p:scale>
          <a:sx n="40" d="100"/>
          <a:sy n="40" d="100"/>
        </p:scale>
        <p:origin x="2290" y="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gan Digilormo" userId="35c6cc2b8c32088b" providerId="LiveId" clId="{F2B2F86D-CA85-4A5A-B436-5E6A47CCA2F5}"/>
    <pc:docChg chg="undo custSel modSld">
      <pc:chgData name="Logan Digilormo" userId="35c6cc2b8c32088b" providerId="LiveId" clId="{F2B2F86D-CA85-4A5A-B436-5E6A47CCA2F5}" dt="2026-10-30T18:18:46.265" v="1101" actId="20577"/>
      <pc:docMkLst>
        <pc:docMk/>
      </pc:docMkLst>
      <pc:sldChg chg="modNotesTx">
        <pc:chgData name="Logan Digilormo" userId="35c6cc2b8c32088b" providerId="LiveId" clId="{F2B2F86D-CA85-4A5A-B436-5E6A47CCA2F5}" dt="2026-10-30T17:50:06.149" v="6" actId="20577"/>
        <pc:sldMkLst>
          <pc:docMk/>
          <pc:sldMk cId="0" sldId="256"/>
        </pc:sldMkLst>
      </pc:sldChg>
      <pc:sldChg chg="modNotesTx">
        <pc:chgData name="Logan Digilormo" userId="35c6cc2b8c32088b" providerId="LiveId" clId="{F2B2F86D-CA85-4A5A-B436-5E6A47CCA2F5}" dt="2026-10-30T17:50:27.093" v="14" actId="20577"/>
        <pc:sldMkLst>
          <pc:docMk/>
          <pc:sldMk cId="0" sldId="257"/>
        </pc:sldMkLst>
      </pc:sldChg>
      <pc:sldChg chg="modNotesTx">
        <pc:chgData name="Logan Digilormo" userId="35c6cc2b8c32088b" providerId="LiveId" clId="{F2B2F86D-CA85-4A5A-B436-5E6A47CCA2F5}" dt="2026-10-30T17:52:27.260" v="22" actId="20577"/>
        <pc:sldMkLst>
          <pc:docMk/>
          <pc:sldMk cId="0" sldId="258"/>
        </pc:sldMkLst>
      </pc:sldChg>
      <pc:sldChg chg="modNotesTx">
        <pc:chgData name="Logan Digilormo" userId="35c6cc2b8c32088b" providerId="LiveId" clId="{F2B2F86D-CA85-4A5A-B436-5E6A47CCA2F5}" dt="2026-10-30T17:53:39.277" v="68" actId="20577"/>
        <pc:sldMkLst>
          <pc:docMk/>
          <pc:sldMk cId="0" sldId="259"/>
        </pc:sldMkLst>
      </pc:sldChg>
      <pc:sldChg chg="modNotesTx">
        <pc:chgData name="Logan Digilormo" userId="35c6cc2b8c32088b" providerId="LiveId" clId="{F2B2F86D-CA85-4A5A-B436-5E6A47CCA2F5}" dt="2026-10-30T18:03:41.122" v="184" actId="20577"/>
        <pc:sldMkLst>
          <pc:docMk/>
          <pc:sldMk cId="0" sldId="260"/>
        </pc:sldMkLst>
      </pc:sldChg>
      <pc:sldChg chg="modNotesTx">
        <pc:chgData name="Logan Digilormo" userId="35c6cc2b8c32088b" providerId="LiveId" clId="{F2B2F86D-CA85-4A5A-B436-5E6A47CCA2F5}" dt="2026-10-30T18:05:35.127" v="513" actId="20577"/>
        <pc:sldMkLst>
          <pc:docMk/>
          <pc:sldMk cId="0" sldId="261"/>
        </pc:sldMkLst>
      </pc:sldChg>
      <pc:sldChg chg="modNotesTx">
        <pc:chgData name="Logan Digilormo" userId="35c6cc2b8c32088b" providerId="LiveId" clId="{F2B2F86D-CA85-4A5A-B436-5E6A47CCA2F5}" dt="2026-10-30T18:12:09.064" v="822" actId="20577"/>
        <pc:sldMkLst>
          <pc:docMk/>
          <pc:sldMk cId="0" sldId="263"/>
        </pc:sldMkLst>
      </pc:sldChg>
      <pc:sldChg chg="modNotesTx">
        <pc:chgData name="Logan Digilormo" userId="35c6cc2b8c32088b" providerId="LiveId" clId="{F2B2F86D-CA85-4A5A-B436-5E6A47CCA2F5}" dt="2026-10-30T18:16:46.321" v="969" actId="20577"/>
        <pc:sldMkLst>
          <pc:docMk/>
          <pc:sldMk cId="0" sldId="265"/>
        </pc:sldMkLst>
      </pc:sldChg>
      <pc:sldChg chg="modNotesTx">
        <pc:chgData name="Logan Digilormo" userId="35c6cc2b8c32088b" providerId="LiveId" clId="{F2B2F86D-CA85-4A5A-B436-5E6A47CCA2F5}" dt="2026-10-30T18:18:46.265" v="1101" actId="20577"/>
        <pc:sldMkLst>
          <pc:docMk/>
          <pc:sldMk cId="0" sldId="267"/>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Variance explained</c:v>
                </c:pt>
              </c:strCache>
            </c:strRef>
          </c:tx>
          <c:spPr>
            <a:solidFill>
              <a:srgbClr val="2B7A78"/>
            </a:solidFill>
            <a:effectLst/>
          </c:spPr>
          <c:invertIfNegative val="0"/>
          <c:cat>
            <c:strRef>
              <c:f>Sheet1!$A$2:$A$13</c:f>
              <c:strCache>
                <c:ptCount val="12"/>
                <c:pt idx="0">
                  <c:v>PC1</c:v>
                </c:pt>
                <c:pt idx="1">
                  <c:v>PC2</c:v>
                </c:pt>
                <c:pt idx="2">
                  <c:v>PC3</c:v>
                </c:pt>
                <c:pt idx="3">
                  <c:v>PC4</c:v>
                </c:pt>
                <c:pt idx="4">
                  <c:v>PC5</c:v>
                </c:pt>
                <c:pt idx="5">
                  <c:v>PC6</c:v>
                </c:pt>
                <c:pt idx="6">
                  <c:v>PC7</c:v>
                </c:pt>
                <c:pt idx="7">
                  <c:v>PC8</c:v>
                </c:pt>
                <c:pt idx="8">
                  <c:v>PC9</c:v>
                </c:pt>
                <c:pt idx="9">
                  <c:v>PC10</c:v>
                </c:pt>
                <c:pt idx="10">
                  <c:v>PC11</c:v>
                </c:pt>
                <c:pt idx="11">
                  <c:v>PC12</c:v>
                </c:pt>
              </c:strCache>
            </c:strRef>
          </c:cat>
          <c:val>
            <c:numRef>
              <c:f>Sheet1!$B$2:$B$13</c:f>
              <c:numCache>
                <c:formatCode>General</c:formatCode>
                <c:ptCount val="12"/>
                <c:pt idx="0">
                  <c:v>8.6499999999999994E-2</c:v>
                </c:pt>
                <c:pt idx="1">
                  <c:v>8.3900000000000002E-2</c:v>
                </c:pt>
                <c:pt idx="2">
                  <c:v>6.1899999999999997E-2</c:v>
                </c:pt>
                <c:pt idx="3">
                  <c:v>5.0599999999999999E-2</c:v>
                </c:pt>
                <c:pt idx="4">
                  <c:v>4.3900000000000002E-2</c:v>
                </c:pt>
                <c:pt idx="5">
                  <c:v>4.07E-2</c:v>
                </c:pt>
                <c:pt idx="6">
                  <c:v>3.7499999999999999E-2</c:v>
                </c:pt>
                <c:pt idx="7">
                  <c:v>3.6400000000000002E-2</c:v>
                </c:pt>
                <c:pt idx="8">
                  <c:v>3.5900000000000001E-2</c:v>
                </c:pt>
                <c:pt idx="9">
                  <c:v>3.5499999999999997E-2</c:v>
                </c:pt>
                <c:pt idx="10">
                  <c:v>3.5299999999999998E-2</c:v>
                </c:pt>
                <c:pt idx="11">
                  <c:v>3.5200000000000002E-2</c:v>
                </c:pt>
              </c:numCache>
            </c:numRef>
          </c:val>
          <c:extLst>
            <c:ext xmlns:c16="http://schemas.microsoft.com/office/drawing/2014/chart" uri="{C3380CC4-5D6E-409C-BE32-E72D297353CC}">
              <c16:uniqueId val="{00000000-F02A-48F4-8CEF-82CEBFD1CA3A}"/>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Original features</c:v>
                </c:pt>
              </c:strCache>
            </c:strRef>
          </c:tx>
          <c:spPr>
            <a:solidFill>
              <a:srgbClr val="2B7A78"/>
            </a:solidFill>
            <a:effectLst/>
          </c:spPr>
          <c:invertIfNegative val="0"/>
          <c:dLbls>
            <c:numFmt formatCode="0.00" sourceLinked="0"/>
            <c:spPr>
              <a:noFill/>
              <a:ln>
                <a:noFill/>
              </a:ln>
              <a:effectLst/>
            </c:spPr>
            <c:txPr>
              <a:bodyPr/>
              <a:lstStyle/>
              <a:p>
                <a:pPr>
                  <a:defRPr sz="11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Logistic regression</c:v>
                </c:pt>
                <c:pt idx="1">
                  <c:v>Decision tree</c:v>
                </c:pt>
                <c:pt idx="2">
                  <c:v>Random forest</c:v>
                </c:pt>
                <c:pt idx="3">
                  <c:v>Gradient boosting</c:v>
                </c:pt>
              </c:strCache>
            </c:strRef>
          </c:cat>
          <c:val>
            <c:numRef>
              <c:f>Sheet1!$B$2:$B$5</c:f>
              <c:numCache>
                <c:formatCode>General</c:formatCode>
                <c:ptCount val="4"/>
                <c:pt idx="0">
                  <c:v>6.0000000000000001E-3</c:v>
                </c:pt>
                <c:pt idx="1">
                  <c:v>0.68899999999999995</c:v>
                </c:pt>
                <c:pt idx="2">
                  <c:v>0.76400000000000001</c:v>
                </c:pt>
                <c:pt idx="3">
                  <c:v>0.66</c:v>
                </c:pt>
              </c:numCache>
            </c:numRef>
          </c:val>
          <c:extLst>
            <c:ext xmlns:c16="http://schemas.microsoft.com/office/drawing/2014/chart" uri="{C3380CC4-5D6E-409C-BE32-E72D297353CC}">
              <c16:uniqueId val="{00000000-43B4-4BE0-A2DB-984F6CE35CB1}"/>
            </c:ext>
          </c:extLst>
        </c:ser>
        <c:ser>
          <c:idx val="1"/>
          <c:order val="1"/>
          <c:tx>
            <c:strRef>
              <c:f>Sheet1!$C$1</c:f>
              <c:strCache>
                <c:ptCount val="1"/>
                <c:pt idx="0">
                  <c:v>PCA on continuous features</c:v>
                </c:pt>
              </c:strCache>
            </c:strRef>
          </c:tx>
          <c:spPr>
            <a:solidFill>
              <a:srgbClr val="F2B134"/>
            </a:solidFill>
            <a:effectLst/>
          </c:spPr>
          <c:invertIfNegative val="0"/>
          <c:dLbls>
            <c:numFmt formatCode="0.00" sourceLinked="0"/>
            <c:spPr>
              <a:noFill/>
              <a:ln>
                <a:noFill/>
              </a:ln>
              <a:effectLst/>
            </c:spPr>
            <c:txPr>
              <a:bodyPr/>
              <a:lstStyle/>
              <a:p>
                <a:pPr>
                  <a:defRPr sz="11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Logistic regression</c:v>
                </c:pt>
                <c:pt idx="1">
                  <c:v>Decision tree</c:v>
                </c:pt>
                <c:pt idx="2">
                  <c:v>Random forest</c:v>
                </c:pt>
                <c:pt idx="3">
                  <c:v>Gradient boosting</c:v>
                </c:pt>
              </c:strCache>
            </c:strRef>
          </c:cat>
          <c:val>
            <c:numRef>
              <c:f>Sheet1!$C$2:$C$5</c:f>
              <c:numCache>
                <c:formatCode>General</c:formatCode>
                <c:ptCount val="4"/>
                <c:pt idx="0">
                  <c:v>4.0000000000000001E-3</c:v>
                </c:pt>
                <c:pt idx="1">
                  <c:v>0.64100000000000001</c:v>
                </c:pt>
                <c:pt idx="2">
                  <c:v>0.7</c:v>
                </c:pt>
                <c:pt idx="3">
                  <c:v>0.50600000000000001</c:v>
                </c:pt>
              </c:numCache>
            </c:numRef>
          </c:val>
          <c:extLst>
            <c:ext xmlns:c16="http://schemas.microsoft.com/office/drawing/2014/chart" uri="{C3380CC4-5D6E-409C-BE32-E72D297353CC}">
              <c16:uniqueId val="{00000001-43B4-4BE0-A2DB-984F6CE35CB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1"/>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Precision</c:v>
                </c:pt>
              </c:strCache>
            </c:strRef>
          </c:tx>
          <c:spPr>
            <a:solidFill>
              <a:srgbClr val="2B7A78"/>
            </a:solidFill>
            <a:effectLst/>
          </c:spPr>
          <c:invertIfNegative val="0"/>
          <c:dLbls>
            <c:numFmt formatCode="0.00" sourceLinked="0"/>
            <c:spPr>
              <a:noFill/>
              <a:ln>
                <a:noFill/>
              </a:ln>
              <a:effectLst/>
            </c:spPr>
            <c:txPr>
              <a:bodyPr/>
              <a:lstStyle/>
              <a:p>
                <a:pPr>
                  <a:defRPr sz="10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Logistic reg.</c:v>
                </c:pt>
                <c:pt idx="1">
                  <c:v>Decision tree</c:v>
                </c:pt>
                <c:pt idx="2">
                  <c:v>Random forest</c:v>
                </c:pt>
                <c:pt idx="3">
                  <c:v>Gradient boosting</c:v>
                </c:pt>
              </c:strCache>
            </c:strRef>
          </c:cat>
          <c:val>
            <c:numRef>
              <c:f>Sheet1!$B$2:$B$5</c:f>
              <c:numCache>
                <c:formatCode>General</c:formatCode>
                <c:ptCount val="4"/>
                <c:pt idx="0">
                  <c:v>4.4999999999999998E-2</c:v>
                </c:pt>
                <c:pt idx="1">
                  <c:v>0.68</c:v>
                </c:pt>
                <c:pt idx="2">
                  <c:v>0.81399999999999995</c:v>
                </c:pt>
                <c:pt idx="3">
                  <c:v>1</c:v>
                </c:pt>
              </c:numCache>
            </c:numRef>
          </c:val>
          <c:extLst>
            <c:ext xmlns:c16="http://schemas.microsoft.com/office/drawing/2014/chart" uri="{C3380CC4-5D6E-409C-BE32-E72D297353CC}">
              <c16:uniqueId val="{00000000-36AF-4C64-A4D3-F4AAB48788F4}"/>
            </c:ext>
          </c:extLst>
        </c:ser>
        <c:ser>
          <c:idx val="1"/>
          <c:order val="1"/>
          <c:tx>
            <c:strRef>
              <c:f>Sheet1!$C$1</c:f>
              <c:strCache>
                <c:ptCount val="1"/>
                <c:pt idx="0">
                  <c:v>Recall</c:v>
                </c:pt>
              </c:strCache>
            </c:strRef>
          </c:tx>
          <c:spPr>
            <a:solidFill>
              <a:srgbClr val="F2B134"/>
            </a:solidFill>
            <a:effectLst/>
          </c:spPr>
          <c:invertIfNegative val="0"/>
          <c:dLbls>
            <c:numFmt formatCode="0.00" sourceLinked="0"/>
            <c:spPr>
              <a:noFill/>
              <a:ln>
                <a:noFill/>
              </a:ln>
              <a:effectLst/>
            </c:spPr>
            <c:txPr>
              <a:bodyPr/>
              <a:lstStyle/>
              <a:p>
                <a:pPr>
                  <a:defRPr sz="10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Logistic reg.</c:v>
                </c:pt>
                <c:pt idx="1">
                  <c:v>Decision tree</c:v>
                </c:pt>
                <c:pt idx="2">
                  <c:v>Random forest</c:v>
                </c:pt>
                <c:pt idx="3">
                  <c:v>Gradient boosting</c:v>
                </c:pt>
              </c:strCache>
            </c:strRef>
          </c:cat>
          <c:val>
            <c:numRef>
              <c:f>Sheet1!$C$2:$C$5</c:f>
              <c:numCache>
                <c:formatCode>General</c:formatCode>
                <c:ptCount val="4"/>
                <c:pt idx="0">
                  <c:v>3.2000000000000001E-2</c:v>
                </c:pt>
                <c:pt idx="1">
                  <c:v>0.64600000000000002</c:v>
                </c:pt>
                <c:pt idx="2">
                  <c:v>0.65300000000000002</c:v>
                </c:pt>
                <c:pt idx="3">
                  <c:v>0.17299999999999999</c:v>
                </c:pt>
              </c:numCache>
            </c:numRef>
          </c:val>
          <c:extLst>
            <c:ext xmlns:c16="http://schemas.microsoft.com/office/drawing/2014/chart" uri="{C3380CC4-5D6E-409C-BE32-E72D297353CC}">
              <c16:uniqueId val="{00000001-36AF-4C64-A4D3-F4AAB48788F4}"/>
            </c:ext>
          </c:extLst>
        </c:ser>
        <c:ser>
          <c:idx val="2"/>
          <c:order val="2"/>
          <c:tx>
            <c:strRef>
              <c:f>Sheet1!$D$1</c:f>
              <c:strCache>
                <c:ptCount val="1"/>
                <c:pt idx="0">
                  <c:v>F1</c:v>
                </c:pt>
              </c:strCache>
            </c:strRef>
          </c:tx>
          <c:spPr>
            <a:solidFill>
              <a:srgbClr val="E4572E"/>
            </a:solidFill>
            <a:effectLst/>
          </c:spPr>
          <c:invertIfNegative val="0"/>
          <c:dLbls>
            <c:numFmt formatCode="0.00" sourceLinked="0"/>
            <c:spPr>
              <a:noFill/>
              <a:ln>
                <a:noFill/>
              </a:ln>
              <a:effectLst/>
            </c:spPr>
            <c:txPr>
              <a:bodyPr/>
              <a:lstStyle/>
              <a:p>
                <a:pPr>
                  <a:defRPr sz="10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Logistic reg.</c:v>
                </c:pt>
                <c:pt idx="1">
                  <c:v>Decision tree</c:v>
                </c:pt>
                <c:pt idx="2">
                  <c:v>Random forest</c:v>
                </c:pt>
                <c:pt idx="3">
                  <c:v>Gradient boosting</c:v>
                </c:pt>
              </c:strCache>
            </c:strRef>
          </c:cat>
          <c:val>
            <c:numRef>
              <c:f>Sheet1!$D$2:$D$5</c:f>
              <c:numCache>
                <c:formatCode>General</c:formatCode>
                <c:ptCount val="4"/>
                <c:pt idx="0">
                  <c:v>3.6999999999999998E-2</c:v>
                </c:pt>
                <c:pt idx="1">
                  <c:v>0.66200000000000003</c:v>
                </c:pt>
                <c:pt idx="2">
                  <c:v>0.72499999999999998</c:v>
                </c:pt>
                <c:pt idx="3">
                  <c:v>0.29599999999999999</c:v>
                </c:pt>
              </c:numCache>
            </c:numRef>
          </c:val>
          <c:extLst>
            <c:ext xmlns:c16="http://schemas.microsoft.com/office/drawing/2014/chart" uri="{C3380CC4-5D6E-409C-BE32-E72D297353CC}">
              <c16:uniqueId val="{00000002-36AF-4C64-A4D3-F4AAB48788F4}"/>
            </c:ext>
          </c:extLst>
        </c:ser>
        <c:ser>
          <c:idx val="3"/>
          <c:order val="3"/>
          <c:tx>
            <c:strRef>
              <c:f>Sheet1!$E$1</c:f>
              <c:strCache>
                <c:ptCount val="1"/>
                <c:pt idx="0">
                  <c:v>CV PR-AUC</c:v>
                </c:pt>
              </c:strCache>
            </c:strRef>
          </c:tx>
          <c:spPr>
            <a:solidFill>
              <a:srgbClr val="5C6B73"/>
            </a:solidFill>
            <a:effectLst/>
          </c:spPr>
          <c:invertIfNegative val="0"/>
          <c:dLbls>
            <c:numFmt formatCode="0.00" sourceLinked="0"/>
            <c:spPr>
              <a:noFill/>
              <a:ln>
                <a:noFill/>
              </a:ln>
              <a:effectLst/>
            </c:spPr>
            <c:txPr>
              <a:bodyPr/>
              <a:lstStyle/>
              <a:p>
                <a:pPr>
                  <a:defRPr sz="10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Logistic reg.</c:v>
                </c:pt>
                <c:pt idx="1">
                  <c:v>Decision tree</c:v>
                </c:pt>
                <c:pt idx="2">
                  <c:v>Random forest</c:v>
                </c:pt>
                <c:pt idx="3">
                  <c:v>Gradient boosting</c:v>
                </c:pt>
              </c:strCache>
            </c:strRef>
          </c:cat>
          <c:val>
            <c:numRef>
              <c:f>Sheet1!$E$2:$E$5</c:f>
              <c:numCache>
                <c:formatCode>General</c:formatCode>
                <c:ptCount val="4"/>
                <c:pt idx="0">
                  <c:v>0.128</c:v>
                </c:pt>
                <c:pt idx="1">
                  <c:v>0.47899999999999998</c:v>
                </c:pt>
                <c:pt idx="2">
                  <c:v>0.73499999999999999</c:v>
                </c:pt>
                <c:pt idx="3">
                  <c:v>0.55600000000000005</c:v>
                </c:pt>
              </c:numCache>
            </c:numRef>
          </c:val>
          <c:extLst>
            <c:ext xmlns:c16="http://schemas.microsoft.com/office/drawing/2014/chart" uri="{C3380CC4-5D6E-409C-BE32-E72D297353CC}">
              <c16:uniqueId val="{00000003-36AF-4C64-A4D3-F4AAB48788F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1"/>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300"/>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00852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JOSH: Hello everyone, I'm Josh, and this is Logan. Since the proposal we have generated the data, built the features, cross-validated and tested all four models, so today we are presenting real results along with their limitations. Logan will begin with a brief recap.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LOGAN: Thanks, Josh. In the proposal we set out to detect credit card fraud using machine learning. The data is simulated with the public Sparkov generator, so no private data is involved. We planned engineered features and four models, judged by precision, recall, F1, and PR-AUC instead of accuracy. Since then we added time-aware cross-validation and dimensionality reduction. Josh will show how much of the plan is complete.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JOSH: Here is our checklist against the proposal. We generated 822K transactions for 999 customers across 2025 and built 31 model inputs. We validated the models with five-fold, time-aware cross-validation on January to November and kept December as a final test. All four models are trained, and every one of them optimizes cross-entropy: logistic regression and gradient boosting minimize log loss, and the tree and forest split on entropy. We also added dimensionality reduction. The scoring demo and the final report are still ahead. Logan will walk through the data.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LOGAN: The data has 822,484 transactions from 999 customers, with no duplicates or missing values. Fraud was surprisingly 1.2% of transactions, about 9,500 cases. That is slightly above the "under one percent" we estimated in the proposal. A model that always answers "not fraud" would therefore be 98.8% accurate and catch nothing, which is why we do not rely on accuracy. Josh will describe the features we built.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JOSH: We built 31 model inputs in four groups. Base features are amount, customer age, and city size, plus fourteen merchant category columns. Time features are the hour of the day, the day of the week, and the time of day. Distance is the haversine distance from home to the merchant. History features describe each customer's past, such as the amount compared with their average and purchases in the last hour. These use only earlier transactions, so nothing leaks from the future. Logan will explain how we reduced the dimensionality of these inputs.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LOGAN: Some of you may have heard “day of the week” and “weekend” as features and thought, “Come on, Logan and Josh! That’s a recipe for data leakage!” Our solution is dimensionality reduction. With 31 inputs that overlap, we applied PCA. It takes 25 components to keep 95 percent of the variance, and the first two keep 17 percent. The first component mostly reflects recent activity, such as purchases in the last day, and the second mostly reflects amount. In the two-dimensional view, fraud overlaps normal activity heavily, so no simple projection separates it. Josh will show a nonlinear view and the effect of reduced inputs on the models.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JOSH: To look for structure that PCA cannot show, we used t-SNE, a nonlinear method, on a balanced sample of 3,000 fraud and 3,000 normal transactions. Fraud forms local clusters: on average 84 percent of a fraud point's ten nearest neighbors are also fraud. We then trained the models on reduced inputs. PCA on only the 13 continuous features keeps most of the performance, with the random forest at 0.70 versus 0.76. PCA on all 31 features drops it to 0.004, probably because the fraud signal sits in flags and categories that the rotation mixes. We have not tested that explanation. Logan will explain how we validated the models.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LOGAN: We validated with time-aware cross-validation. The January to November development period is cut into six chunks. In each of five folds, the models train on the earlier chunks and validate on the next one, so they never see the future. We chose each model's settings by average PR-AUC; that’s a measure of how much true positives occur compare to false positives, and recall, how many fraudulent transactions did each model actually catch; across the folds and its decision threshold from the pooled validation predictions. Each model was then refit on the whole development period and tested once on December. The folds also show instability: the random forest averages 0.73 with a spread of 0.10, while gradient boosting's spread is 0.19. Josh will present the early results.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JOSH: Here are the four models on the held-out December test, beside their cross-validated PR-AUC. Logistic regression struggles, with an F1 of 0.04, because the fraud pattern is non-linear. The decision tree reaches 0.66, the random forest 0.72, and gradient boosting 0.30. Gradient boosting's low F1 comes from a threshold that was too strict after refitting, so its PR-AUC of 0.66 is the fairer figure. The random forest is best on both test and cross-validation. These are first-pass results with small tuning grids. Logan will cover the limitations.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LOGAN: We want to be clear about the limits. The data is simulated, so results may not transfer to real spending. Distance from home had no signal: its single-feature score is 0.50, a coin flip. Fraud also drifts, from 1.3% of transactions in January to November to 0.5% in the test month, and cross-validation scores vary by fold. We plan to further tinker with the model’s parameters to try to increase our PR-AUC scores. Josh will cover our scope and what has changed.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JOSH: Our title and topic are unchanged: detecting credit card fraud with machine learning. We want to state the changes since the proposal clearly. We now use four models instead of two, a time-aware split with five-fold cross-validation, and the public Sparkov generator for data. We also added dimensionality reduction with PCA and t-SNE. Finally, the distance finding shifts our emphasis toward amount, time, and customer history. Logan will close with next steps and who is doing what.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LOGAN: For next steps, Josh will be investigating logistic regression and the decision tree, along with the feature pipeline and the ablation study. I’m going to be working on the random forest and gradient boosting, including deeper tuning and threshold choice. One we finish the scoring demo, we will complete our final presentation, our report, and our GitHub repository. </a:t>
            </a:r>
            <a:r>
              <a:rPr lang="en-US"/>
              <a:t>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645920"/>
            <a:ext cx="7498080" cy="2377440"/>
          </a:xfrm>
          <a:prstGeom prst="rect">
            <a:avLst/>
          </a:prstGeom>
          <a:noFill/>
          <a:ln/>
        </p:spPr>
        <p:txBody>
          <a:bodyPr wrap="square" rtlCol="0"/>
          <a:lstStyle>
            <a:lvl1pPr marL="0" indent="0" algn="l">
              <a:buNone/>
              <a:defRPr lang="en-US" sz="4800" b="1" dirty="0">
                <a:solidFill>
                  <a:schemeClr val="bg1"/>
                </a:solidFill>
              </a:defRPr>
            </a:lvl1pPr>
          </a:lstStyle>
          <a:p>
            <a:pPr marL="0" indent="0" algn="l">
              <a:buNone/>
            </a:pPr>
            <a:endParaRPr lang="en-US" sz="4800" dirty="0"/>
          </a:p>
        </p:txBody>
      </p:sp>
      <p:sp>
        <p:nvSpPr>
          <p:cNvPr id="3" name="Text 0"/>
          <p:cNvSpPr>
            <a:spLocks noGrp="1"/>
          </p:cNvSpPr>
          <p:nvPr>
            <p:ph type="body" idx="101" hasCustomPrompt="1"/>
          </p:nvPr>
        </p:nvSpPr>
        <p:spPr>
          <a:xfrm>
            <a:off x="731520" y="4297680"/>
            <a:ext cx="7498080" cy="914400"/>
          </a:xfrm>
          <a:prstGeom prst="rect">
            <a:avLst/>
          </a:prstGeom>
          <a:noFill/>
          <a:ln/>
        </p:spPr>
        <p:txBody>
          <a:bodyPr wrap="square" rtlCol="0"/>
          <a:lstStyle>
            <a:lvl1pPr marL="0" indent="0">
              <a:buNone/>
              <a:defRPr lang="en-US" sz="2000" dirty="0">
                <a:solidFill>
                  <a:schemeClr val="bg2"/>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365760"/>
            <a:ext cx="10881360" cy="91440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3" name="Text 0"/>
          <p:cNvSpPr/>
          <p:nvPr/>
        </p:nvSpPr>
        <p:spPr>
          <a:xfrm>
            <a:off x="640080" y="6355080"/>
            <a:ext cx="7315200" cy="274320"/>
          </a:xfrm>
          <a:prstGeom prst="rect">
            <a:avLst/>
          </a:prstGeom>
          <a:noFill/>
          <a:ln/>
        </p:spPr>
        <p:txBody>
          <a:bodyPr wrap="square" lIns="0" tIns="0" rIns="0" bIns="0" rtlCol="0" anchor="ctr"/>
          <a:lstStyle/>
          <a:p>
            <a:pPr marL="0" indent="0">
              <a:buNone/>
            </a:pPr>
            <a:r>
              <a:rPr lang="en-US" sz="1000" dirty="0">
                <a:solidFill>
                  <a:schemeClr val="accent5"/>
                </a:solidFill>
              </a:rPr>
              <a:t>Credit Card Fraud Detection  |  ML Project Intermediate Update</a:t>
            </a:r>
            <a:endParaRPr lang="en-US" sz="1000" dirty="0"/>
          </a:p>
        </p:txBody>
      </p:sp>
      <p:sp>
        <p:nvSpPr>
          <p:cNvPr id="25"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14.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645920"/>
            <a:ext cx="7498080" cy="2377440"/>
          </a:xfrm>
          <a:prstGeom prst="rect">
            <a:avLst/>
          </a:prstGeom>
          <a:noFill/>
          <a:ln/>
        </p:spPr>
        <p:txBody>
          <a:bodyPr wrap="square" lIns="0" tIns="0" rIns="0" bIns="0" rtlCol="0" anchor="b"/>
          <a:lstStyle/>
          <a:p>
            <a:pPr marL="0" indent="0" algn="l">
              <a:buNone/>
            </a:pPr>
            <a:r>
              <a:rPr lang="en-US" sz="4800" b="1" dirty="0">
                <a:solidFill>
                  <a:schemeClr val="bg1"/>
                </a:solidFill>
              </a:rPr>
              <a:t>Fraud Detection: Intermediate Update</a:t>
            </a:r>
            <a:endParaRPr lang="en-US" sz="4800" dirty="0"/>
          </a:p>
        </p:txBody>
      </p:sp>
      <p:sp>
        <p:nvSpPr>
          <p:cNvPr id="3" name="Text 0"/>
          <p:cNvSpPr>
            <a:spLocks noGrp="1"/>
          </p:cNvSpPr>
          <p:nvPr>
            <p:ph type="body" idx="101" hasCustomPrompt="1"/>
          </p:nvPr>
        </p:nvSpPr>
        <p:spPr>
          <a:xfrm>
            <a:off x="731520" y="4297680"/>
            <a:ext cx="7498080" cy="914400"/>
          </a:xfrm>
          <a:prstGeom prst="rect">
            <a:avLst/>
          </a:prstGeom>
          <a:noFill/>
          <a:ln/>
        </p:spPr>
        <p:txBody>
          <a:bodyPr wrap="square" lIns="0" tIns="0" rIns="0" bIns="0" rtlCol="0" anchor="t"/>
          <a:lstStyle/>
          <a:p>
            <a:pPr marL="0" indent="0">
              <a:buNone/>
            </a:pPr>
            <a:r>
              <a:rPr lang="en-US" sz="2000" dirty="0">
                <a:solidFill>
                  <a:schemeClr val="bg2"/>
                </a:solidFill>
              </a:rPr>
              <a:t>Machine Learning Project</a:t>
            </a:r>
            <a:endParaRPr lang="en-US" sz="2000" dirty="0"/>
          </a:p>
          <a:p>
            <a:pPr marL="0" indent="0">
              <a:buNone/>
            </a:pPr>
            <a:r>
              <a:rPr lang="en-US" sz="2000" dirty="0">
                <a:solidFill>
                  <a:schemeClr val="bg2"/>
                </a:solidFill>
              </a:rPr>
              <a:t>Joshua Francis and Logan Digilormo</a:t>
            </a:r>
            <a:endParaRPr lang="en-US" sz="2000" dirty="0"/>
          </a:p>
        </p:txBody>
      </p:sp>
      <p:sp>
        <p:nvSpPr>
          <p:cNvPr id="4" name="Decor 0"/>
          <p:cNvSpPr/>
          <p:nvPr/>
        </p:nvSpPr>
        <p:spPr>
          <a:xfrm>
            <a:off x="8229600" y="1371600"/>
            <a:ext cx="2926080" cy="2926080"/>
          </a:xfrm>
          <a:prstGeom prst="ellipse">
            <a:avLst/>
          </a:prstGeom>
          <a:solidFill>
            <a:schemeClr val="accent1">
              <a:alpha val="45000"/>
            </a:schemeClr>
          </a:solidFill>
          <a:ln w="12700">
            <a:solidFill>
              <a:schemeClr val="accent1">
                <a:alpha val="45000"/>
              </a:schemeClr>
            </a:solidFill>
            <a:prstDash val="solid"/>
          </a:ln>
        </p:spPr>
        <p:txBody>
          <a:bodyPr/>
          <a:lstStyle/>
          <a:p>
            <a:endParaRPr lang="en-US"/>
          </a:p>
        </p:txBody>
      </p:sp>
      <p:sp>
        <p:nvSpPr>
          <p:cNvPr id="5" name="Decor 1"/>
          <p:cNvSpPr/>
          <p:nvPr/>
        </p:nvSpPr>
        <p:spPr>
          <a:xfrm>
            <a:off x="10241280" y="4114800"/>
            <a:ext cx="1645920" cy="1645920"/>
          </a:xfrm>
          <a:prstGeom prst="ellipse">
            <a:avLst/>
          </a:prstGeom>
          <a:solidFill>
            <a:schemeClr val="accent4">
              <a:alpha val="50000"/>
            </a:schemeClr>
          </a:solidFill>
          <a:ln w="12700">
            <a:solidFill>
              <a:schemeClr val="accent4">
                <a:alpha val="50000"/>
              </a:schemeClr>
            </a:solidFill>
            <a:prstDash val="solid"/>
          </a:ln>
        </p:spPr>
        <p:txBody>
          <a:bodyPr/>
          <a:lstStyle/>
          <a:p>
            <a:endParaRPr lang="en-US"/>
          </a:p>
        </p:txBody>
      </p:sp>
      <p:sp>
        <p:nvSpPr>
          <p:cNvPr id="6" name="Decor 2"/>
          <p:cNvSpPr/>
          <p:nvPr/>
        </p:nvSpPr>
        <p:spPr>
          <a:xfrm>
            <a:off x="8503920" y="4754880"/>
            <a:ext cx="1005840" cy="1005840"/>
          </a:xfrm>
          <a:prstGeom prst="ellipse">
            <a:avLst/>
          </a:prstGeom>
          <a:solidFill>
            <a:schemeClr val="accent6">
              <a:alpha val="40000"/>
            </a:schemeClr>
          </a:solidFill>
          <a:ln w="12700">
            <a:solidFill>
              <a:schemeClr val="accent6">
                <a:alpha val="40000"/>
              </a:schemeClr>
            </a:solidFill>
            <a:prstDash val="solid"/>
          </a:ln>
        </p:spPr>
        <p:txBody>
          <a:bodyPr/>
          <a:lstStyle/>
          <a:p>
            <a:endParaRPr lang="en-US"/>
          </a:p>
        </p:txBody>
      </p:sp>
      <p:sp>
        <p:nvSpPr>
          <p:cNvPr id="7" name="Decor 3"/>
          <p:cNvSpPr/>
          <p:nvPr/>
        </p:nvSpPr>
        <p:spPr>
          <a:xfrm>
            <a:off x="10607040" y="1554480"/>
            <a:ext cx="640080" cy="640080"/>
          </a:xfrm>
          <a:prstGeom prst="ellipse">
            <a:avLst/>
          </a:prstGeom>
          <a:solidFill>
            <a:schemeClr val="accent6">
              <a:alpha val="60000"/>
            </a:schemeClr>
          </a:solidFill>
          <a:ln w="12700">
            <a:solidFill>
              <a:schemeClr val="accent6">
                <a:alpha val="60000"/>
              </a:schemeClr>
            </a:solidFill>
            <a:prstDash val="solid"/>
          </a:ln>
        </p:spPr>
        <p:txBody>
          <a:bodyPr/>
          <a:lstStyle/>
          <a:p>
            <a:endParaRPr lang="en-US"/>
          </a:p>
        </p:txBody>
      </p:sp>
      <p:sp>
        <p:nvSpPr>
          <p:cNvPr id="8" name="Flagged dot"/>
          <p:cNvSpPr/>
          <p:nvPr/>
        </p:nvSpPr>
        <p:spPr>
          <a:xfrm>
            <a:off x="9326880" y="3200400"/>
            <a:ext cx="548640" cy="548640"/>
          </a:xfrm>
          <a:prstGeom prst="ellipse">
            <a:avLst/>
          </a:prstGeom>
          <a:solidFill>
            <a:schemeClr val="accent2"/>
          </a:solidFill>
          <a:ln w="12700">
            <a:solidFill>
              <a:schemeClr val="accent2"/>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365760"/>
            <a:ext cx="10881360" cy="914400"/>
          </a:xfrm>
          <a:prstGeom prst="rect">
            <a:avLst/>
          </a:prstGeom>
          <a:noFill/>
          <a:ln/>
        </p:spPr>
        <p:txBody>
          <a:bodyPr wrap="square" lIns="0" tIns="0" rIns="0" bIns="0" rtlCol="0" anchor="ctr"/>
          <a:lstStyle/>
          <a:p>
            <a:pPr marL="0" indent="0" algn="l">
              <a:buNone/>
            </a:pPr>
            <a:r>
              <a:rPr lang="en-US" sz="3600" b="1" dirty="0">
                <a:solidFill>
                  <a:schemeClr val="tx1"/>
                </a:solidFill>
              </a:rPr>
              <a:t>Where we left off</a:t>
            </a:r>
            <a:endParaRPr lang="en-US" sz="3600" dirty="0"/>
          </a:p>
        </p:txBody>
      </p:sp>
      <p:sp>
        <p:nvSpPr>
          <p:cNvPr id="4" name="Card 1"/>
          <p:cNvSpPr/>
          <p:nvPr/>
        </p:nvSpPr>
        <p:spPr>
          <a:xfrm>
            <a:off x="640080" y="1554480"/>
            <a:ext cx="3444240" cy="3017520"/>
          </a:xfrm>
          <a:prstGeom prst="roundRect">
            <a:avLst>
              <a:gd name="adj" fmla="val 3636"/>
            </a:avLst>
          </a:prstGeom>
          <a:solidFill>
            <a:schemeClr val="bg2"/>
          </a:solidFill>
          <a:ln w="12700">
            <a:solidFill>
              <a:schemeClr val="bg2"/>
            </a:solidFill>
            <a:prstDash val="solid"/>
          </a:ln>
        </p:spPr>
        <p:txBody>
          <a:bodyPr/>
          <a:lstStyle/>
          <a:p>
            <a:endParaRPr lang="en-US"/>
          </a:p>
        </p:txBody>
      </p:sp>
      <p:sp>
        <p:nvSpPr>
          <p:cNvPr id="5" name="The problem circle"/>
          <p:cNvSpPr/>
          <p:nvPr/>
        </p:nvSpPr>
        <p:spPr>
          <a:xfrm>
            <a:off x="914400" y="1828800"/>
            <a:ext cx="640080" cy="640080"/>
          </a:xfrm>
          <a:prstGeom prst="ellipse">
            <a:avLst/>
          </a:prstGeom>
          <a:solidFill>
            <a:schemeClr val="accent1"/>
          </a:solidFill>
          <a:ln w="12700">
            <a:solidFill>
              <a:schemeClr val="accent1"/>
            </a:solidFill>
            <a:prstDash val="solid"/>
          </a:ln>
        </p:spPr>
        <p:txBody>
          <a:bodyPr/>
          <a:lstStyle/>
          <a:p>
            <a:endParaRPr lang="en-US"/>
          </a:p>
        </p:txBody>
      </p:sp>
      <p:sp>
        <p:nvSpPr>
          <p:cNvPr id="6" name="Text 3"/>
          <p:cNvSpPr txBox="1"/>
          <p:nvPr/>
        </p:nvSpPr>
        <p:spPr>
          <a:xfrm>
            <a:off x="914400" y="2651760"/>
            <a:ext cx="2895600" cy="411480"/>
          </a:xfrm>
          <a:prstGeom prst="rect">
            <a:avLst/>
          </a:prstGeom>
          <a:noFill/>
          <a:ln/>
        </p:spPr>
        <p:txBody>
          <a:bodyPr wrap="square" lIns="0" tIns="0" rIns="0" bIns="0" rtlCol="0" anchor="t"/>
          <a:lstStyle/>
          <a:p>
            <a:pPr marL="0" indent="0">
              <a:buNone/>
            </a:pPr>
            <a:r>
              <a:rPr lang="en-US" sz="1900" b="1" dirty="0">
                <a:solidFill>
                  <a:schemeClr val="tx1"/>
                </a:solidFill>
              </a:rPr>
              <a:t>The problem</a:t>
            </a:r>
            <a:endParaRPr lang="en-US" sz="1900" dirty="0"/>
          </a:p>
        </p:txBody>
      </p:sp>
      <p:sp>
        <p:nvSpPr>
          <p:cNvPr id="7" name="Text 4"/>
          <p:cNvSpPr txBox="1"/>
          <p:nvPr/>
        </p:nvSpPr>
        <p:spPr>
          <a:xfrm>
            <a:off x="914400" y="3154680"/>
            <a:ext cx="2895600" cy="1280160"/>
          </a:xfrm>
          <a:prstGeom prst="rect">
            <a:avLst/>
          </a:prstGeom>
          <a:noFill/>
          <a:ln/>
        </p:spPr>
        <p:txBody>
          <a:bodyPr wrap="square" lIns="0" tIns="0" rIns="0" bIns="0" rtlCol="0" anchor="t"/>
          <a:lstStyle/>
          <a:p>
            <a:pPr marL="0" indent="0">
              <a:buNone/>
            </a:pPr>
            <a:r>
              <a:rPr lang="en-US" sz="1500" dirty="0">
                <a:solidFill>
                  <a:schemeClr val="tx1"/>
                </a:solidFill>
              </a:rPr>
              <a:t>Flag fraudulent credit card transactions, a small share of all purchases.</a:t>
            </a:r>
            <a:endParaRPr lang="en-US" sz="1500" dirty="0"/>
          </a:p>
        </p:txBody>
      </p:sp>
      <p:sp>
        <p:nvSpPr>
          <p:cNvPr id="8" name="Card 2"/>
          <p:cNvSpPr/>
          <p:nvPr/>
        </p:nvSpPr>
        <p:spPr>
          <a:xfrm>
            <a:off x="4358640" y="1554480"/>
            <a:ext cx="3444240" cy="3017520"/>
          </a:xfrm>
          <a:prstGeom prst="roundRect">
            <a:avLst>
              <a:gd name="adj" fmla="val 3636"/>
            </a:avLst>
          </a:prstGeom>
          <a:solidFill>
            <a:schemeClr val="bg2"/>
          </a:solidFill>
          <a:ln w="12700">
            <a:solidFill>
              <a:schemeClr val="bg2"/>
            </a:solidFill>
            <a:prstDash val="solid"/>
          </a:ln>
        </p:spPr>
        <p:txBody>
          <a:bodyPr/>
          <a:lstStyle/>
          <a:p>
            <a:endParaRPr lang="en-US"/>
          </a:p>
        </p:txBody>
      </p:sp>
      <p:sp>
        <p:nvSpPr>
          <p:cNvPr id="9" name="The data circle"/>
          <p:cNvSpPr/>
          <p:nvPr/>
        </p:nvSpPr>
        <p:spPr>
          <a:xfrm>
            <a:off x="4632960" y="1828800"/>
            <a:ext cx="640080" cy="640080"/>
          </a:xfrm>
          <a:prstGeom prst="ellipse">
            <a:avLst/>
          </a:prstGeom>
          <a:solidFill>
            <a:schemeClr val="accent1"/>
          </a:solidFill>
          <a:ln w="12700">
            <a:solidFill>
              <a:schemeClr val="accent1"/>
            </a:solidFill>
            <a:prstDash val="solid"/>
          </a:ln>
        </p:spPr>
        <p:txBody>
          <a:bodyPr/>
          <a:lstStyle/>
          <a:p>
            <a:endParaRPr lang="en-US"/>
          </a:p>
        </p:txBody>
      </p:sp>
      <p:sp>
        <p:nvSpPr>
          <p:cNvPr id="10" name="Text 7"/>
          <p:cNvSpPr txBox="1"/>
          <p:nvPr/>
        </p:nvSpPr>
        <p:spPr>
          <a:xfrm>
            <a:off x="4632960" y="2651760"/>
            <a:ext cx="2895600" cy="411480"/>
          </a:xfrm>
          <a:prstGeom prst="rect">
            <a:avLst/>
          </a:prstGeom>
          <a:noFill/>
          <a:ln/>
        </p:spPr>
        <p:txBody>
          <a:bodyPr wrap="square" lIns="0" tIns="0" rIns="0" bIns="0" rtlCol="0" anchor="t"/>
          <a:lstStyle/>
          <a:p>
            <a:pPr marL="0" indent="0">
              <a:buNone/>
            </a:pPr>
            <a:r>
              <a:rPr lang="en-US" sz="1900" b="1" dirty="0">
                <a:solidFill>
                  <a:schemeClr val="tx1"/>
                </a:solidFill>
              </a:rPr>
              <a:t>The data</a:t>
            </a:r>
            <a:endParaRPr lang="en-US" sz="1900" dirty="0"/>
          </a:p>
        </p:txBody>
      </p:sp>
      <p:sp>
        <p:nvSpPr>
          <p:cNvPr id="11" name="Text 8"/>
          <p:cNvSpPr txBox="1"/>
          <p:nvPr/>
        </p:nvSpPr>
        <p:spPr>
          <a:xfrm>
            <a:off x="4632960" y="3154680"/>
            <a:ext cx="2895600" cy="1280160"/>
          </a:xfrm>
          <a:prstGeom prst="rect">
            <a:avLst/>
          </a:prstGeom>
          <a:noFill/>
          <a:ln/>
        </p:spPr>
        <p:txBody>
          <a:bodyPr wrap="square" lIns="0" tIns="0" rIns="0" bIns="0" rtlCol="0" anchor="t"/>
          <a:lstStyle/>
          <a:p>
            <a:pPr marL="0" indent="0">
              <a:buNone/>
            </a:pPr>
            <a:r>
              <a:rPr lang="en-US" sz="1500" dirty="0">
                <a:solidFill>
                  <a:schemeClr val="tx1"/>
                </a:solidFill>
              </a:rPr>
              <a:t>Simulated transactions from the public Sparkov generator on GitHub.</a:t>
            </a:r>
            <a:endParaRPr lang="en-US" sz="1500" dirty="0"/>
          </a:p>
        </p:txBody>
      </p:sp>
      <p:sp>
        <p:nvSpPr>
          <p:cNvPr id="12" name="Card 3"/>
          <p:cNvSpPr/>
          <p:nvPr/>
        </p:nvSpPr>
        <p:spPr>
          <a:xfrm>
            <a:off x="8077200" y="1554480"/>
            <a:ext cx="3444240" cy="3017520"/>
          </a:xfrm>
          <a:prstGeom prst="roundRect">
            <a:avLst>
              <a:gd name="adj" fmla="val 3636"/>
            </a:avLst>
          </a:prstGeom>
          <a:solidFill>
            <a:schemeClr val="bg2"/>
          </a:solidFill>
          <a:ln w="12700">
            <a:solidFill>
              <a:schemeClr val="bg2"/>
            </a:solidFill>
            <a:prstDash val="solid"/>
          </a:ln>
        </p:spPr>
        <p:txBody>
          <a:bodyPr/>
          <a:lstStyle/>
          <a:p>
            <a:endParaRPr lang="en-US"/>
          </a:p>
        </p:txBody>
      </p:sp>
      <p:sp>
        <p:nvSpPr>
          <p:cNvPr id="13" name="The plan circle"/>
          <p:cNvSpPr/>
          <p:nvPr/>
        </p:nvSpPr>
        <p:spPr>
          <a:xfrm>
            <a:off x="8351520" y="1828800"/>
            <a:ext cx="640080" cy="640080"/>
          </a:xfrm>
          <a:prstGeom prst="ellipse">
            <a:avLst/>
          </a:prstGeom>
          <a:solidFill>
            <a:schemeClr val="accent1"/>
          </a:solidFill>
          <a:ln w="12700">
            <a:solidFill>
              <a:schemeClr val="accent1"/>
            </a:solidFill>
            <a:prstDash val="solid"/>
          </a:ln>
        </p:spPr>
        <p:txBody>
          <a:bodyPr/>
          <a:lstStyle/>
          <a:p>
            <a:endParaRPr lang="en-US"/>
          </a:p>
        </p:txBody>
      </p:sp>
      <p:sp>
        <p:nvSpPr>
          <p:cNvPr id="14" name="Text 11"/>
          <p:cNvSpPr txBox="1"/>
          <p:nvPr/>
        </p:nvSpPr>
        <p:spPr>
          <a:xfrm>
            <a:off x="8351520" y="2651760"/>
            <a:ext cx="2895600" cy="411480"/>
          </a:xfrm>
          <a:prstGeom prst="rect">
            <a:avLst/>
          </a:prstGeom>
          <a:noFill/>
          <a:ln/>
        </p:spPr>
        <p:txBody>
          <a:bodyPr wrap="square" lIns="0" tIns="0" rIns="0" bIns="0" rtlCol="0" anchor="t"/>
          <a:lstStyle/>
          <a:p>
            <a:pPr marL="0" indent="0">
              <a:buNone/>
            </a:pPr>
            <a:r>
              <a:rPr lang="en-US" sz="1900" b="1" dirty="0">
                <a:solidFill>
                  <a:schemeClr val="tx1"/>
                </a:solidFill>
              </a:rPr>
              <a:t>The plan</a:t>
            </a:r>
            <a:endParaRPr lang="en-US" sz="1900" dirty="0"/>
          </a:p>
        </p:txBody>
      </p:sp>
      <p:sp>
        <p:nvSpPr>
          <p:cNvPr id="15" name="Text 12"/>
          <p:cNvSpPr txBox="1"/>
          <p:nvPr/>
        </p:nvSpPr>
        <p:spPr>
          <a:xfrm>
            <a:off x="8351520" y="3154680"/>
            <a:ext cx="2895600" cy="1280160"/>
          </a:xfrm>
          <a:prstGeom prst="rect">
            <a:avLst/>
          </a:prstGeom>
          <a:noFill/>
          <a:ln/>
        </p:spPr>
        <p:txBody>
          <a:bodyPr wrap="square" lIns="0" tIns="0" rIns="0" bIns="0" rtlCol="0" anchor="t"/>
          <a:lstStyle/>
          <a:p>
            <a:pPr marL="0" indent="0">
              <a:buNone/>
            </a:pPr>
            <a:r>
              <a:rPr lang="en-US" sz="1500" dirty="0">
                <a:solidFill>
                  <a:schemeClr val="tx1"/>
                </a:solidFill>
              </a:rPr>
              <a:t>Four models, tuned by time-aware cross-validation, plus PCA and t-SNE.</a:t>
            </a:r>
            <a:endParaRPr lang="en-US" sz="1500" dirty="0"/>
          </a:p>
        </p:txBody>
      </p:sp>
      <p:pic>
        <p:nvPicPr>
          <p:cNvPr id="16" name="The problem icon" descr="The problem"/>
          <p:cNvPicPr>
            <a:picLocks noChangeAspect="1"/>
          </p:cNvPicPr>
          <p:nvPr/>
        </p:nvPicPr>
        <p:blipFill>
          <a:blip r:embed="rId3"/>
          <a:stretch>
            <a:fillRect/>
          </a:stretch>
        </p:blipFill>
        <p:spPr>
          <a:xfrm>
            <a:off x="1055218" y="1969618"/>
            <a:ext cx="358445" cy="358445"/>
          </a:xfrm>
          <a:prstGeom prst="rect">
            <a:avLst/>
          </a:prstGeom>
        </p:spPr>
      </p:pic>
      <p:pic>
        <p:nvPicPr>
          <p:cNvPr id="17" name="The data icon" descr="The data"/>
          <p:cNvPicPr>
            <a:picLocks noChangeAspect="1"/>
          </p:cNvPicPr>
          <p:nvPr/>
        </p:nvPicPr>
        <p:blipFill>
          <a:blip r:embed="rId4"/>
          <a:stretch>
            <a:fillRect/>
          </a:stretch>
        </p:blipFill>
        <p:spPr>
          <a:xfrm>
            <a:off x="4773778" y="1969618"/>
            <a:ext cx="358445" cy="358445"/>
          </a:xfrm>
          <a:prstGeom prst="rect">
            <a:avLst/>
          </a:prstGeom>
        </p:spPr>
      </p:pic>
      <p:pic>
        <p:nvPicPr>
          <p:cNvPr id="18" name="The plan icon" descr="The plan"/>
          <p:cNvPicPr>
            <a:picLocks noChangeAspect="1"/>
          </p:cNvPicPr>
          <p:nvPr/>
        </p:nvPicPr>
        <p:blipFill>
          <a:blip r:embed="rId5"/>
          <a:stretch>
            <a:fillRect/>
          </a:stretch>
        </p:blipFill>
        <p:spPr>
          <a:xfrm>
            <a:off x="8492338" y="1969618"/>
            <a:ext cx="358445" cy="358445"/>
          </a:xfrm>
          <a:prstGeom prst="rect">
            <a:avLst/>
          </a:prstGeom>
        </p:spPr>
      </p:pic>
      <p:sp>
        <p:nvSpPr>
          <p:cNvPr id="25"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365760"/>
            <a:ext cx="10881360" cy="914400"/>
          </a:xfrm>
          <a:prstGeom prst="rect">
            <a:avLst/>
          </a:prstGeom>
          <a:noFill/>
          <a:ln/>
        </p:spPr>
        <p:txBody>
          <a:bodyPr wrap="square" lIns="0" tIns="0" rIns="0" bIns="0" rtlCol="0" anchor="ctr"/>
          <a:lstStyle/>
          <a:p>
            <a:pPr marL="0" indent="0" algn="l">
              <a:buNone/>
            </a:pPr>
            <a:r>
              <a:rPr lang="en-US" sz="3600" b="1" dirty="0">
                <a:solidFill>
                  <a:schemeClr val="tx1"/>
                </a:solidFill>
              </a:rPr>
              <a:t>Progress against our proposal</a:t>
            </a:r>
            <a:endParaRPr lang="en-US" sz="3600" dirty="0"/>
          </a:p>
        </p:txBody>
      </p:sp>
      <p:sp>
        <p:nvSpPr>
          <p:cNvPr id="4" name="Row 0"/>
          <p:cNvSpPr/>
          <p:nvPr/>
        </p:nvSpPr>
        <p:spPr>
          <a:xfrm>
            <a:off x="640080" y="1463040"/>
            <a:ext cx="10881360" cy="658368"/>
          </a:xfrm>
          <a:prstGeom prst="roundRect">
            <a:avLst>
              <a:gd name="adj" fmla="val 16667"/>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914400" y="1463040"/>
            <a:ext cx="3840480" cy="658368"/>
          </a:xfrm>
          <a:prstGeom prst="rect">
            <a:avLst/>
          </a:prstGeom>
          <a:noFill/>
          <a:ln/>
        </p:spPr>
        <p:txBody>
          <a:bodyPr wrap="square" lIns="0" tIns="0" rIns="0" bIns="0" rtlCol="0" anchor="ctr"/>
          <a:lstStyle/>
          <a:p>
            <a:pPr marL="0" indent="0">
              <a:buNone/>
            </a:pPr>
            <a:r>
              <a:rPr lang="en-US" sz="1700" b="1" dirty="0">
                <a:solidFill>
                  <a:schemeClr val="tx1"/>
                </a:solidFill>
              </a:rPr>
              <a:t>Generate public data</a:t>
            </a:r>
            <a:endParaRPr lang="en-US" sz="1700" dirty="0"/>
          </a:p>
        </p:txBody>
      </p:sp>
      <p:sp>
        <p:nvSpPr>
          <p:cNvPr id="6" name="Pill 0"/>
          <p:cNvSpPr/>
          <p:nvPr/>
        </p:nvSpPr>
        <p:spPr>
          <a:xfrm>
            <a:off x="4846320" y="1627632"/>
            <a:ext cx="1097280" cy="329184"/>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7" name="Text 4"/>
          <p:cNvSpPr txBox="1"/>
          <p:nvPr/>
        </p:nvSpPr>
        <p:spPr>
          <a:xfrm>
            <a:off x="4846320" y="1627632"/>
            <a:ext cx="1097280" cy="329184"/>
          </a:xfrm>
          <a:prstGeom prst="rect">
            <a:avLst/>
          </a:prstGeom>
          <a:noFill/>
          <a:ln/>
        </p:spPr>
        <p:txBody>
          <a:bodyPr wrap="square" lIns="0" tIns="0" rIns="0" bIns="0" rtlCol="0" anchor="ctr"/>
          <a:lstStyle/>
          <a:p>
            <a:pPr marL="0" indent="0" algn="ctr">
              <a:buNone/>
            </a:pPr>
            <a:r>
              <a:rPr lang="en-US" sz="1200" b="1" dirty="0">
                <a:solidFill>
                  <a:schemeClr val="bg1"/>
                </a:solidFill>
              </a:rPr>
              <a:t>Done</a:t>
            </a:r>
            <a:endParaRPr lang="en-US" sz="1200" dirty="0"/>
          </a:p>
        </p:txBody>
      </p:sp>
      <p:sp>
        <p:nvSpPr>
          <p:cNvPr id="8" name="Text 5"/>
          <p:cNvSpPr txBox="1"/>
          <p:nvPr/>
        </p:nvSpPr>
        <p:spPr>
          <a:xfrm>
            <a:off x="6217920" y="1463040"/>
            <a:ext cx="5120640" cy="658368"/>
          </a:xfrm>
          <a:prstGeom prst="rect">
            <a:avLst/>
          </a:prstGeom>
          <a:noFill/>
          <a:ln/>
        </p:spPr>
        <p:txBody>
          <a:bodyPr wrap="square" lIns="0" tIns="0" rIns="0" bIns="0" rtlCol="0" anchor="ctr"/>
          <a:lstStyle/>
          <a:p>
            <a:pPr marL="0" indent="0">
              <a:buNone/>
            </a:pPr>
            <a:r>
              <a:rPr lang="en-US" sz="1400" dirty="0">
                <a:solidFill>
                  <a:schemeClr val="tx1"/>
                </a:solidFill>
              </a:rPr>
              <a:t>822K transactions, 999 customers, 2025</a:t>
            </a:r>
            <a:endParaRPr lang="en-US" sz="1400" dirty="0"/>
          </a:p>
        </p:txBody>
      </p:sp>
      <p:sp>
        <p:nvSpPr>
          <p:cNvPr id="9" name="Row 1"/>
          <p:cNvSpPr/>
          <p:nvPr/>
        </p:nvSpPr>
        <p:spPr>
          <a:xfrm>
            <a:off x="640080" y="2249424"/>
            <a:ext cx="10881360" cy="658368"/>
          </a:xfrm>
          <a:prstGeom prst="roundRect">
            <a:avLst>
              <a:gd name="adj" fmla="val 16667"/>
            </a:avLst>
          </a:prstGeom>
          <a:solidFill>
            <a:schemeClr val="bg2"/>
          </a:solidFill>
          <a:ln w="12700">
            <a:solidFill>
              <a:schemeClr val="bg2"/>
            </a:solidFill>
            <a:prstDash val="solid"/>
          </a:ln>
        </p:spPr>
        <p:txBody>
          <a:bodyPr/>
          <a:lstStyle/>
          <a:p>
            <a:endParaRPr lang="en-US"/>
          </a:p>
        </p:txBody>
      </p:sp>
      <p:sp>
        <p:nvSpPr>
          <p:cNvPr id="10" name="Text 7"/>
          <p:cNvSpPr txBox="1"/>
          <p:nvPr/>
        </p:nvSpPr>
        <p:spPr>
          <a:xfrm>
            <a:off x="914400" y="2249424"/>
            <a:ext cx="3840480" cy="658368"/>
          </a:xfrm>
          <a:prstGeom prst="rect">
            <a:avLst/>
          </a:prstGeom>
          <a:noFill/>
          <a:ln/>
        </p:spPr>
        <p:txBody>
          <a:bodyPr wrap="square" lIns="0" tIns="0" rIns="0" bIns="0" rtlCol="0" anchor="ctr"/>
          <a:lstStyle/>
          <a:p>
            <a:pPr marL="0" indent="0">
              <a:buNone/>
            </a:pPr>
            <a:r>
              <a:rPr lang="en-US" sz="1700" b="1" dirty="0">
                <a:solidFill>
                  <a:schemeClr val="tx1"/>
                </a:solidFill>
              </a:rPr>
              <a:t>Engineer features</a:t>
            </a:r>
            <a:endParaRPr lang="en-US" sz="1700" dirty="0"/>
          </a:p>
        </p:txBody>
      </p:sp>
      <p:sp>
        <p:nvSpPr>
          <p:cNvPr id="11" name="Pill 1"/>
          <p:cNvSpPr/>
          <p:nvPr/>
        </p:nvSpPr>
        <p:spPr>
          <a:xfrm>
            <a:off x="4846320" y="2414016"/>
            <a:ext cx="1097280" cy="329184"/>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12" name="Text 9"/>
          <p:cNvSpPr txBox="1"/>
          <p:nvPr/>
        </p:nvSpPr>
        <p:spPr>
          <a:xfrm>
            <a:off x="4846320" y="2414016"/>
            <a:ext cx="1097280" cy="329184"/>
          </a:xfrm>
          <a:prstGeom prst="rect">
            <a:avLst/>
          </a:prstGeom>
          <a:noFill/>
          <a:ln/>
        </p:spPr>
        <p:txBody>
          <a:bodyPr wrap="square" lIns="0" tIns="0" rIns="0" bIns="0" rtlCol="0" anchor="ctr"/>
          <a:lstStyle/>
          <a:p>
            <a:pPr marL="0" indent="0" algn="ctr">
              <a:buNone/>
            </a:pPr>
            <a:r>
              <a:rPr lang="en-US" sz="1200" b="1" dirty="0">
                <a:solidFill>
                  <a:schemeClr val="bg1"/>
                </a:solidFill>
              </a:rPr>
              <a:t>Done</a:t>
            </a:r>
            <a:endParaRPr lang="en-US" sz="1200" dirty="0"/>
          </a:p>
        </p:txBody>
      </p:sp>
      <p:sp>
        <p:nvSpPr>
          <p:cNvPr id="13" name="Text 10"/>
          <p:cNvSpPr txBox="1"/>
          <p:nvPr/>
        </p:nvSpPr>
        <p:spPr>
          <a:xfrm>
            <a:off x="6217920" y="2249424"/>
            <a:ext cx="5120640" cy="658368"/>
          </a:xfrm>
          <a:prstGeom prst="rect">
            <a:avLst/>
          </a:prstGeom>
          <a:noFill/>
          <a:ln/>
        </p:spPr>
        <p:txBody>
          <a:bodyPr wrap="square" lIns="0" tIns="0" rIns="0" bIns="0" rtlCol="0" anchor="ctr"/>
          <a:lstStyle/>
          <a:p>
            <a:pPr marL="0" indent="0">
              <a:buNone/>
            </a:pPr>
            <a:r>
              <a:rPr lang="en-US" sz="1400" dirty="0">
                <a:solidFill>
                  <a:schemeClr val="tx1"/>
                </a:solidFill>
              </a:rPr>
              <a:t>31 inputs; history features use past data only</a:t>
            </a:r>
            <a:endParaRPr lang="en-US" sz="1400" dirty="0"/>
          </a:p>
        </p:txBody>
      </p:sp>
      <p:sp>
        <p:nvSpPr>
          <p:cNvPr id="14" name="Row 2"/>
          <p:cNvSpPr/>
          <p:nvPr/>
        </p:nvSpPr>
        <p:spPr>
          <a:xfrm>
            <a:off x="640080" y="3035808"/>
            <a:ext cx="10881360" cy="658368"/>
          </a:xfrm>
          <a:prstGeom prst="roundRect">
            <a:avLst>
              <a:gd name="adj" fmla="val 16667"/>
            </a:avLst>
          </a:prstGeom>
          <a:solidFill>
            <a:schemeClr val="bg2"/>
          </a:solidFill>
          <a:ln w="12700">
            <a:solidFill>
              <a:schemeClr val="bg2"/>
            </a:solidFill>
            <a:prstDash val="solid"/>
          </a:ln>
        </p:spPr>
        <p:txBody>
          <a:bodyPr/>
          <a:lstStyle/>
          <a:p>
            <a:endParaRPr lang="en-US"/>
          </a:p>
        </p:txBody>
      </p:sp>
      <p:sp>
        <p:nvSpPr>
          <p:cNvPr id="15" name="Text 12"/>
          <p:cNvSpPr txBox="1"/>
          <p:nvPr/>
        </p:nvSpPr>
        <p:spPr>
          <a:xfrm>
            <a:off x="914400" y="3035808"/>
            <a:ext cx="3840480" cy="658368"/>
          </a:xfrm>
          <a:prstGeom prst="rect">
            <a:avLst/>
          </a:prstGeom>
          <a:noFill/>
          <a:ln/>
        </p:spPr>
        <p:txBody>
          <a:bodyPr wrap="square" lIns="0" tIns="0" rIns="0" bIns="0" rtlCol="0" anchor="ctr"/>
          <a:lstStyle/>
          <a:p>
            <a:pPr marL="0" indent="0">
              <a:buNone/>
            </a:pPr>
            <a:r>
              <a:rPr lang="en-US" sz="1700" b="1" dirty="0">
                <a:solidFill>
                  <a:schemeClr val="tx1"/>
                </a:solidFill>
              </a:rPr>
              <a:t>Cross-validated model selection</a:t>
            </a:r>
            <a:endParaRPr lang="en-US" sz="1700" dirty="0"/>
          </a:p>
        </p:txBody>
      </p:sp>
      <p:sp>
        <p:nvSpPr>
          <p:cNvPr id="16" name="Pill 2"/>
          <p:cNvSpPr/>
          <p:nvPr/>
        </p:nvSpPr>
        <p:spPr>
          <a:xfrm>
            <a:off x="4846320" y="3200400"/>
            <a:ext cx="1097280" cy="329184"/>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17" name="Text 14"/>
          <p:cNvSpPr txBox="1"/>
          <p:nvPr/>
        </p:nvSpPr>
        <p:spPr>
          <a:xfrm>
            <a:off x="4846320" y="3200400"/>
            <a:ext cx="1097280" cy="329184"/>
          </a:xfrm>
          <a:prstGeom prst="rect">
            <a:avLst/>
          </a:prstGeom>
          <a:noFill/>
          <a:ln/>
        </p:spPr>
        <p:txBody>
          <a:bodyPr wrap="square" lIns="0" tIns="0" rIns="0" bIns="0" rtlCol="0" anchor="ctr"/>
          <a:lstStyle/>
          <a:p>
            <a:pPr marL="0" indent="0" algn="ctr">
              <a:buNone/>
            </a:pPr>
            <a:r>
              <a:rPr lang="en-US" sz="1200" b="1" dirty="0">
                <a:solidFill>
                  <a:schemeClr val="bg1"/>
                </a:solidFill>
              </a:rPr>
              <a:t>Done</a:t>
            </a:r>
            <a:endParaRPr lang="en-US" sz="1200" dirty="0"/>
          </a:p>
        </p:txBody>
      </p:sp>
      <p:sp>
        <p:nvSpPr>
          <p:cNvPr id="18" name="Text 15"/>
          <p:cNvSpPr txBox="1"/>
          <p:nvPr/>
        </p:nvSpPr>
        <p:spPr>
          <a:xfrm>
            <a:off x="6217920" y="3035808"/>
            <a:ext cx="5120640" cy="658368"/>
          </a:xfrm>
          <a:prstGeom prst="rect">
            <a:avLst/>
          </a:prstGeom>
          <a:noFill/>
          <a:ln/>
        </p:spPr>
        <p:txBody>
          <a:bodyPr wrap="square" lIns="0" tIns="0" rIns="0" bIns="0" rtlCol="0" anchor="ctr"/>
          <a:lstStyle/>
          <a:p>
            <a:pPr marL="0" indent="0">
              <a:buNone/>
            </a:pPr>
            <a:r>
              <a:rPr lang="en-US" sz="1400" dirty="0">
                <a:solidFill>
                  <a:schemeClr val="tx1"/>
                </a:solidFill>
              </a:rPr>
              <a:t>5 time-aware folds on Jan-Nov; December held out</a:t>
            </a:r>
            <a:endParaRPr lang="en-US" sz="1400" dirty="0"/>
          </a:p>
        </p:txBody>
      </p:sp>
      <p:sp>
        <p:nvSpPr>
          <p:cNvPr id="19" name="Row 3"/>
          <p:cNvSpPr/>
          <p:nvPr/>
        </p:nvSpPr>
        <p:spPr>
          <a:xfrm>
            <a:off x="640080" y="3822192"/>
            <a:ext cx="10881360" cy="658368"/>
          </a:xfrm>
          <a:prstGeom prst="roundRect">
            <a:avLst>
              <a:gd name="adj" fmla="val 16667"/>
            </a:avLst>
          </a:prstGeom>
          <a:solidFill>
            <a:schemeClr val="bg2"/>
          </a:solidFill>
          <a:ln w="12700">
            <a:solidFill>
              <a:schemeClr val="bg2"/>
            </a:solidFill>
            <a:prstDash val="solid"/>
          </a:ln>
        </p:spPr>
        <p:txBody>
          <a:bodyPr/>
          <a:lstStyle/>
          <a:p>
            <a:endParaRPr lang="en-US"/>
          </a:p>
        </p:txBody>
      </p:sp>
      <p:sp>
        <p:nvSpPr>
          <p:cNvPr id="20" name="Text 17"/>
          <p:cNvSpPr txBox="1"/>
          <p:nvPr/>
        </p:nvSpPr>
        <p:spPr>
          <a:xfrm>
            <a:off x="914400" y="3822192"/>
            <a:ext cx="3840480" cy="658368"/>
          </a:xfrm>
          <a:prstGeom prst="rect">
            <a:avLst/>
          </a:prstGeom>
          <a:noFill/>
          <a:ln/>
        </p:spPr>
        <p:txBody>
          <a:bodyPr wrap="square" lIns="0" tIns="0" rIns="0" bIns="0" rtlCol="0" anchor="ctr"/>
          <a:lstStyle/>
          <a:p>
            <a:pPr marL="0" indent="0">
              <a:buNone/>
            </a:pPr>
            <a:r>
              <a:rPr lang="en-US" sz="1700" b="1" dirty="0">
                <a:solidFill>
                  <a:schemeClr val="tx1"/>
                </a:solidFill>
              </a:rPr>
              <a:t>Train four models</a:t>
            </a:r>
            <a:endParaRPr lang="en-US" sz="1700" dirty="0"/>
          </a:p>
        </p:txBody>
      </p:sp>
      <p:sp>
        <p:nvSpPr>
          <p:cNvPr id="21" name="Pill 3"/>
          <p:cNvSpPr/>
          <p:nvPr/>
        </p:nvSpPr>
        <p:spPr>
          <a:xfrm>
            <a:off x="4846320" y="3986784"/>
            <a:ext cx="1097280" cy="329184"/>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22" name="Text 19"/>
          <p:cNvSpPr txBox="1"/>
          <p:nvPr/>
        </p:nvSpPr>
        <p:spPr>
          <a:xfrm>
            <a:off x="4846320" y="3986784"/>
            <a:ext cx="1097280" cy="329184"/>
          </a:xfrm>
          <a:prstGeom prst="rect">
            <a:avLst/>
          </a:prstGeom>
          <a:noFill/>
          <a:ln/>
        </p:spPr>
        <p:txBody>
          <a:bodyPr wrap="square" lIns="0" tIns="0" rIns="0" bIns="0" rtlCol="0" anchor="ctr"/>
          <a:lstStyle/>
          <a:p>
            <a:pPr marL="0" indent="0" algn="ctr">
              <a:buNone/>
            </a:pPr>
            <a:r>
              <a:rPr lang="en-US" sz="1200" b="1" dirty="0">
                <a:solidFill>
                  <a:schemeClr val="bg1"/>
                </a:solidFill>
              </a:rPr>
              <a:t>Done</a:t>
            </a:r>
            <a:endParaRPr lang="en-US" sz="1200" dirty="0"/>
          </a:p>
        </p:txBody>
      </p:sp>
      <p:sp>
        <p:nvSpPr>
          <p:cNvPr id="23" name="Text 20"/>
          <p:cNvSpPr txBox="1"/>
          <p:nvPr/>
        </p:nvSpPr>
        <p:spPr>
          <a:xfrm>
            <a:off x="6217920" y="3822192"/>
            <a:ext cx="5120640" cy="658368"/>
          </a:xfrm>
          <a:prstGeom prst="rect">
            <a:avLst/>
          </a:prstGeom>
          <a:noFill/>
          <a:ln/>
        </p:spPr>
        <p:txBody>
          <a:bodyPr wrap="square" lIns="0" tIns="0" rIns="0" bIns="0" rtlCol="0" anchor="ctr"/>
          <a:lstStyle/>
          <a:p>
            <a:pPr marL="0" indent="0">
              <a:buNone/>
            </a:pPr>
            <a:r>
              <a:rPr lang="en-US" sz="1400" dirty="0">
                <a:solidFill>
                  <a:schemeClr val="tx1"/>
                </a:solidFill>
              </a:rPr>
              <a:t>Cross-entropy loss; precision, recall, F1, PR-AUC</a:t>
            </a:r>
            <a:endParaRPr lang="en-US" sz="1400" dirty="0"/>
          </a:p>
        </p:txBody>
      </p:sp>
      <p:sp>
        <p:nvSpPr>
          <p:cNvPr id="24" name="Row 4"/>
          <p:cNvSpPr/>
          <p:nvPr/>
        </p:nvSpPr>
        <p:spPr>
          <a:xfrm>
            <a:off x="640080" y="4608576"/>
            <a:ext cx="10881360" cy="658368"/>
          </a:xfrm>
          <a:prstGeom prst="roundRect">
            <a:avLst>
              <a:gd name="adj" fmla="val 16667"/>
            </a:avLst>
          </a:prstGeom>
          <a:solidFill>
            <a:schemeClr val="bg2"/>
          </a:solidFill>
          <a:ln w="12700">
            <a:solidFill>
              <a:schemeClr val="bg2"/>
            </a:solidFill>
            <a:prstDash val="solid"/>
          </a:ln>
        </p:spPr>
        <p:txBody>
          <a:bodyPr/>
          <a:lstStyle/>
          <a:p>
            <a:endParaRPr lang="en-US"/>
          </a:p>
        </p:txBody>
      </p:sp>
      <p:sp>
        <p:nvSpPr>
          <p:cNvPr id="25" name="Text 22"/>
          <p:cNvSpPr txBox="1"/>
          <p:nvPr/>
        </p:nvSpPr>
        <p:spPr>
          <a:xfrm>
            <a:off x="914400" y="4608576"/>
            <a:ext cx="3840480" cy="658368"/>
          </a:xfrm>
          <a:prstGeom prst="rect">
            <a:avLst/>
          </a:prstGeom>
          <a:noFill/>
          <a:ln/>
        </p:spPr>
        <p:txBody>
          <a:bodyPr wrap="square" lIns="0" tIns="0" rIns="0" bIns="0" rtlCol="0" anchor="ctr"/>
          <a:lstStyle/>
          <a:p>
            <a:pPr marL="0" indent="0">
              <a:buNone/>
            </a:pPr>
            <a:r>
              <a:rPr lang="en-US" sz="1700" b="1" dirty="0">
                <a:solidFill>
                  <a:schemeClr val="tx1"/>
                </a:solidFill>
              </a:rPr>
              <a:t>Dimensionality reduction</a:t>
            </a:r>
            <a:endParaRPr lang="en-US" sz="1700" dirty="0"/>
          </a:p>
        </p:txBody>
      </p:sp>
      <p:sp>
        <p:nvSpPr>
          <p:cNvPr id="26" name="Pill 4"/>
          <p:cNvSpPr/>
          <p:nvPr/>
        </p:nvSpPr>
        <p:spPr>
          <a:xfrm>
            <a:off x="4846320" y="4773168"/>
            <a:ext cx="1097280" cy="329184"/>
          </a:xfrm>
          <a:prstGeom prst="roundRect">
            <a:avLst>
              <a:gd name="adj" fmla="val 50000"/>
            </a:avLst>
          </a:prstGeom>
          <a:solidFill>
            <a:schemeClr val="accent1"/>
          </a:solidFill>
          <a:ln w="12700">
            <a:solidFill>
              <a:schemeClr val="accent1"/>
            </a:solidFill>
            <a:prstDash val="solid"/>
          </a:ln>
        </p:spPr>
        <p:txBody>
          <a:bodyPr/>
          <a:lstStyle/>
          <a:p>
            <a:endParaRPr lang="en-US"/>
          </a:p>
        </p:txBody>
      </p:sp>
      <p:sp>
        <p:nvSpPr>
          <p:cNvPr id="27" name="Text 24"/>
          <p:cNvSpPr txBox="1"/>
          <p:nvPr/>
        </p:nvSpPr>
        <p:spPr>
          <a:xfrm>
            <a:off x="4846320" y="4773168"/>
            <a:ext cx="1097280" cy="329184"/>
          </a:xfrm>
          <a:prstGeom prst="rect">
            <a:avLst/>
          </a:prstGeom>
          <a:noFill/>
          <a:ln/>
        </p:spPr>
        <p:txBody>
          <a:bodyPr wrap="square" lIns="0" tIns="0" rIns="0" bIns="0" rtlCol="0" anchor="ctr"/>
          <a:lstStyle/>
          <a:p>
            <a:pPr marL="0" indent="0" algn="ctr">
              <a:buNone/>
            </a:pPr>
            <a:r>
              <a:rPr lang="en-US" sz="1200" b="1" dirty="0">
                <a:solidFill>
                  <a:schemeClr val="bg1"/>
                </a:solidFill>
              </a:rPr>
              <a:t>Done</a:t>
            </a:r>
            <a:endParaRPr lang="en-US" sz="1200" dirty="0"/>
          </a:p>
        </p:txBody>
      </p:sp>
      <p:sp>
        <p:nvSpPr>
          <p:cNvPr id="28" name="Text 25"/>
          <p:cNvSpPr txBox="1"/>
          <p:nvPr/>
        </p:nvSpPr>
        <p:spPr>
          <a:xfrm>
            <a:off x="6217920" y="4608576"/>
            <a:ext cx="5120640" cy="658368"/>
          </a:xfrm>
          <a:prstGeom prst="rect">
            <a:avLst/>
          </a:prstGeom>
          <a:noFill/>
          <a:ln/>
        </p:spPr>
        <p:txBody>
          <a:bodyPr wrap="square" lIns="0" tIns="0" rIns="0" bIns="0" rtlCol="0" anchor="ctr"/>
          <a:lstStyle/>
          <a:p>
            <a:pPr marL="0" indent="0">
              <a:buNone/>
            </a:pPr>
            <a:r>
              <a:rPr lang="en-US" sz="1400" dirty="0">
                <a:solidFill>
                  <a:schemeClr val="tx1"/>
                </a:solidFill>
              </a:rPr>
              <a:t>PCA, t-SNE, and models on reduced inputs</a:t>
            </a:r>
            <a:endParaRPr lang="en-US" sz="1400" dirty="0"/>
          </a:p>
        </p:txBody>
      </p:sp>
      <p:sp>
        <p:nvSpPr>
          <p:cNvPr id="29" name="Row 5"/>
          <p:cNvSpPr/>
          <p:nvPr/>
        </p:nvSpPr>
        <p:spPr>
          <a:xfrm>
            <a:off x="640080" y="5394960"/>
            <a:ext cx="10881360" cy="658368"/>
          </a:xfrm>
          <a:prstGeom prst="roundRect">
            <a:avLst>
              <a:gd name="adj" fmla="val 16667"/>
            </a:avLst>
          </a:prstGeom>
          <a:solidFill>
            <a:schemeClr val="bg2"/>
          </a:solidFill>
          <a:ln w="12700">
            <a:solidFill>
              <a:schemeClr val="bg2"/>
            </a:solidFill>
            <a:prstDash val="solid"/>
          </a:ln>
        </p:spPr>
        <p:txBody>
          <a:bodyPr/>
          <a:lstStyle/>
          <a:p>
            <a:endParaRPr lang="en-US"/>
          </a:p>
        </p:txBody>
      </p:sp>
      <p:sp>
        <p:nvSpPr>
          <p:cNvPr id="30" name="Text 27"/>
          <p:cNvSpPr txBox="1"/>
          <p:nvPr/>
        </p:nvSpPr>
        <p:spPr>
          <a:xfrm>
            <a:off x="914400" y="5394960"/>
            <a:ext cx="3840480" cy="658368"/>
          </a:xfrm>
          <a:prstGeom prst="rect">
            <a:avLst/>
          </a:prstGeom>
          <a:noFill/>
          <a:ln/>
        </p:spPr>
        <p:txBody>
          <a:bodyPr wrap="square" lIns="0" tIns="0" rIns="0" bIns="0" rtlCol="0" anchor="ctr"/>
          <a:lstStyle/>
          <a:p>
            <a:pPr marL="0" indent="0">
              <a:buNone/>
            </a:pPr>
            <a:r>
              <a:rPr lang="en-US" sz="1700" b="1" dirty="0">
                <a:solidFill>
                  <a:schemeClr val="tx1"/>
                </a:solidFill>
              </a:rPr>
              <a:t>Demo and final report</a:t>
            </a:r>
            <a:endParaRPr lang="en-US" sz="1700" dirty="0"/>
          </a:p>
        </p:txBody>
      </p:sp>
      <p:sp>
        <p:nvSpPr>
          <p:cNvPr id="31" name="Pill 5"/>
          <p:cNvSpPr/>
          <p:nvPr/>
        </p:nvSpPr>
        <p:spPr>
          <a:xfrm>
            <a:off x="4846320" y="5559552"/>
            <a:ext cx="1097280" cy="329184"/>
          </a:xfrm>
          <a:prstGeom prst="roundRect">
            <a:avLst>
              <a:gd name="adj" fmla="val 50000"/>
            </a:avLst>
          </a:prstGeom>
          <a:solidFill>
            <a:schemeClr val="accent5"/>
          </a:solidFill>
          <a:ln w="12700">
            <a:solidFill>
              <a:schemeClr val="accent5"/>
            </a:solidFill>
            <a:prstDash val="solid"/>
          </a:ln>
        </p:spPr>
        <p:txBody>
          <a:bodyPr/>
          <a:lstStyle/>
          <a:p>
            <a:endParaRPr lang="en-US"/>
          </a:p>
        </p:txBody>
      </p:sp>
      <p:sp>
        <p:nvSpPr>
          <p:cNvPr id="32" name="Text 29"/>
          <p:cNvSpPr txBox="1"/>
          <p:nvPr/>
        </p:nvSpPr>
        <p:spPr>
          <a:xfrm>
            <a:off x="4846320" y="5559552"/>
            <a:ext cx="1097280" cy="329184"/>
          </a:xfrm>
          <a:prstGeom prst="rect">
            <a:avLst/>
          </a:prstGeom>
          <a:noFill/>
          <a:ln/>
        </p:spPr>
        <p:txBody>
          <a:bodyPr wrap="square" lIns="0" tIns="0" rIns="0" bIns="0" rtlCol="0" anchor="ctr"/>
          <a:lstStyle/>
          <a:p>
            <a:pPr marL="0" indent="0" algn="ctr">
              <a:buNone/>
            </a:pPr>
            <a:r>
              <a:rPr lang="en-US" sz="1200" b="1" dirty="0">
                <a:solidFill>
                  <a:schemeClr val="bg1"/>
                </a:solidFill>
              </a:rPr>
              <a:t>In progress</a:t>
            </a:r>
            <a:endParaRPr lang="en-US" sz="1200" dirty="0"/>
          </a:p>
        </p:txBody>
      </p:sp>
      <p:sp>
        <p:nvSpPr>
          <p:cNvPr id="33" name="Text 30"/>
          <p:cNvSpPr txBox="1"/>
          <p:nvPr/>
        </p:nvSpPr>
        <p:spPr>
          <a:xfrm>
            <a:off x="6217920" y="5394960"/>
            <a:ext cx="5120640" cy="658368"/>
          </a:xfrm>
          <a:prstGeom prst="rect">
            <a:avLst/>
          </a:prstGeom>
          <a:noFill/>
          <a:ln/>
        </p:spPr>
        <p:txBody>
          <a:bodyPr wrap="square" lIns="0" tIns="0" rIns="0" bIns="0" rtlCol="0" anchor="ctr"/>
          <a:lstStyle/>
          <a:p>
            <a:pPr marL="0" indent="0">
              <a:buNone/>
            </a:pPr>
            <a:r>
              <a:rPr lang="en-US" sz="1400" dirty="0">
                <a:solidFill>
                  <a:schemeClr val="tx1"/>
                </a:solidFill>
              </a:rPr>
              <a:t>Scoring app built; report in progress</a:t>
            </a:r>
            <a:endParaRPr lang="en-US" sz="1400" dirty="0"/>
          </a:p>
        </p:txBody>
      </p:sp>
      <p:sp>
        <p:nvSpPr>
          <p:cNvPr id="3"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365760"/>
            <a:ext cx="10881360" cy="914400"/>
          </a:xfrm>
          <a:prstGeom prst="rect">
            <a:avLst/>
          </a:prstGeom>
          <a:noFill/>
          <a:ln/>
        </p:spPr>
        <p:txBody>
          <a:bodyPr wrap="square" lIns="0" tIns="0" rIns="0" bIns="0" rtlCol="0" anchor="ctr"/>
          <a:lstStyle/>
          <a:p>
            <a:pPr marL="0" indent="0" algn="l">
              <a:buNone/>
            </a:pPr>
            <a:r>
              <a:rPr lang="en-US" sz="3600" b="1" dirty="0">
                <a:solidFill>
                  <a:schemeClr val="tx1"/>
                </a:solidFill>
              </a:rPr>
              <a:t>Data: generated and validated</a:t>
            </a:r>
            <a:endParaRPr lang="en-US" sz="3600" dirty="0"/>
          </a:p>
        </p:txBody>
      </p:sp>
      <p:sp>
        <p:nvSpPr>
          <p:cNvPr id="4" name="Stat 0"/>
          <p:cNvSpPr/>
          <p:nvPr/>
        </p:nvSpPr>
        <p:spPr>
          <a:xfrm>
            <a:off x="640080" y="1554480"/>
            <a:ext cx="2514600" cy="3108960"/>
          </a:xfrm>
          <a:prstGeom prst="roundRect">
            <a:avLst>
              <a:gd name="adj" fmla="val 4364"/>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2103120"/>
            <a:ext cx="2103120" cy="1097280"/>
          </a:xfrm>
          <a:prstGeom prst="rect">
            <a:avLst/>
          </a:prstGeom>
          <a:noFill/>
          <a:ln/>
        </p:spPr>
        <p:txBody>
          <a:bodyPr wrap="square" lIns="0" tIns="0" rIns="0" bIns="0" rtlCol="0" anchor="ctr"/>
          <a:lstStyle/>
          <a:p>
            <a:pPr marL="0" indent="0">
              <a:buNone/>
            </a:pPr>
            <a:r>
              <a:rPr lang="en-US" sz="4000" b="1" dirty="0">
                <a:solidFill>
                  <a:schemeClr val="accent1"/>
                </a:solidFill>
              </a:rPr>
              <a:t>822,484</a:t>
            </a:r>
            <a:endParaRPr lang="en-US" sz="4000" dirty="0"/>
          </a:p>
        </p:txBody>
      </p:sp>
      <p:sp>
        <p:nvSpPr>
          <p:cNvPr id="6" name="Text 3"/>
          <p:cNvSpPr txBox="1"/>
          <p:nvPr/>
        </p:nvSpPr>
        <p:spPr>
          <a:xfrm>
            <a:off x="868680" y="3291840"/>
            <a:ext cx="2103120" cy="914400"/>
          </a:xfrm>
          <a:prstGeom prst="rect">
            <a:avLst/>
          </a:prstGeom>
          <a:noFill/>
          <a:ln/>
        </p:spPr>
        <p:txBody>
          <a:bodyPr wrap="square" lIns="0" tIns="0" rIns="0" bIns="0" rtlCol="0" anchor="t"/>
          <a:lstStyle/>
          <a:p>
            <a:pPr marL="0" indent="0">
              <a:buNone/>
            </a:pPr>
            <a:r>
              <a:rPr lang="en-US" sz="1600" dirty="0">
                <a:solidFill>
                  <a:schemeClr val="tx1"/>
                </a:solidFill>
              </a:rPr>
              <a:t>transactions</a:t>
            </a:r>
            <a:endParaRPr lang="en-US" sz="1600" dirty="0"/>
          </a:p>
        </p:txBody>
      </p:sp>
      <p:sp>
        <p:nvSpPr>
          <p:cNvPr id="7" name="Stat 1"/>
          <p:cNvSpPr/>
          <p:nvPr/>
        </p:nvSpPr>
        <p:spPr>
          <a:xfrm>
            <a:off x="3429000" y="1554480"/>
            <a:ext cx="2514600" cy="3108960"/>
          </a:xfrm>
          <a:prstGeom prst="roundRect">
            <a:avLst>
              <a:gd name="adj" fmla="val 4364"/>
            </a:avLst>
          </a:prstGeom>
          <a:solidFill>
            <a:schemeClr val="bg2"/>
          </a:solidFill>
          <a:ln w="12700">
            <a:solidFill>
              <a:schemeClr val="bg2"/>
            </a:solidFill>
            <a:prstDash val="solid"/>
          </a:ln>
        </p:spPr>
        <p:txBody>
          <a:bodyPr/>
          <a:lstStyle/>
          <a:p>
            <a:endParaRPr lang="en-US"/>
          </a:p>
        </p:txBody>
      </p:sp>
      <p:sp>
        <p:nvSpPr>
          <p:cNvPr id="8" name="Text 5"/>
          <p:cNvSpPr txBox="1"/>
          <p:nvPr/>
        </p:nvSpPr>
        <p:spPr>
          <a:xfrm>
            <a:off x="3657600" y="2103120"/>
            <a:ext cx="2103120" cy="1097280"/>
          </a:xfrm>
          <a:prstGeom prst="rect">
            <a:avLst/>
          </a:prstGeom>
          <a:noFill/>
          <a:ln/>
        </p:spPr>
        <p:txBody>
          <a:bodyPr wrap="square" lIns="0" tIns="0" rIns="0" bIns="0" rtlCol="0" anchor="ctr"/>
          <a:lstStyle/>
          <a:p>
            <a:pPr marL="0" indent="0">
              <a:buNone/>
            </a:pPr>
            <a:r>
              <a:rPr lang="en-US" sz="4000" b="1" dirty="0">
                <a:solidFill>
                  <a:schemeClr val="accent1"/>
                </a:solidFill>
              </a:rPr>
              <a:t>999</a:t>
            </a:r>
            <a:endParaRPr lang="en-US" sz="4000" dirty="0"/>
          </a:p>
        </p:txBody>
      </p:sp>
      <p:sp>
        <p:nvSpPr>
          <p:cNvPr id="9" name="Text 6"/>
          <p:cNvSpPr txBox="1"/>
          <p:nvPr/>
        </p:nvSpPr>
        <p:spPr>
          <a:xfrm>
            <a:off x="3657600" y="3291840"/>
            <a:ext cx="2103120" cy="914400"/>
          </a:xfrm>
          <a:prstGeom prst="rect">
            <a:avLst/>
          </a:prstGeom>
          <a:noFill/>
          <a:ln/>
        </p:spPr>
        <p:txBody>
          <a:bodyPr wrap="square" lIns="0" tIns="0" rIns="0" bIns="0" rtlCol="0" anchor="t"/>
          <a:lstStyle/>
          <a:p>
            <a:pPr marL="0" indent="0">
              <a:buNone/>
            </a:pPr>
            <a:r>
              <a:rPr lang="en-US" sz="1600" dirty="0">
                <a:solidFill>
                  <a:schemeClr val="tx1"/>
                </a:solidFill>
              </a:rPr>
              <a:t>customers</a:t>
            </a:r>
            <a:endParaRPr lang="en-US" sz="1600" dirty="0"/>
          </a:p>
        </p:txBody>
      </p:sp>
      <p:sp>
        <p:nvSpPr>
          <p:cNvPr id="10" name="Stat 2"/>
          <p:cNvSpPr/>
          <p:nvPr/>
        </p:nvSpPr>
        <p:spPr>
          <a:xfrm>
            <a:off x="6217920" y="1554480"/>
            <a:ext cx="2514600" cy="3108960"/>
          </a:xfrm>
          <a:prstGeom prst="roundRect">
            <a:avLst>
              <a:gd name="adj" fmla="val 4364"/>
            </a:avLst>
          </a:prstGeom>
          <a:solidFill>
            <a:schemeClr val="bg2"/>
          </a:solidFill>
          <a:ln w="12700">
            <a:solidFill>
              <a:schemeClr val="bg2"/>
            </a:solidFill>
            <a:prstDash val="solid"/>
          </a:ln>
        </p:spPr>
        <p:txBody>
          <a:bodyPr/>
          <a:lstStyle/>
          <a:p>
            <a:endParaRPr lang="en-US"/>
          </a:p>
        </p:txBody>
      </p:sp>
      <p:sp>
        <p:nvSpPr>
          <p:cNvPr id="11" name="Text 8"/>
          <p:cNvSpPr txBox="1"/>
          <p:nvPr/>
        </p:nvSpPr>
        <p:spPr>
          <a:xfrm>
            <a:off x="6446520" y="2103120"/>
            <a:ext cx="2103120" cy="1097280"/>
          </a:xfrm>
          <a:prstGeom prst="rect">
            <a:avLst/>
          </a:prstGeom>
          <a:noFill/>
          <a:ln/>
        </p:spPr>
        <p:txBody>
          <a:bodyPr wrap="square" lIns="0" tIns="0" rIns="0" bIns="0" rtlCol="0" anchor="ctr"/>
          <a:lstStyle/>
          <a:p>
            <a:pPr marL="0" indent="0">
              <a:buNone/>
            </a:pPr>
            <a:r>
              <a:rPr lang="en-US" sz="4000" b="1" dirty="0">
                <a:solidFill>
                  <a:schemeClr val="accent1"/>
                </a:solidFill>
              </a:rPr>
              <a:t>1.2%</a:t>
            </a:r>
            <a:endParaRPr lang="en-US" sz="4000" dirty="0"/>
          </a:p>
        </p:txBody>
      </p:sp>
      <p:sp>
        <p:nvSpPr>
          <p:cNvPr id="12" name="Text 9"/>
          <p:cNvSpPr txBox="1"/>
          <p:nvPr/>
        </p:nvSpPr>
        <p:spPr>
          <a:xfrm>
            <a:off x="6446520" y="3291840"/>
            <a:ext cx="2103120" cy="914400"/>
          </a:xfrm>
          <a:prstGeom prst="rect">
            <a:avLst/>
          </a:prstGeom>
          <a:noFill/>
          <a:ln/>
        </p:spPr>
        <p:txBody>
          <a:bodyPr wrap="square" lIns="0" tIns="0" rIns="0" bIns="0" rtlCol="0" anchor="t"/>
          <a:lstStyle/>
          <a:p>
            <a:pPr marL="0" indent="0">
              <a:buNone/>
            </a:pPr>
            <a:r>
              <a:rPr lang="en-US" sz="1600" dirty="0">
                <a:solidFill>
                  <a:schemeClr val="tx1"/>
                </a:solidFill>
              </a:rPr>
              <a:t>of transactions are fraud</a:t>
            </a:r>
            <a:endParaRPr lang="en-US" sz="1600" dirty="0"/>
          </a:p>
        </p:txBody>
      </p:sp>
      <p:sp>
        <p:nvSpPr>
          <p:cNvPr id="13" name="Trap card"/>
          <p:cNvSpPr/>
          <p:nvPr/>
        </p:nvSpPr>
        <p:spPr>
          <a:xfrm>
            <a:off x="9006840" y="1554480"/>
            <a:ext cx="2514600" cy="3108960"/>
          </a:xfrm>
          <a:prstGeom prst="roundRect">
            <a:avLst>
              <a:gd name="adj" fmla="val 4364"/>
            </a:avLst>
          </a:prstGeom>
          <a:solidFill>
            <a:schemeClr val="tx1"/>
          </a:solidFill>
          <a:ln w="12700">
            <a:solidFill>
              <a:schemeClr val="tx1"/>
            </a:solidFill>
            <a:prstDash val="solid"/>
          </a:ln>
        </p:spPr>
        <p:txBody>
          <a:bodyPr/>
          <a:lstStyle/>
          <a:p>
            <a:endParaRPr lang="en-US"/>
          </a:p>
        </p:txBody>
      </p:sp>
      <p:sp>
        <p:nvSpPr>
          <p:cNvPr id="14" name="Text 11"/>
          <p:cNvSpPr txBox="1"/>
          <p:nvPr/>
        </p:nvSpPr>
        <p:spPr>
          <a:xfrm>
            <a:off x="9235440" y="2011680"/>
            <a:ext cx="2103120" cy="914400"/>
          </a:xfrm>
          <a:prstGeom prst="rect">
            <a:avLst/>
          </a:prstGeom>
          <a:noFill/>
          <a:ln/>
        </p:spPr>
        <p:txBody>
          <a:bodyPr wrap="square" lIns="0" tIns="0" rIns="0" bIns="0" rtlCol="0" anchor="t"/>
          <a:lstStyle/>
          <a:p>
            <a:pPr marL="0" indent="0">
              <a:buNone/>
            </a:pPr>
            <a:r>
              <a:rPr lang="en-US" sz="3600" b="1" dirty="0">
                <a:solidFill>
                  <a:schemeClr val="accent3"/>
                </a:solidFill>
              </a:rPr>
              <a:t>98.8%</a:t>
            </a:r>
            <a:endParaRPr lang="en-US" sz="3600" dirty="0"/>
          </a:p>
        </p:txBody>
      </p:sp>
      <p:sp>
        <p:nvSpPr>
          <p:cNvPr id="15" name="Text 12"/>
          <p:cNvSpPr txBox="1"/>
          <p:nvPr/>
        </p:nvSpPr>
        <p:spPr>
          <a:xfrm>
            <a:off x="9235440" y="3108960"/>
            <a:ext cx="2103120" cy="1371600"/>
          </a:xfrm>
          <a:prstGeom prst="rect">
            <a:avLst/>
          </a:prstGeom>
          <a:noFill/>
          <a:ln/>
        </p:spPr>
        <p:txBody>
          <a:bodyPr wrap="square" lIns="0" tIns="0" rIns="0" bIns="0" rtlCol="0" anchor="t"/>
          <a:lstStyle/>
          <a:p>
            <a:pPr marL="0" indent="0">
              <a:buNone/>
            </a:pPr>
            <a:r>
              <a:rPr lang="en-US" sz="1500" dirty="0">
                <a:solidFill>
                  <a:schemeClr val="bg1"/>
                </a:solidFill>
              </a:rPr>
              <a:t>accuracy of always guessing "not fraud". It catches zero fraud.</a:t>
            </a:r>
            <a:endParaRPr lang="en-US" sz="1500" dirty="0"/>
          </a:p>
        </p:txBody>
      </p:sp>
      <p:sp>
        <p:nvSpPr>
          <p:cNvPr id="16" name="Strip"/>
          <p:cNvSpPr/>
          <p:nvPr/>
        </p:nvSpPr>
        <p:spPr>
          <a:xfrm>
            <a:off x="640080" y="5029200"/>
            <a:ext cx="10881360" cy="1097280"/>
          </a:xfrm>
          <a:prstGeom prst="roundRect">
            <a:avLst>
              <a:gd name="adj" fmla="val 10000"/>
            </a:avLst>
          </a:prstGeom>
          <a:solidFill>
            <a:schemeClr val="bg2"/>
          </a:solidFill>
          <a:ln w="12700">
            <a:solidFill>
              <a:schemeClr val="bg2"/>
            </a:solidFill>
            <a:prstDash val="solid"/>
          </a:ln>
        </p:spPr>
        <p:txBody>
          <a:bodyPr/>
          <a:lstStyle/>
          <a:p>
            <a:endParaRPr lang="en-US"/>
          </a:p>
        </p:txBody>
      </p:sp>
      <p:sp>
        <p:nvSpPr>
          <p:cNvPr id="17" name="Strip circle"/>
          <p:cNvSpPr/>
          <p:nvPr/>
        </p:nvSpPr>
        <p:spPr>
          <a:xfrm>
            <a:off x="914400" y="5212080"/>
            <a:ext cx="731520" cy="731520"/>
          </a:xfrm>
          <a:prstGeom prst="ellipse">
            <a:avLst/>
          </a:prstGeom>
          <a:solidFill>
            <a:schemeClr val="accent3"/>
          </a:solidFill>
          <a:ln w="12700">
            <a:solidFill>
              <a:schemeClr val="accent3"/>
            </a:solidFill>
            <a:prstDash val="solid"/>
          </a:ln>
        </p:spPr>
        <p:txBody>
          <a:bodyPr/>
          <a:lstStyle/>
          <a:p>
            <a:endParaRPr lang="en-US"/>
          </a:p>
        </p:txBody>
      </p:sp>
      <p:sp>
        <p:nvSpPr>
          <p:cNvPr id="18" name="Text 15"/>
          <p:cNvSpPr txBox="1"/>
          <p:nvPr/>
        </p:nvSpPr>
        <p:spPr>
          <a:xfrm>
            <a:off x="1920240" y="5212080"/>
            <a:ext cx="9326880" cy="731520"/>
          </a:xfrm>
          <a:prstGeom prst="rect">
            <a:avLst/>
          </a:prstGeom>
          <a:noFill/>
          <a:ln/>
        </p:spPr>
        <p:txBody>
          <a:bodyPr wrap="square" lIns="0" tIns="0" rIns="0" bIns="0" rtlCol="0" anchor="ctr"/>
          <a:lstStyle/>
          <a:p>
            <a:pPr marL="0" indent="0">
              <a:buNone/>
            </a:pPr>
            <a:r>
              <a:rPr lang="en-US" sz="1600" b="1" dirty="0">
                <a:solidFill>
                  <a:schemeClr val="tx1"/>
                </a:solidFill>
              </a:rPr>
              <a:t>No private data: </a:t>
            </a:r>
            <a:r>
              <a:rPr lang="en-US" sz="1600" dirty="0">
                <a:solidFill>
                  <a:schemeClr val="tx1"/>
                </a:solidFill>
              </a:rPr>
              <a:t>everything is simulated, and the generator is public and reproducible.</a:t>
            </a:r>
            <a:endParaRPr lang="en-US" sz="1600" dirty="0"/>
          </a:p>
        </p:txBody>
      </p:sp>
      <p:pic>
        <p:nvPicPr>
          <p:cNvPr id="19" name="Strip icon" descr="Strip"/>
          <p:cNvPicPr>
            <a:picLocks noChangeAspect="1"/>
          </p:cNvPicPr>
          <p:nvPr/>
        </p:nvPicPr>
        <p:blipFill>
          <a:blip r:embed="rId3"/>
          <a:stretch>
            <a:fillRect/>
          </a:stretch>
        </p:blipFill>
        <p:spPr>
          <a:xfrm>
            <a:off x="1075334" y="5373014"/>
            <a:ext cx="409651" cy="409651"/>
          </a:xfrm>
          <a:prstGeom prst="rect">
            <a:avLst/>
          </a:prstGeom>
        </p:spPr>
      </p:pic>
      <p:sp>
        <p:nvSpPr>
          <p:cNvPr id="25"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365760"/>
            <a:ext cx="10881360" cy="914400"/>
          </a:xfrm>
          <a:prstGeom prst="rect">
            <a:avLst/>
          </a:prstGeom>
          <a:noFill/>
          <a:ln/>
        </p:spPr>
        <p:txBody>
          <a:bodyPr wrap="square" lIns="0" tIns="0" rIns="0" bIns="0" rtlCol="0" anchor="ctr"/>
          <a:lstStyle/>
          <a:p>
            <a:pPr marL="0" indent="0" algn="l">
              <a:buNone/>
            </a:pPr>
            <a:r>
              <a:rPr lang="en-US" sz="3600" b="1" dirty="0">
                <a:solidFill>
                  <a:schemeClr val="tx1"/>
                </a:solidFill>
              </a:rPr>
              <a:t>Features built so far</a:t>
            </a:r>
            <a:endParaRPr lang="en-US" sz="3600" dirty="0"/>
          </a:p>
        </p:txBody>
      </p:sp>
      <p:sp>
        <p:nvSpPr>
          <p:cNvPr id="4" name="Card 1"/>
          <p:cNvSpPr/>
          <p:nvPr/>
        </p:nvSpPr>
        <p:spPr>
          <a:xfrm>
            <a:off x="640080" y="1554480"/>
            <a:ext cx="2514600" cy="3200400"/>
          </a:xfrm>
          <a:prstGeom prst="roundRect">
            <a:avLst>
              <a:gd name="adj" fmla="val 4364"/>
            </a:avLst>
          </a:prstGeom>
          <a:solidFill>
            <a:schemeClr val="bg2"/>
          </a:solidFill>
          <a:ln w="12700">
            <a:solidFill>
              <a:schemeClr val="bg2"/>
            </a:solidFill>
            <a:prstDash val="solid"/>
          </a:ln>
        </p:spPr>
        <p:txBody>
          <a:bodyPr/>
          <a:lstStyle/>
          <a:p>
            <a:endParaRPr lang="en-US"/>
          </a:p>
        </p:txBody>
      </p:sp>
      <p:sp>
        <p:nvSpPr>
          <p:cNvPr id="5" name="Base and category circle"/>
          <p:cNvSpPr/>
          <p:nvPr/>
        </p:nvSpPr>
        <p:spPr>
          <a:xfrm>
            <a:off x="914400" y="1828800"/>
            <a:ext cx="640080" cy="640080"/>
          </a:xfrm>
          <a:prstGeom prst="ellipse">
            <a:avLst/>
          </a:prstGeom>
          <a:solidFill>
            <a:schemeClr val="accent1"/>
          </a:solidFill>
          <a:ln w="12700">
            <a:solidFill>
              <a:schemeClr val="accent1"/>
            </a:solidFill>
            <a:prstDash val="solid"/>
          </a:ln>
        </p:spPr>
        <p:txBody>
          <a:bodyPr/>
          <a:lstStyle/>
          <a:p>
            <a:endParaRPr lang="en-US"/>
          </a:p>
        </p:txBody>
      </p:sp>
      <p:sp>
        <p:nvSpPr>
          <p:cNvPr id="6" name="Text 3"/>
          <p:cNvSpPr txBox="1"/>
          <p:nvPr/>
        </p:nvSpPr>
        <p:spPr>
          <a:xfrm>
            <a:off x="914400" y="2651760"/>
            <a:ext cx="1965960" cy="411480"/>
          </a:xfrm>
          <a:prstGeom prst="rect">
            <a:avLst/>
          </a:prstGeom>
          <a:noFill/>
          <a:ln/>
        </p:spPr>
        <p:txBody>
          <a:bodyPr wrap="square" lIns="0" tIns="0" rIns="0" bIns="0" rtlCol="0" anchor="t"/>
          <a:lstStyle/>
          <a:p>
            <a:pPr marL="0" indent="0">
              <a:buNone/>
            </a:pPr>
            <a:r>
              <a:rPr lang="en-US" sz="1900" b="1" dirty="0">
                <a:solidFill>
                  <a:schemeClr val="tx1"/>
                </a:solidFill>
              </a:rPr>
              <a:t>Base and category</a:t>
            </a:r>
            <a:endParaRPr lang="en-US" sz="1900" dirty="0"/>
          </a:p>
        </p:txBody>
      </p:sp>
      <p:sp>
        <p:nvSpPr>
          <p:cNvPr id="7" name="Text 4"/>
          <p:cNvSpPr txBox="1"/>
          <p:nvPr/>
        </p:nvSpPr>
        <p:spPr>
          <a:xfrm>
            <a:off x="914400" y="3154680"/>
            <a:ext cx="1965960" cy="1463040"/>
          </a:xfrm>
          <a:prstGeom prst="rect">
            <a:avLst/>
          </a:prstGeom>
          <a:noFill/>
          <a:ln/>
        </p:spPr>
        <p:txBody>
          <a:bodyPr wrap="square" lIns="0" tIns="0" rIns="0" bIns="0" rtlCol="0" anchor="t"/>
          <a:lstStyle/>
          <a:p>
            <a:pPr marL="0" indent="0">
              <a:buNone/>
            </a:pPr>
            <a:r>
              <a:rPr lang="en-US" sz="1500" dirty="0">
                <a:solidFill>
                  <a:schemeClr val="tx1"/>
                </a:solidFill>
              </a:rPr>
              <a:t>Amount, age, city size, and 14 category columns.</a:t>
            </a:r>
            <a:endParaRPr lang="en-US" sz="1500" dirty="0"/>
          </a:p>
        </p:txBody>
      </p:sp>
      <p:sp>
        <p:nvSpPr>
          <p:cNvPr id="8" name="Card 2"/>
          <p:cNvSpPr/>
          <p:nvPr/>
        </p:nvSpPr>
        <p:spPr>
          <a:xfrm>
            <a:off x="3429000" y="1554480"/>
            <a:ext cx="2514600" cy="3200400"/>
          </a:xfrm>
          <a:prstGeom prst="roundRect">
            <a:avLst>
              <a:gd name="adj" fmla="val 4364"/>
            </a:avLst>
          </a:prstGeom>
          <a:solidFill>
            <a:schemeClr val="bg2"/>
          </a:solidFill>
          <a:ln w="12700">
            <a:solidFill>
              <a:schemeClr val="bg2"/>
            </a:solidFill>
            <a:prstDash val="solid"/>
          </a:ln>
        </p:spPr>
        <p:txBody>
          <a:bodyPr/>
          <a:lstStyle/>
          <a:p>
            <a:endParaRPr lang="en-US"/>
          </a:p>
        </p:txBody>
      </p:sp>
      <p:sp>
        <p:nvSpPr>
          <p:cNvPr id="9" name="Time circle"/>
          <p:cNvSpPr/>
          <p:nvPr/>
        </p:nvSpPr>
        <p:spPr>
          <a:xfrm>
            <a:off x="3703320" y="1828800"/>
            <a:ext cx="640080" cy="640080"/>
          </a:xfrm>
          <a:prstGeom prst="ellipse">
            <a:avLst/>
          </a:prstGeom>
          <a:solidFill>
            <a:schemeClr val="accent1"/>
          </a:solidFill>
          <a:ln w="12700">
            <a:solidFill>
              <a:schemeClr val="accent1"/>
            </a:solidFill>
            <a:prstDash val="solid"/>
          </a:ln>
        </p:spPr>
        <p:txBody>
          <a:bodyPr/>
          <a:lstStyle/>
          <a:p>
            <a:endParaRPr lang="en-US"/>
          </a:p>
        </p:txBody>
      </p:sp>
      <p:sp>
        <p:nvSpPr>
          <p:cNvPr id="10" name="Text 7"/>
          <p:cNvSpPr txBox="1"/>
          <p:nvPr/>
        </p:nvSpPr>
        <p:spPr>
          <a:xfrm>
            <a:off x="3703320" y="2651760"/>
            <a:ext cx="1965960" cy="411480"/>
          </a:xfrm>
          <a:prstGeom prst="rect">
            <a:avLst/>
          </a:prstGeom>
          <a:noFill/>
          <a:ln/>
        </p:spPr>
        <p:txBody>
          <a:bodyPr wrap="square" lIns="0" tIns="0" rIns="0" bIns="0" rtlCol="0" anchor="t"/>
          <a:lstStyle/>
          <a:p>
            <a:pPr marL="0" indent="0">
              <a:buNone/>
            </a:pPr>
            <a:r>
              <a:rPr lang="en-US" sz="1900" b="1" dirty="0">
                <a:solidFill>
                  <a:schemeClr val="tx1"/>
                </a:solidFill>
              </a:rPr>
              <a:t>Time</a:t>
            </a:r>
            <a:endParaRPr lang="en-US" sz="1900" dirty="0"/>
          </a:p>
        </p:txBody>
      </p:sp>
      <p:sp>
        <p:nvSpPr>
          <p:cNvPr id="11" name="Text 8"/>
          <p:cNvSpPr txBox="1"/>
          <p:nvPr/>
        </p:nvSpPr>
        <p:spPr>
          <a:xfrm>
            <a:off x="3703320" y="3154680"/>
            <a:ext cx="1965960" cy="1463040"/>
          </a:xfrm>
          <a:prstGeom prst="rect">
            <a:avLst/>
          </a:prstGeom>
          <a:noFill/>
          <a:ln/>
        </p:spPr>
        <p:txBody>
          <a:bodyPr wrap="square" lIns="0" tIns="0" rIns="0" bIns="0" rtlCol="0" anchor="t"/>
          <a:lstStyle/>
          <a:p>
            <a:pPr marL="0" indent="0">
              <a:buNone/>
            </a:pPr>
            <a:r>
              <a:rPr lang="en-US" sz="1500" dirty="0">
                <a:solidFill>
                  <a:schemeClr val="tx1"/>
                </a:solidFill>
              </a:rPr>
              <a:t>Hour, weekday, weekend flag, and night flag.</a:t>
            </a:r>
            <a:endParaRPr lang="en-US" sz="1500" dirty="0"/>
          </a:p>
        </p:txBody>
      </p:sp>
      <p:sp>
        <p:nvSpPr>
          <p:cNvPr id="12" name="Card 3"/>
          <p:cNvSpPr/>
          <p:nvPr/>
        </p:nvSpPr>
        <p:spPr>
          <a:xfrm>
            <a:off x="6217920" y="1554480"/>
            <a:ext cx="2514600" cy="3200400"/>
          </a:xfrm>
          <a:prstGeom prst="roundRect">
            <a:avLst>
              <a:gd name="adj" fmla="val 4364"/>
            </a:avLst>
          </a:prstGeom>
          <a:solidFill>
            <a:schemeClr val="bg2"/>
          </a:solidFill>
          <a:ln w="12700">
            <a:solidFill>
              <a:schemeClr val="bg2"/>
            </a:solidFill>
            <a:prstDash val="solid"/>
          </a:ln>
        </p:spPr>
        <p:txBody>
          <a:bodyPr/>
          <a:lstStyle/>
          <a:p>
            <a:endParaRPr lang="en-US"/>
          </a:p>
        </p:txBody>
      </p:sp>
      <p:sp>
        <p:nvSpPr>
          <p:cNvPr id="13" name="Distance circle"/>
          <p:cNvSpPr/>
          <p:nvPr/>
        </p:nvSpPr>
        <p:spPr>
          <a:xfrm>
            <a:off x="6492240" y="1828800"/>
            <a:ext cx="640080" cy="640080"/>
          </a:xfrm>
          <a:prstGeom prst="ellipse">
            <a:avLst/>
          </a:prstGeom>
          <a:solidFill>
            <a:schemeClr val="accent1"/>
          </a:solidFill>
          <a:ln w="12700">
            <a:solidFill>
              <a:schemeClr val="accent1"/>
            </a:solidFill>
            <a:prstDash val="solid"/>
          </a:ln>
        </p:spPr>
        <p:txBody>
          <a:bodyPr/>
          <a:lstStyle/>
          <a:p>
            <a:endParaRPr lang="en-US"/>
          </a:p>
        </p:txBody>
      </p:sp>
      <p:sp>
        <p:nvSpPr>
          <p:cNvPr id="14" name="Text 11"/>
          <p:cNvSpPr txBox="1"/>
          <p:nvPr/>
        </p:nvSpPr>
        <p:spPr>
          <a:xfrm>
            <a:off x="6492240" y="2651760"/>
            <a:ext cx="1965960" cy="411480"/>
          </a:xfrm>
          <a:prstGeom prst="rect">
            <a:avLst/>
          </a:prstGeom>
          <a:noFill/>
          <a:ln/>
        </p:spPr>
        <p:txBody>
          <a:bodyPr wrap="square" lIns="0" tIns="0" rIns="0" bIns="0" rtlCol="0" anchor="t"/>
          <a:lstStyle/>
          <a:p>
            <a:pPr marL="0" indent="0">
              <a:buNone/>
            </a:pPr>
            <a:r>
              <a:rPr lang="en-US" sz="1900" b="1" dirty="0">
                <a:solidFill>
                  <a:schemeClr val="tx1"/>
                </a:solidFill>
              </a:rPr>
              <a:t>Distance</a:t>
            </a:r>
            <a:endParaRPr lang="en-US" sz="1900" dirty="0"/>
          </a:p>
        </p:txBody>
      </p:sp>
      <p:sp>
        <p:nvSpPr>
          <p:cNvPr id="15" name="Text 12"/>
          <p:cNvSpPr txBox="1"/>
          <p:nvPr/>
        </p:nvSpPr>
        <p:spPr>
          <a:xfrm>
            <a:off x="6492240" y="3154680"/>
            <a:ext cx="1965960" cy="1463040"/>
          </a:xfrm>
          <a:prstGeom prst="rect">
            <a:avLst/>
          </a:prstGeom>
          <a:noFill/>
          <a:ln/>
        </p:spPr>
        <p:txBody>
          <a:bodyPr wrap="square" lIns="0" tIns="0" rIns="0" bIns="0" rtlCol="0" anchor="t"/>
          <a:lstStyle/>
          <a:p>
            <a:pPr marL="0" indent="0">
              <a:buNone/>
            </a:pPr>
            <a:r>
              <a:rPr lang="en-US" sz="1500" dirty="0">
                <a:solidFill>
                  <a:schemeClr val="tx1"/>
                </a:solidFill>
              </a:rPr>
              <a:t>Haversine miles from home to the merchant.</a:t>
            </a:r>
            <a:endParaRPr lang="en-US" sz="1500" dirty="0"/>
          </a:p>
        </p:txBody>
      </p:sp>
      <p:sp>
        <p:nvSpPr>
          <p:cNvPr id="16" name="Card 4"/>
          <p:cNvSpPr/>
          <p:nvPr/>
        </p:nvSpPr>
        <p:spPr>
          <a:xfrm>
            <a:off x="9006840" y="1554480"/>
            <a:ext cx="2514600" cy="3200400"/>
          </a:xfrm>
          <a:prstGeom prst="roundRect">
            <a:avLst>
              <a:gd name="adj" fmla="val 4364"/>
            </a:avLst>
          </a:prstGeom>
          <a:solidFill>
            <a:schemeClr val="bg2"/>
          </a:solidFill>
          <a:ln w="12700">
            <a:solidFill>
              <a:schemeClr val="bg2"/>
            </a:solidFill>
            <a:prstDash val="solid"/>
          </a:ln>
        </p:spPr>
        <p:txBody>
          <a:bodyPr/>
          <a:lstStyle/>
          <a:p>
            <a:endParaRPr lang="en-US"/>
          </a:p>
        </p:txBody>
      </p:sp>
      <p:sp>
        <p:nvSpPr>
          <p:cNvPr id="17" name="History circle"/>
          <p:cNvSpPr/>
          <p:nvPr/>
        </p:nvSpPr>
        <p:spPr>
          <a:xfrm>
            <a:off x="9281160" y="1828800"/>
            <a:ext cx="640080" cy="640080"/>
          </a:xfrm>
          <a:prstGeom prst="ellipse">
            <a:avLst/>
          </a:prstGeom>
          <a:solidFill>
            <a:schemeClr val="accent1"/>
          </a:solidFill>
          <a:ln w="12700">
            <a:solidFill>
              <a:schemeClr val="accent1"/>
            </a:solidFill>
            <a:prstDash val="solid"/>
          </a:ln>
        </p:spPr>
        <p:txBody>
          <a:bodyPr/>
          <a:lstStyle/>
          <a:p>
            <a:endParaRPr lang="en-US"/>
          </a:p>
        </p:txBody>
      </p:sp>
      <p:sp>
        <p:nvSpPr>
          <p:cNvPr id="18" name="Text 15"/>
          <p:cNvSpPr txBox="1"/>
          <p:nvPr/>
        </p:nvSpPr>
        <p:spPr>
          <a:xfrm>
            <a:off x="9281160" y="2651760"/>
            <a:ext cx="1965960" cy="411480"/>
          </a:xfrm>
          <a:prstGeom prst="rect">
            <a:avLst/>
          </a:prstGeom>
          <a:noFill/>
          <a:ln/>
        </p:spPr>
        <p:txBody>
          <a:bodyPr wrap="square" lIns="0" tIns="0" rIns="0" bIns="0" rtlCol="0" anchor="t"/>
          <a:lstStyle/>
          <a:p>
            <a:pPr marL="0" indent="0">
              <a:buNone/>
            </a:pPr>
            <a:r>
              <a:rPr lang="en-US" sz="1900" b="1" dirty="0">
                <a:solidFill>
                  <a:schemeClr val="tx1"/>
                </a:solidFill>
              </a:rPr>
              <a:t>History</a:t>
            </a:r>
            <a:endParaRPr lang="en-US" sz="1900" dirty="0"/>
          </a:p>
        </p:txBody>
      </p:sp>
      <p:sp>
        <p:nvSpPr>
          <p:cNvPr id="19" name="Text 16"/>
          <p:cNvSpPr txBox="1"/>
          <p:nvPr/>
        </p:nvSpPr>
        <p:spPr>
          <a:xfrm>
            <a:off x="9281160" y="3154680"/>
            <a:ext cx="1965960" cy="1463040"/>
          </a:xfrm>
          <a:prstGeom prst="rect">
            <a:avLst/>
          </a:prstGeom>
          <a:noFill/>
          <a:ln/>
        </p:spPr>
        <p:txBody>
          <a:bodyPr wrap="square" lIns="0" tIns="0" rIns="0" bIns="0" rtlCol="0" anchor="t"/>
          <a:lstStyle/>
          <a:p>
            <a:pPr marL="0" indent="0">
              <a:buNone/>
            </a:pPr>
            <a:r>
              <a:rPr lang="en-US" sz="1500" dirty="0">
                <a:solidFill>
                  <a:schemeClr val="tx1"/>
                </a:solidFill>
              </a:rPr>
              <a:t>9 features: gaps, speed, amount vs average, counts.</a:t>
            </a:r>
            <a:endParaRPr lang="en-US" sz="1500" dirty="0"/>
          </a:p>
        </p:txBody>
      </p:sp>
      <p:sp>
        <p:nvSpPr>
          <p:cNvPr id="20" name="Strip"/>
          <p:cNvSpPr/>
          <p:nvPr/>
        </p:nvSpPr>
        <p:spPr>
          <a:xfrm>
            <a:off x="640080" y="5029200"/>
            <a:ext cx="10881360" cy="1097280"/>
          </a:xfrm>
          <a:prstGeom prst="roundRect">
            <a:avLst>
              <a:gd name="adj" fmla="val 10000"/>
            </a:avLst>
          </a:prstGeom>
          <a:solidFill>
            <a:schemeClr val="bg2"/>
          </a:solidFill>
          <a:ln w="12700">
            <a:solidFill>
              <a:schemeClr val="bg2"/>
            </a:solidFill>
            <a:prstDash val="solid"/>
          </a:ln>
        </p:spPr>
        <p:txBody>
          <a:bodyPr/>
          <a:lstStyle/>
          <a:p>
            <a:endParaRPr lang="en-US"/>
          </a:p>
        </p:txBody>
      </p:sp>
      <p:sp>
        <p:nvSpPr>
          <p:cNvPr id="21" name="Strip circle"/>
          <p:cNvSpPr/>
          <p:nvPr/>
        </p:nvSpPr>
        <p:spPr>
          <a:xfrm>
            <a:off x="914400" y="5212080"/>
            <a:ext cx="731520" cy="731520"/>
          </a:xfrm>
          <a:prstGeom prst="ellipse">
            <a:avLst/>
          </a:prstGeom>
          <a:solidFill>
            <a:schemeClr val="accent3"/>
          </a:solidFill>
          <a:ln w="12700">
            <a:solidFill>
              <a:schemeClr val="accent3"/>
            </a:solidFill>
            <a:prstDash val="solid"/>
          </a:ln>
        </p:spPr>
        <p:txBody>
          <a:bodyPr/>
          <a:lstStyle/>
          <a:p>
            <a:endParaRPr lang="en-US"/>
          </a:p>
        </p:txBody>
      </p:sp>
      <p:sp>
        <p:nvSpPr>
          <p:cNvPr id="22" name="Text 19"/>
          <p:cNvSpPr txBox="1"/>
          <p:nvPr/>
        </p:nvSpPr>
        <p:spPr>
          <a:xfrm>
            <a:off x="1920240" y="5212080"/>
            <a:ext cx="9326880" cy="731520"/>
          </a:xfrm>
          <a:prstGeom prst="rect">
            <a:avLst/>
          </a:prstGeom>
          <a:noFill/>
          <a:ln/>
        </p:spPr>
        <p:txBody>
          <a:bodyPr wrap="square" lIns="0" tIns="0" rIns="0" bIns="0" rtlCol="0" anchor="ctr"/>
          <a:lstStyle/>
          <a:p>
            <a:pPr marL="0" indent="0">
              <a:buNone/>
            </a:pPr>
            <a:r>
              <a:rPr lang="en-US" sz="1600" b="1" dirty="0">
                <a:solidFill>
                  <a:schemeClr val="tx1"/>
                </a:solidFill>
              </a:rPr>
              <a:t>No future leakage: </a:t>
            </a:r>
            <a:r>
              <a:rPr lang="en-US" sz="1600" dirty="0">
                <a:solidFill>
                  <a:schemeClr val="tx1"/>
                </a:solidFill>
              </a:rPr>
              <a:t>history features only use a customer's earlier transactions.</a:t>
            </a:r>
            <a:endParaRPr lang="en-US" sz="1600" dirty="0"/>
          </a:p>
        </p:txBody>
      </p:sp>
      <p:pic>
        <p:nvPicPr>
          <p:cNvPr id="23" name="Base and category icon" descr="Base and category"/>
          <p:cNvPicPr>
            <a:picLocks noChangeAspect="1"/>
          </p:cNvPicPr>
          <p:nvPr/>
        </p:nvPicPr>
        <p:blipFill>
          <a:blip r:embed="rId3"/>
          <a:stretch>
            <a:fillRect/>
          </a:stretch>
        </p:blipFill>
        <p:spPr>
          <a:xfrm>
            <a:off x="1055218" y="1969618"/>
            <a:ext cx="358445" cy="358445"/>
          </a:xfrm>
          <a:prstGeom prst="rect">
            <a:avLst/>
          </a:prstGeom>
        </p:spPr>
      </p:pic>
      <p:pic>
        <p:nvPicPr>
          <p:cNvPr id="24" name="Time icon" descr="Time"/>
          <p:cNvPicPr>
            <a:picLocks noChangeAspect="1"/>
          </p:cNvPicPr>
          <p:nvPr/>
        </p:nvPicPr>
        <p:blipFill>
          <a:blip r:embed="rId4"/>
          <a:stretch>
            <a:fillRect/>
          </a:stretch>
        </p:blipFill>
        <p:spPr>
          <a:xfrm>
            <a:off x="3844138" y="1969618"/>
            <a:ext cx="358445" cy="358445"/>
          </a:xfrm>
          <a:prstGeom prst="rect">
            <a:avLst/>
          </a:prstGeom>
        </p:spPr>
      </p:pic>
      <p:pic>
        <p:nvPicPr>
          <p:cNvPr id="25" name="Distance icon" descr="Distance"/>
          <p:cNvPicPr>
            <a:picLocks noChangeAspect="1"/>
          </p:cNvPicPr>
          <p:nvPr/>
        </p:nvPicPr>
        <p:blipFill>
          <a:blip r:embed="rId5"/>
          <a:stretch>
            <a:fillRect/>
          </a:stretch>
        </p:blipFill>
        <p:spPr>
          <a:xfrm>
            <a:off x="6633058" y="1969618"/>
            <a:ext cx="358445" cy="358445"/>
          </a:xfrm>
          <a:prstGeom prst="rect">
            <a:avLst/>
          </a:prstGeom>
        </p:spPr>
      </p:pic>
      <p:pic>
        <p:nvPicPr>
          <p:cNvPr id="26" name="History icon" descr="History"/>
          <p:cNvPicPr>
            <a:picLocks noChangeAspect="1"/>
          </p:cNvPicPr>
          <p:nvPr/>
        </p:nvPicPr>
        <p:blipFill>
          <a:blip r:embed="rId6"/>
          <a:stretch>
            <a:fillRect/>
          </a:stretch>
        </p:blipFill>
        <p:spPr>
          <a:xfrm>
            <a:off x="9421978" y="1969618"/>
            <a:ext cx="358445" cy="358445"/>
          </a:xfrm>
          <a:prstGeom prst="rect">
            <a:avLst/>
          </a:prstGeom>
        </p:spPr>
      </p:pic>
      <p:pic>
        <p:nvPicPr>
          <p:cNvPr id="27" name="Strip icon" descr="Strip"/>
          <p:cNvPicPr>
            <a:picLocks noChangeAspect="1"/>
          </p:cNvPicPr>
          <p:nvPr/>
        </p:nvPicPr>
        <p:blipFill>
          <a:blip r:embed="rId7"/>
          <a:stretch>
            <a:fillRect/>
          </a:stretch>
        </p:blipFill>
        <p:spPr>
          <a:xfrm>
            <a:off x="1075334" y="5373014"/>
            <a:ext cx="409651" cy="409651"/>
          </a:xfrm>
          <a:prstGeom prst="rect">
            <a:avLst/>
          </a:prstGeom>
        </p:spPr>
      </p:pic>
      <p:sp>
        <p:nvSpPr>
          <p:cNvPr id="3"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365760"/>
            <a:ext cx="10881360" cy="914400"/>
          </a:xfrm>
          <a:prstGeom prst="rect">
            <a:avLst/>
          </a:prstGeom>
          <a:noFill/>
          <a:ln/>
        </p:spPr>
        <p:txBody>
          <a:bodyPr wrap="square" lIns="0" tIns="0" rIns="0" bIns="0" rtlCol="0" anchor="ctr"/>
          <a:lstStyle/>
          <a:p>
            <a:pPr marL="0" indent="0" algn="l">
              <a:buNone/>
            </a:pPr>
            <a:r>
              <a:rPr lang="en-US" sz="3600" b="1" dirty="0">
                <a:solidFill>
                  <a:schemeClr val="tx1"/>
                </a:solidFill>
              </a:rPr>
              <a:t>Dimensionality reduction: PCA</a:t>
            </a:r>
            <a:endParaRPr lang="en-US" sz="3600" dirty="0"/>
          </a:p>
        </p:txBody>
      </p:sp>
      <p:sp>
        <p:nvSpPr>
          <p:cNvPr id="4" name="Text 1"/>
          <p:cNvSpPr txBox="1"/>
          <p:nvPr/>
        </p:nvSpPr>
        <p:spPr>
          <a:xfrm>
            <a:off x="640080" y="1371600"/>
            <a:ext cx="5486400" cy="365760"/>
          </a:xfrm>
          <a:prstGeom prst="rect">
            <a:avLst/>
          </a:prstGeom>
          <a:noFill/>
          <a:ln/>
        </p:spPr>
        <p:txBody>
          <a:bodyPr wrap="square" lIns="0" tIns="0" rIns="0" bIns="0" rtlCol="0" anchor="t"/>
          <a:lstStyle/>
          <a:p>
            <a:pPr marL="0" indent="0">
              <a:buNone/>
            </a:pPr>
            <a:r>
              <a:rPr lang="en-US" sz="1500" b="1" dirty="0">
                <a:solidFill>
                  <a:schemeClr val="tx1"/>
                </a:solidFill>
              </a:rPr>
              <a:t>Share of variance explained by each component</a:t>
            </a:r>
            <a:endParaRPr lang="en-US" sz="1500" dirty="0"/>
          </a:p>
        </p:txBody>
      </p:sp>
      <p:graphicFrame>
        <p:nvGraphicFramePr>
          <p:cNvPr id="5" name="Scree chart"/>
          <p:cNvGraphicFramePr/>
          <p:nvPr/>
        </p:nvGraphicFramePr>
        <p:xfrm>
          <a:off x="640080" y="1783080"/>
          <a:ext cx="5486400" cy="32004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2"/>
          <p:cNvSpPr txBox="1"/>
          <p:nvPr/>
        </p:nvSpPr>
        <p:spPr>
          <a:xfrm>
            <a:off x="6583680" y="1371600"/>
            <a:ext cx="4937760" cy="365760"/>
          </a:xfrm>
          <a:prstGeom prst="rect">
            <a:avLst/>
          </a:prstGeom>
          <a:noFill/>
          <a:ln/>
        </p:spPr>
        <p:txBody>
          <a:bodyPr wrap="square" lIns="0" tIns="0" rIns="0" bIns="0" rtlCol="0" anchor="t"/>
          <a:lstStyle/>
          <a:p>
            <a:pPr marL="0" indent="0">
              <a:buNone/>
            </a:pPr>
            <a:r>
              <a:rPr lang="en-US" sz="1500" b="1" dirty="0">
                <a:solidFill>
                  <a:schemeClr val="tx1"/>
                </a:solidFill>
              </a:rPr>
              <a:t>First two components (60,000 sampled transactions)</a:t>
            </a:r>
            <a:endParaRPr lang="en-US" sz="1500" dirty="0"/>
          </a:p>
        </p:txBody>
      </p:sp>
      <p:pic>
        <p:nvPicPr>
          <p:cNvPr id="7" name="PCA scatter" descr="PCA projection of normal and fraud transactions"/>
          <p:cNvPicPr>
            <a:picLocks noChangeAspect="1"/>
          </p:cNvPicPr>
          <p:nvPr/>
        </p:nvPicPr>
        <p:blipFill>
          <a:blip r:embed="rId4"/>
          <a:stretch>
            <a:fillRect/>
          </a:stretch>
        </p:blipFill>
        <p:spPr>
          <a:xfrm>
            <a:off x="6583680" y="1783080"/>
            <a:ext cx="4480560" cy="3182112"/>
          </a:xfrm>
          <a:prstGeom prst="rect">
            <a:avLst/>
          </a:prstGeom>
        </p:spPr>
      </p:pic>
      <p:sp>
        <p:nvSpPr>
          <p:cNvPr id="8" name="Strip"/>
          <p:cNvSpPr/>
          <p:nvPr/>
        </p:nvSpPr>
        <p:spPr>
          <a:xfrm>
            <a:off x="640080" y="5166360"/>
            <a:ext cx="10881360" cy="1097280"/>
          </a:xfrm>
          <a:prstGeom prst="roundRect">
            <a:avLst>
              <a:gd name="adj" fmla="val 10000"/>
            </a:avLst>
          </a:prstGeom>
          <a:solidFill>
            <a:schemeClr val="bg2"/>
          </a:solidFill>
          <a:ln w="12700">
            <a:solidFill>
              <a:schemeClr val="bg2"/>
            </a:solidFill>
            <a:prstDash val="solid"/>
          </a:ln>
        </p:spPr>
        <p:txBody>
          <a:bodyPr/>
          <a:lstStyle/>
          <a:p>
            <a:endParaRPr lang="en-US"/>
          </a:p>
        </p:txBody>
      </p:sp>
      <p:sp>
        <p:nvSpPr>
          <p:cNvPr id="9" name="Strip circle"/>
          <p:cNvSpPr/>
          <p:nvPr/>
        </p:nvSpPr>
        <p:spPr>
          <a:xfrm>
            <a:off x="914400" y="5349240"/>
            <a:ext cx="731520" cy="731520"/>
          </a:xfrm>
          <a:prstGeom prst="ellipse">
            <a:avLst/>
          </a:prstGeom>
          <a:solidFill>
            <a:schemeClr val="accent3"/>
          </a:solidFill>
          <a:ln w="12700">
            <a:solidFill>
              <a:schemeClr val="accent3"/>
            </a:solidFill>
            <a:prstDash val="solid"/>
          </a:ln>
        </p:spPr>
        <p:txBody>
          <a:bodyPr/>
          <a:lstStyle/>
          <a:p>
            <a:endParaRPr lang="en-US"/>
          </a:p>
        </p:txBody>
      </p:sp>
      <p:sp>
        <p:nvSpPr>
          <p:cNvPr id="10" name="Text 5"/>
          <p:cNvSpPr txBox="1"/>
          <p:nvPr/>
        </p:nvSpPr>
        <p:spPr>
          <a:xfrm>
            <a:off x="1920240" y="5349240"/>
            <a:ext cx="9326880" cy="731520"/>
          </a:xfrm>
          <a:prstGeom prst="rect">
            <a:avLst/>
          </a:prstGeom>
          <a:noFill/>
          <a:ln/>
        </p:spPr>
        <p:txBody>
          <a:bodyPr wrap="square" lIns="0" tIns="0" rIns="0" bIns="0" rtlCol="0" anchor="ctr"/>
          <a:lstStyle/>
          <a:p>
            <a:pPr marL="0" indent="0">
              <a:buNone/>
            </a:pPr>
            <a:r>
              <a:rPr lang="en-US" sz="1600" b="1" dirty="0">
                <a:solidFill>
                  <a:schemeClr val="tx1"/>
                </a:solidFill>
              </a:rPr>
              <a:t>25 of 31 components keep 95% of the variance. </a:t>
            </a:r>
            <a:r>
              <a:rPr lang="en-US" sz="1600" dirty="0">
                <a:solidFill>
                  <a:schemeClr val="tx1"/>
                </a:solidFill>
              </a:rPr>
              <a:t>The first two keep 17%: PC1 tracks recent activity, PC2 tracks amount.</a:t>
            </a:r>
            <a:endParaRPr lang="en-US" sz="1600" dirty="0"/>
          </a:p>
        </p:txBody>
      </p:sp>
      <p:pic>
        <p:nvPicPr>
          <p:cNvPr id="11" name="Strip icon" descr="Strip"/>
          <p:cNvPicPr>
            <a:picLocks noChangeAspect="1"/>
          </p:cNvPicPr>
          <p:nvPr/>
        </p:nvPicPr>
        <p:blipFill>
          <a:blip r:embed="rId5"/>
          <a:stretch>
            <a:fillRect/>
          </a:stretch>
        </p:blipFill>
        <p:spPr>
          <a:xfrm>
            <a:off x="1075334" y="5510174"/>
            <a:ext cx="409651" cy="409651"/>
          </a:xfrm>
          <a:prstGeom prst="rect">
            <a:avLst/>
          </a:prstGeom>
        </p:spPr>
      </p:pic>
      <p:sp>
        <p:nvSpPr>
          <p:cNvPr id="25"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365760"/>
            <a:ext cx="10881360" cy="914400"/>
          </a:xfrm>
          <a:prstGeom prst="rect">
            <a:avLst/>
          </a:prstGeom>
          <a:noFill/>
          <a:ln/>
        </p:spPr>
        <p:txBody>
          <a:bodyPr wrap="square" lIns="0" tIns="0" rIns="0" bIns="0" rtlCol="0" anchor="ctr"/>
          <a:lstStyle/>
          <a:p>
            <a:pPr marL="0" indent="0" algn="l">
              <a:buNone/>
            </a:pPr>
            <a:r>
              <a:rPr lang="en-US" sz="3600" b="1" dirty="0">
                <a:solidFill>
                  <a:schemeClr val="tx1"/>
                </a:solidFill>
              </a:rPr>
              <a:t>t-SNE and PCA in the models</a:t>
            </a:r>
            <a:endParaRPr lang="en-US" sz="3600" dirty="0"/>
          </a:p>
        </p:txBody>
      </p:sp>
      <p:sp>
        <p:nvSpPr>
          <p:cNvPr id="4" name="Text 1"/>
          <p:cNvSpPr txBox="1"/>
          <p:nvPr/>
        </p:nvSpPr>
        <p:spPr>
          <a:xfrm>
            <a:off x="640080" y="1371600"/>
            <a:ext cx="5303520" cy="365760"/>
          </a:xfrm>
          <a:prstGeom prst="rect">
            <a:avLst/>
          </a:prstGeom>
          <a:noFill/>
          <a:ln/>
        </p:spPr>
        <p:txBody>
          <a:bodyPr wrap="square" lIns="0" tIns="0" rIns="0" bIns="0" rtlCol="0" anchor="t"/>
          <a:lstStyle/>
          <a:p>
            <a:pPr marL="0" indent="0">
              <a:buNone/>
            </a:pPr>
            <a:r>
              <a:rPr lang="en-US" sz="1500" b="1" dirty="0">
                <a:solidFill>
                  <a:schemeClr val="tx1"/>
                </a:solidFill>
              </a:rPr>
              <a:t>t-SNE: 3,000 fraud and 3,000 normal transactions</a:t>
            </a:r>
            <a:endParaRPr lang="en-US" sz="1500" dirty="0"/>
          </a:p>
        </p:txBody>
      </p:sp>
      <p:pic>
        <p:nvPicPr>
          <p:cNvPr id="5" name="tSNE scatter" descr="t-SNE embedding of fraud and normal transactions"/>
          <p:cNvPicPr>
            <a:picLocks noChangeAspect="1"/>
          </p:cNvPicPr>
          <p:nvPr/>
        </p:nvPicPr>
        <p:blipFill>
          <a:blip r:embed="rId3"/>
          <a:stretch>
            <a:fillRect/>
          </a:stretch>
        </p:blipFill>
        <p:spPr>
          <a:xfrm>
            <a:off x="640080" y="1783080"/>
            <a:ext cx="4480560" cy="3182112"/>
          </a:xfrm>
          <a:prstGeom prst="rect">
            <a:avLst/>
          </a:prstGeom>
        </p:spPr>
      </p:pic>
      <p:sp>
        <p:nvSpPr>
          <p:cNvPr id="6" name="Text 2"/>
          <p:cNvSpPr txBox="1"/>
          <p:nvPr/>
        </p:nvSpPr>
        <p:spPr>
          <a:xfrm>
            <a:off x="5943600" y="1371600"/>
            <a:ext cx="5577840" cy="365760"/>
          </a:xfrm>
          <a:prstGeom prst="rect">
            <a:avLst/>
          </a:prstGeom>
          <a:noFill/>
          <a:ln/>
        </p:spPr>
        <p:txBody>
          <a:bodyPr wrap="square" lIns="0" tIns="0" rIns="0" bIns="0" rtlCol="0" anchor="t"/>
          <a:lstStyle/>
          <a:p>
            <a:pPr marL="0" indent="0">
              <a:buNone/>
            </a:pPr>
            <a:r>
              <a:rPr lang="en-US" sz="1500" b="1" dirty="0">
                <a:solidFill>
                  <a:schemeClr val="tx1"/>
                </a:solidFill>
              </a:rPr>
              <a:t>Test PR-AUC with and without PCA inputs</a:t>
            </a:r>
            <a:endParaRPr lang="en-US" sz="1500" dirty="0"/>
          </a:p>
        </p:txBody>
      </p:sp>
      <p:graphicFrame>
        <p:nvGraphicFramePr>
          <p:cNvPr id="7" name="PCA models chart"/>
          <p:cNvGraphicFramePr/>
          <p:nvPr/>
        </p:nvGraphicFramePr>
        <p:xfrm>
          <a:off x="5943600" y="1783080"/>
          <a:ext cx="5577840" cy="3200400"/>
        </p:xfrm>
        <a:graphic>
          <a:graphicData uri="http://schemas.openxmlformats.org/drawingml/2006/chart">
            <c:chart xmlns:c="http://schemas.openxmlformats.org/drawingml/2006/chart" xmlns:r="http://schemas.openxmlformats.org/officeDocument/2006/relationships" r:id="rId4"/>
          </a:graphicData>
        </a:graphic>
      </p:graphicFrame>
      <p:sp>
        <p:nvSpPr>
          <p:cNvPr id="8" name="Strip"/>
          <p:cNvSpPr/>
          <p:nvPr/>
        </p:nvSpPr>
        <p:spPr>
          <a:xfrm>
            <a:off x="640080" y="5166360"/>
            <a:ext cx="10881360" cy="1097280"/>
          </a:xfrm>
          <a:prstGeom prst="roundRect">
            <a:avLst>
              <a:gd name="adj" fmla="val 10000"/>
            </a:avLst>
          </a:prstGeom>
          <a:solidFill>
            <a:schemeClr val="bg2"/>
          </a:solidFill>
          <a:ln w="12700">
            <a:solidFill>
              <a:schemeClr val="bg2"/>
            </a:solidFill>
            <a:prstDash val="solid"/>
          </a:ln>
        </p:spPr>
        <p:txBody>
          <a:bodyPr/>
          <a:lstStyle/>
          <a:p>
            <a:endParaRPr lang="en-US"/>
          </a:p>
        </p:txBody>
      </p:sp>
      <p:sp>
        <p:nvSpPr>
          <p:cNvPr id="9" name="Strip circle"/>
          <p:cNvSpPr/>
          <p:nvPr/>
        </p:nvSpPr>
        <p:spPr>
          <a:xfrm>
            <a:off x="914400" y="5349240"/>
            <a:ext cx="731520" cy="731520"/>
          </a:xfrm>
          <a:prstGeom prst="ellipse">
            <a:avLst/>
          </a:prstGeom>
          <a:solidFill>
            <a:schemeClr val="accent3"/>
          </a:solidFill>
          <a:ln w="12700">
            <a:solidFill>
              <a:schemeClr val="accent3"/>
            </a:solidFill>
            <a:prstDash val="solid"/>
          </a:ln>
        </p:spPr>
        <p:txBody>
          <a:bodyPr/>
          <a:lstStyle/>
          <a:p>
            <a:endParaRPr lang="en-US"/>
          </a:p>
        </p:txBody>
      </p:sp>
      <p:sp>
        <p:nvSpPr>
          <p:cNvPr id="10" name="Text 5"/>
          <p:cNvSpPr txBox="1"/>
          <p:nvPr/>
        </p:nvSpPr>
        <p:spPr>
          <a:xfrm>
            <a:off x="1920240" y="5349240"/>
            <a:ext cx="9326880" cy="731520"/>
          </a:xfrm>
          <a:prstGeom prst="rect">
            <a:avLst/>
          </a:prstGeom>
          <a:noFill/>
          <a:ln/>
        </p:spPr>
        <p:txBody>
          <a:bodyPr wrap="square" lIns="0" tIns="0" rIns="0" bIns="0" rtlCol="0" anchor="ctr"/>
          <a:lstStyle/>
          <a:p>
            <a:pPr marL="0" indent="0">
              <a:buNone/>
            </a:pPr>
            <a:r>
              <a:rPr lang="en-US" sz="1600" b="1" dirty="0">
                <a:solidFill>
                  <a:schemeClr val="tx1"/>
                </a:solidFill>
              </a:rPr>
              <a:t>Fraud forms local clusters (84% of a fraud point's 10 nearest neighbors are fraud). </a:t>
            </a:r>
            <a:r>
              <a:rPr lang="en-US" sz="1600" dirty="0">
                <a:solidFill>
                  <a:schemeClr val="tx1"/>
                </a:solidFill>
              </a:rPr>
              <a:t>Random forest keeps 0.70 of 0.76 after PCA on continuous inputs, but only 0.004 after PCA on all 31 features.</a:t>
            </a:r>
            <a:endParaRPr lang="en-US" sz="1600" dirty="0"/>
          </a:p>
        </p:txBody>
      </p:sp>
      <p:pic>
        <p:nvPicPr>
          <p:cNvPr id="11" name="Strip icon" descr="Strip"/>
          <p:cNvPicPr>
            <a:picLocks noChangeAspect="1"/>
          </p:cNvPicPr>
          <p:nvPr/>
        </p:nvPicPr>
        <p:blipFill>
          <a:blip r:embed="rId5"/>
          <a:stretch>
            <a:fillRect/>
          </a:stretch>
        </p:blipFill>
        <p:spPr>
          <a:xfrm>
            <a:off x="1075334" y="5510174"/>
            <a:ext cx="409651" cy="409651"/>
          </a:xfrm>
          <a:prstGeom prst="rect">
            <a:avLst/>
          </a:prstGeom>
        </p:spPr>
      </p:pic>
      <p:sp>
        <p:nvSpPr>
          <p:cNvPr id="25"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365760"/>
            <a:ext cx="10881360" cy="914400"/>
          </a:xfrm>
          <a:prstGeom prst="rect">
            <a:avLst/>
          </a:prstGeom>
          <a:noFill/>
          <a:ln/>
        </p:spPr>
        <p:txBody>
          <a:bodyPr wrap="square" lIns="0" tIns="0" rIns="0" bIns="0" rtlCol="0" anchor="ctr"/>
          <a:lstStyle/>
          <a:p>
            <a:pPr marL="0" indent="0" algn="l">
              <a:buNone/>
            </a:pPr>
            <a:r>
              <a:rPr lang="en-US" sz="3600" b="1" dirty="0">
                <a:solidFill>
                  <a:schemeClr val="tx1"/>
                </a:solidFill>
              </a:rPr>
              <a:t>Time-aware cross-validation</a:t>
            </a:r>
            <a:endParaRPr lang="en-US" sz="3600" dirty="0"/>
          </a:p>
        </p:txBody>
      </p:sp>
      <p:sp>
        <p:nvSpPr>
          <p:cNvPr id="4" name="Chunk label 0"/>
          <p:cNvSpPr txBox="1"/>
          <p:nvPr/>
        </p:nvSpPr>
        <p:spPr>
          <a:xfrm>
            <a:off x="1737360" y="1417320"/>
            <a:ext cx="1362456" cy="502920"/>
          </a:xfrm>
          <a:prstGeom prst="rect">
            <a:avLst/>
          </a:prstGeom>
          <a:noFill/>
          <a:ln/>
        </p:spPr>
        <p:txBody>
          <a:bodyPr wrap="square" lIns="0" tIns="0" rIns="0" bIns="0" rtlCol="0" anchor="ctr"/>
          <a:lstStyle/>
          <a:p>
            <a:pPr marL="0" indent="0" algn="ctr">
              <a:buNone/>
            </a:pPr>
            <a:r>
              <a:rPr lang="en-US" sz="1200" dirty="0">
                <a:solidFill>
                  <a:schemeClr val="accent5"/>
                </a:solidFill>
              </a:rPr>
              <a:t>Jan 1 to Mar 14</a:t>
            </a:r>
            <a:endParaRPr lang="en-US" sz="1200" dirty="0"/>
          </a:p>
        </p:txBody>
      </p:sp>
      <p:sp>
        <p:nvSpPr>
          <p:cNvPr id="5" name="Chunk label 1"/>
          <p:cNvSpPr txBox="1"/>
          <p:nvPr/>
        </p:nvSpPr>
        <p:spPr>
          <a:xfrm>
            <a:off x="3136392" y="1417320"/>
            <a:ext cx="1362456" cy="502920"/>
          </a:xfrm>
          <a:prstGeom prst="rect">
            <a:avLst/>
          </a:prstGeom>
          <a:noFill/>
          <a:ln/>
        </p:spPr>
        <p:txBody>
          <a:bodyPr wrap="square" lIns="0" tIns="0" rIns="0" bIns="0" rtlCol="0" anchor="ctr"/>
          <a:lstStyle/>
          <a:p>
            <a:pPr marL="0" indent="0" algn="ctr">
              <a:buNone/>
            </a:pPr>
            <a:r>
              <a:rPr lang="en-US" sz="1200" dirty="0">
                <a:solidFill>
                  <a:schemeClr val="accent5"/>
                </a:solidFill>
              </a:rPr>
              <a:t>Mar 14 to May 10</a:t>
            </a:r>
            <a:endParaRPr lang="en-US" sz="1200" dirty="0"/>
          </a:p>
        </p:txBody>
      </p:sp>
      <p:sp>
        <p:nvSpPr>
          <p:cNvPr id="6" name="Chunk label 2"/>
          <p:cNvSpPr txBox="1"/>
          <p:nvPr/>
        </p:nvSpPr>
        <p:spPr>
          <a:xfrm>
            <a:off x="4535424" y="1417320"/>
            <a:ext cx="1362456" cy="502920"/>
          </a:xfrm>
          <a:prstGeom prst="rect">
            <a:avLst/>
          </a:prstGeom>
          <a:noFill/>
          <a:ln/>
        </p:spPr>
        <p:txBody>
          <a:bodyPr wrap="square" lIns="0" tIns="0" rIns="0" bIns="0" rtlCol="0" anchor="ctr"/>
          <a:lstStyle/>
          <a:p>
            <a:pPr marL="0" indent="0" algn="ctr">
              <a:buNone/>
            </a:pPr>
            <a:r>
              <a:rPr lang="en-US" sz="1200" dirty="0">
                <a:solidFill>
                  <a:schemeClr val="accent5"/>
                </a:solidFill>
              </a:rPr>
              <a:t>May 10 to Jun 28</a:t>
            </a:r>
            <a:endParaRPr lang="en-US" sz="1200" dirty="0"/>
          </a:p>
        </p:txBody>
      </p:sp>
      <p:sp>
        <p:nvSpPr>
          <p:cNvPr id="7" name="Chunk label 3"/>
          <p:cNvSpPr txBox="1"/>
          <p:nvPr/>
        </p:nvSpPr>
        <p:spPr>
          <a:xfrm>
            <a:off x="5934456" y="1417320"/>
            <a:ext cx="1362456" cy="502920"/>
          </a:xfrm>
          <a:prstGeom prst="rect">
            <a:avLst/>
          </a:prstGeom>
          <a:noFill/>
          <a:ln/>
        </p:spPr>
        <p:txBody>
          <a:bodyPr wrap="square" lIns="0" tIns="0" rIns="0" bIns="0" rtlCol="0" anchor="ctr"/>
          <a:lstStyle/>
          <a:p>
            <a:pPr marL="0" indent="0" algn="ctr">
              <a:buNone/>
            </a:pPr>
            <a:r>
              <a:rPr lang="en-US" sz="1200" dirty="0">
                <a:solidFill>
                  <a:schemeClr val="accent5"/>
                </a:solidFill>
              </a:rPr>
              <a:t>Jun 28 to Aug 13</a:t>
            </a:r>
            <a:endParaRPr lang="en-US" sz="1200" dirty="0"/>
          </a:p>
        </p:txBody>
      </p:sp>
      <p:sp>
        <p:nvSpPr>
          <p:cNvPr id="8" name="Chunk label 4"/>
          <p:cNvSpPr txBox="1"/>
          <p:nvPr/>
        </p:nvSpPr>
        <p:spPr>
          <a:xfrm>
            <a:off x="7333488" y="1417320"/>
            <a:ext cx="1362456" cy="502920"/>
          </a:xfrm>
          <a:prstGeom prst="rect">
            <a:avLst/>
          </a:prstGeom>
          <a:noFill/>
          <a:ln/>
        </p:spPr>
        <p:txBody>
          <a:bodyPr wrap="square" lIns="0" tIns="0" rIns="0" bIns="0" rtlCol="0" anchor="ctr"/>
          <a:lstStyle/>
          <a:p>
            <a:pPr marL="0" indent="0" algn="ctr">
              <a:buNone/>
            </a:pPr>
            <a:r>
              <a:rPr lang="en-US" sz="1200" dirty="0">
                <a:solidFill>
                  <a:schemeClr val="accent5"/>
                </a:solidFill>
              </a:rPr>
              <a:t>Aug 13 to Oct 5</a:t>
            </a:r>
            <a:endParaRPr lang="en-US" sz="1200" dirty="0"/>
          </a:p>
        </p:txBody>
      </p:sp>
      <p:sp>
        <p:nvSpPr>
          <p:cNvPr id="9" name="Chunk label 5"/>
          <p:cNvSpPr txBox="1"/>
          <p:nvPr/>
        </p:nvSpPr>
        <p:spPr>
          <a:xfrm>
            <a:off x="8732520" y="1417320"/>
            <a:ext cx="1362456" cy="502920"/>
          </a:xfrm>
          <a:prstGeom prst="rect">
            <a:avLst/>
          </a:prstGeom>
          <a:noFill/>
          <a:ln/>
        </p:spPr>
        <p:txBody>
          <a:bodyPr wrap="square" lIns="0" tIns="0" rIns="0" bIns="0" rtlCol="0" anchor="ctr"/>
          <a:lstStyle/>
          <a:p>
            <a:pPr marL="0" indent="0" algn="ctr">
              <a:buNone/>
            </a:pPr>
            <a:r>
              <a:rPr lang="en-US" sz="1200" dirty="0">
                <a:solidFill>
                  <a:schemeClr val="accent5"/>
                </a:solidFill>
              </a:rPr>
              <a:t>Oct 5 to Nov 30</a:t>
            </a:r>
            <a:endParaRPr lang="en-US" sz="1200" dirty="0"/>
          </a:p>
        </p:txBody>
      </p:sp>
      <p:sp>
        <p:nvSpPr>
          <p:cNvPr id="10" name="Text 7"/>
          <p:cNvSpPr txBox="1"/>
          <p:nvPr/>
        </p:nvSpPr>
        <p:spPr>
          <a:xfrm>
            <a:off x="10131552" y="1417320"/>
            <a:ext cx="1444752" cy="502920"/>
          </a:xfrm>
          <a:prstGeom prst="rect">
            <a:avLst/>
          </a:prstGeom>
          <a:noFill/>
          <a:ln/>
        </p:spPr>
        <p:txBody>
          <a:bodyPr wrap="square" lIns="0" tIns="0" rIns="0" bIns="0" rtlCol="0" anchor="ctr"/>
          <a:lstStyle/>
          <a:p>
            <a:pPr marL="0" indent="0" algn="ctr">
              <a:buNone/>
            </a:pPr>
            <a:r>
              <a:rPr lang="en-US" sz="1200" b="1" dirty="0">
                <a:solidFill>
                  <a:schemeClr val="accent2"/>
                </a:solidFill>
              </a:rPr>
              <a:t>Test month</a:t>
            </a:r>
            <a:endParaRPr lang="en-US" sz="1200" dirty="0"/>
          </a:p>
        </p:txBody>
      </p:sp>
      <p:sp>
        <p:nvSpPr>
          <p:cNvPr id="11" name="Text 8"/>
          <p:cNvSpPr txBox="1"/>
          <p:nvPr/>
        </p:nvSpPr>
        <p:spPr>
          <a:xfrm>
            <a:off x="640080" y="2011680"/>
            <a:ext cx="1005840" cy="457200"/>
          </a:xfrm>
          <a:prstGeom prst="rect">
            <a:avLst/>
          </a:prstGeom>
          <a:noFill/>
          <a:ln/>
        </p:spPr>
        <p:txBody>
          <a:bodyPr wrap="square" lIns="0" tIns="0" rIns="0" bIns="0" rtlCol="0" anchor="ctr"/>
          <a:lstStyle/>
          <a:p>
            <a:pPr marL="0" indent="0">
              <a:buNone/>
            </a:pPr>
            <a:r>
              <a:rPr lang="en-US" sz="1500" b="1" dirty="0">
                <a:solidFill>
                  <a:schemeClr val="tx1"/>
                </a:solidFill>
              </a:rPr>
              <a:t>Fold 1</a:t>
            </a:r>
            <a:endParaRPr lang="en-US" sz="1500" dirty="0"/>
          </a:p>
        </p:txBody>
      </p:sp>
      <p:sp>
        <p:nvSpPr>
          <p:cNvPr id="12" name="Fold 1 chunk 0"/>
          <p:cNvSpPr/>
          <p:nvPr/>
        </p:nvSpPr>
        <p:spPr>
          <a:xfrm>
            <a:off x="1737360" y="2011680"/>
            <a:ext cx="1362456" cy="457200"/>
          </a:xfrm>
          <a:prstGeom prst="rect">
            <a:avLst/>
          </a:prstGeom>
          <a:solidFill>
            <a:schemeClr val="accent1"/>
          </a:solidFill>
          <a:ln w="12700">
            <a:solidFill>
              <a:schemeClr val="accent1"/>
            </a:solidFill>
            <a:prstDash val="solid"/>
          </a:ln>
        </p:spPr>
        <p:txBody>
          <a:bodyPr/>
          <a:lstStyle/>
          <a:p>
            <a:endParaRPr lang="en-US"/>
          </a:p>
        </p:txBody>
      </p:sp>
      <p:sp>
        <p:nvSpPr>
          <p:cNvPr id="13" name="Fold 1 chunk 1"/>
          <p:cNvSpPr/>
          <p:nvPr/>
        </p:nvSpPr>
        <p:spPr>
          <a:xfrm>
            <a:off x="3136392" y="2011680"/>
            <a:ext cx="1362456" cy="457200"/>
          </a:xfrm>
          <a:prstGeom prst="rect">
            <a:avLst/>
          </a:prstGeom>
          <a:solidFill>
            <a:schemeClr val="accent3"/>
          </a:solidFill>
          <a:ln w="12700">
            <a:solidFill>
              <a:schemeClr val="accent3"/>
            </a:solidFill>
            <a:prstDash val="solid"/>
          </a:ln>
        </p:spPr>
        <p:txBody>
          <a:bodyPr/>
          <a:lstStyle/>
          <a:p>
            <a:endParaRPr lang="en-US"/>
          </a:p>
        </p:txBody>
      </p:sp>
      <p:sp>
        <p:nvSpPr>
          <p:cNvPr id="14" name="Fold 1 chunk 2"/>
          <p:cNvSpPr/>
          <p:nvPr/>
        </p:nvSpPr>
        <p:spPr>
          <a:xfrm>
            <a:off x="4535424" y="2011680"/>
            <a:ext cx="1362456" cy="457200"/>
          </a:xfrm>
          <a:prstGeom prst="rect">
            <a:avLst/>
          </a:prstGeom>
          <a:solidFill>
            <a:schemeClr val="bg2"/>
          </a:solidFill>
          <a:ln w="12700">
            <a:solidFill>
              <a:schemeClr val="bg2"/>
            </a:solidFill>
            <a:prstDash val="solid"/>
          </a:ln>
        </p:spPr>
        <p:txBody>
          <a:bodyPr/>
          <a:lstStyle/>
          <a:p>
            <a:endParaRPr lang="en-US"/>
          </a:p>
        </p:txBody>
      </p:sp>
      <p:sp>
        <p:nvSpPr>
          <p:cNvPr id="15" name="Fold 1 chunk 3"/>
          <p:cNvSpPr/>
          <p:nvPr/>
        </p:nvSpPr>
        <p:spPr>
          <a:xfrm>
            <a:off x="5934456" y="2011680"/>
            <a:ext cx="1362456" cy="457200"/>
          </a:xfrm>
          <a:prstGeom prst="rect">
            <a:avLst/>
          </a:prstGeom>
          <a:solidFill>
            <a:schemeClr val="bg2"/>
          </a:solidFill>
          <a:ln w="12700">
            <a:solidFill>
              <a:schemeClr val="bg2"/>
            </a:solidFill>
            <a:prstDash val="solid"/>
          </a:ln>
        </p:spPr>
        <p:txBody>
          <a:bodyPr/>
          <a:lstStyle/>
          <a:p>
            <a:endParaRPr lang="en-US"/>
          </a:p>
        </p:txBody>
      </p:sp>
      <p:sp>
        <p:nvSpPr>
          <p:cNvPr id="16" name="Fold 1 chunk 4"/>
          <p:cNvSpPr/>
          <p:nvPr/>
        </p:nvSpPr>
        <p:spPr>
          <a:xfrm>
            <a:off x="7333488" y="2011680"/>
            <a:ext cx="1362456" cy="457200"/>
          </a:xfrm>
          <a:prstGeom prst="rect">
            <a:avLst/>
          </a:prstGeom>
          <a:solidFill>
            <a:schemeClr val="bg2"/>
          </a:solidFill>
          <a:ln w="12700">
            <a:solidFill>
              <a:schemeClr val="bg2"/>
            </a:solidFill>
            <a:prstDash val="solid"/>
          </a:ln>
        </p:spPr>
        <p:txBody>
          <a:bodyPr/>
          <a:lstStyle/>
          <a:p>
            <a:endParaRPr lang="en-US"/>
          </a:p>
        </p:txBody>
      </p:sp>
      <p:sp>
        <p:nvSpPr>
          <p:cNvPr id="17" name="Fold 1 chunk 5"/>
          <p:cNvSpPr/>
          <p:nvPr/>
        </p:nvSpPr>
        <p:spPr>
          <a:xfrm>
            <a:off x="8732520" y="2011680"/>
            <a:ext cx="1362456" cy="457200"/>
          </a:xfrm>
          <a:prstGeom prst="rect">
            <a:avLst/>
          </a:prstGeom>
          <a:solidFill>
            <a:schemeClr val="bg2"/>
          </a:solidFill>
          <a:ln w="12700">
            <a:solidFill>
              <a:schemeClr val="bg2"/>
            </a:solidFill>
            <a:prstDash val="solid"/>
          </a:ln>
        </p:spPr>
        <p:txBody>
          <a:bodyPr/>
          <a:lstStyle/>
          <a:p>
            <a:endParaRPr lang="en-US"/>
          </a:p>
        </p:txBody>
      </p:sp>
      <p:sp>
        <p:nvSpPr>
          <p:cNvPr id="18" name="Test 1"/>
          <p:cNvSpPr/>
          <p:nvPr/>
        </p:nvSpPr>
        <p:spPr>
          <a:xfrm>
            <a:off x="10131552" y="2011680"/>
            <a:ext cx="1444752" cy="457200"/>
          </a:xfrm>
          <a:prstGeom prst="rect">
            <a:avLst/>
          </a:prstGeom>
          <a:solidFill>
            <a:schemeClr val="accent2">
              <a:alpha val="20000"/>
            </a:schemeClr>
          </a:solidFill>
          <a:ln w="12700">
            <a:solidFill>
              <a:schemeClr val="accent2"/>
            </a:solidFill>
            <a:prstDash val="solid"/>
          </a:ln>
        </p:spPr>
        <p:txBody>
          <a:bodyPr/>
          <a:lstStyle/>
          <a:p>
            <a:endParaRPr lang="en-US"/>
          </a:p>
        </p:txBody>
      </p:sp>
      <p:sp>
        <p:nvSpPr>
          <p:cNvPr id="19" name="Text 16"/>
          <p:cNvSpPr txBox="1"/>
          <p:nvPr/>
        </p:nvSpPr>
        <p:spPr>
          <a:xfrm>
            <a:off x="640080" y="2578608"/>
            <a:ext cx="1005840" cy="457200"/>
          </a:xfrm>
          <a:prstGeom prst="rect">
            <a:avLst/>
          </a:prstGeom>
          <a:noFill/>
          <a:ln/>
        </p:spPr>
        <p:txBody>
          <a:bodyPr wrap="square" lIns="0" tIns="0" rIns="0" bIns="0" rtlCol="0" anchor="ctr"/>
          <a:lstStyle/>
          <a:p>
            <a:pPr marL="0" indent="0">
              <a:buNone/>
            </a:pPr>
            <a:r>
              <a:rPr lang="en-US" sz="1500" b="1" dirty="0">
                <a:solidFill>
                  <a:schemeClr val="tx1"/>
                </a:solidFill>
              </a:rPr>
              <a:t>Fold 2</a:t>
            </a:r>
            <a:endParaRPr lang="en-US" sz="1500" dirty="0"/>
          </a:p>
        </p:txBody>
      </p:sp>
      <p:sp>
        <p:nvSpPr>
          <p:cNvPr id="20" name="Fold 2 chunk 0"/>
          <p:cNvSpPr/>
          <p:nvPr/>
        </p:nvSpPr>
        <p:spPr>
          <a:xfrm>
            <a:off x="1737360" y="2578608"/>
            <a:ext cx="1362456" cy="457200"/>
          </a:xfrm>
          <a:prstGeom prst="rect">
            <a:avLst/>
          </a:prstGeom>
          <a:solidFill>
            <a:schemeClr val="accent1"/>
          </a:solidFill>
          <a:ln w="12700">
            <a:solidFill>
              <a:schemeClr val="accent1"/>
            </a:solidFill>
            <a:prstDash val="solid"/>
          </a:ln>
        </p:spPr>
        <p:txBody>
          <a:bodyPr/>
          <a:lstStyle/>
          <a:p>
            <a:endParaRPr lang="en-US"/>
          </a:p>
        </p:txBody>
      </p:sp>
      <p:sp>
        <p:nvSpPr>
          <p:cNvPr id="21" name="Fold 2 chunk 1"/>
          <p:cNvSpPr/>
          <p:nvPr/>
        </p:nvSpPr>
        <p:spPr>
          <a:xfrm>
            <a:off x="3136392" y="2578608"/>
            <a:ext cx="1362456" cy="457200"/>
          </a:xfrm>
          <a:prstGeom prst="rect">
            <a:avLst/>
          </a:prstGeom>
          <a:solidFill>
            <a:schemeClr val="accent1"/>
          </a:solidFill>
          <a:ln w="12700">
            <a:solidFill>
              <a:schemeClr val="accent1"/>
            </a:solidFill>
            <a:prstDash val="solid"/>
          </a:ln>
        </p:spPr>
        <p:txBody>
          <a:bodyPr/>
          <a:lstStyle/>
          <a:p>
            <a:endParaRPr lang="en-US"/>
          </a:p>
        </p:txBody>
      </p:sp>
      <p:sp>
        <p:nvSpPr>
          <p:cNvPr id="22" name="Fold 2 chunk 2"/>
          <p:cNvSpPr/>
          <p:nvPr/>
        </p:nvSpPr>
        <p:spPr>
          <a:xfrm>
            <a:off x="4535424" y="2578608"/>
            <a:ext cx="1362456" cy="457200"/>
          </a:xfrm>
          <a:prstGeom prst="rect">
            <a:avLst/>
          </a:prstGeom>
          <a:solidFill>
            <a:schemeClr val="accent3"/>
          </a:solidFill>
          <a:ln w="12700">
            <a:solidFill>
              <a:schemeClr val="accent3"/>
            </a:solidFill>
            <a:prstDash val="solid"/>
          </a:ln>
        </p:spPr>
        <p:txBody>
          <a:bodyPr/>
          <a:lstStyle/>
          <a:p>
            <a:endParaRPr lang="en-US"/>
          </a:p>
        </p:txBody>
      </p:sp>
      <p:sp>
        <p:nvSpPr>
          <p:cNvPr id="23" name="Fold 2 chunk 3"/>
          <p:cNvSpPr/>
          <p:nvPr/>
        </p:nvSpPr>
        <p:spPr>
          <a:xfrm>
            <a:off x="5934456" y="2578608"/>
            <a:ext cx="1362456" cy="457200"/>
          </a:xfrm>
          <a:prstGeom prst="rect">
            <a:avLst/>
          </a:prstGeom>
          <a:solidFill>
            <a:schemeClr val="bg2"/>
          </a:solidFill>
          <a:ln w="12700">
            <a:solidFill>
              <a:schemeClr val="bg2"/>
            </a:solidFill>
            <a:prstDash val="solid"/>
          </a:ln>
        </p:spPr>
        <p:txBody>
          <a:bodyPr/>
          <a:lstStyle/>
          <a:p>
            <a:endParaRPr lang="en-US"/>
          </a:p>
        </p:txBody>
      </p:sp>
      <p:sp>
        <p:nvSpPr>
          <p:cNvPr id="24" name="Fold 2 chunk 4"/>
          <p:cNvSpPr/>
          <p:nvPr/>
        </p:nvSpPr>
        <p:spPr>
          <a:xfrm>
            <a:off x="7333488" y="2578608"/>
            <a:ext cx="1362456" cy="457200"/>
          </a:xfrm>
          <a:prstGeom prst="rect">
            <a:avLst/>
          </a:prstGeom>
          <a:solidFill>
            <a:schemeClr val="bg2"/>
          </a:solidFill>
          <a:ln w="12700">
            <a:solidFill>
              <a:schemeClr val="bg2"/>
            </a:solidFill>
            <a:prstDash val="solid"/>
          </a:ln>
        </p:spPr>
        <p:txBody>
          <a:bodyPr/>
          <a:lstStyle/>
          <a:p>
            <a:endParaRPr lang="en-US"/>
          </a:p>
        </p:txBody>
      </p:sp>
      <p:sp>
        <p:nvSpPr>
          <p:cNvPr id="25" name="Fold 2 chunk 5"/>
          <p:cNvSpPr/>
          <p:nvPr/>
        </p:nvSpPr>
        <p:spPr>
          <a:xfrm>
            <a:off x="8732520" y="2578608"/>
            <a:ext cx="1362456" cy="457200"/>
          </a:xfrm>
          <a:prstGeom prst="rect">
            <a:avLst/>
          </a:prstGeom>
          <a:solidFill>
            <a:schemeClr val="bg2"/>
          </a:solidFill>
          <a:ln w="12700">
            <a:solidFill>
              <a:schemeClr val="bg2"/>
            </a:solidFill>
            <a:prstDash val="solid"/>
          </a:ln>
        </p:spPr>
        <p:txBody>
          <a:bodyPr/>
          <a:lstStyle/>
          <a:p>
            <a:endParaRPr lang="en-US"/>
          </a:p>
        </p:txBody>
      </p:sp>
      <p:sp>
        <p:nvSpPr>
          <p:cNvPr id="26" name="Test 2"/>
          <p:cNvSpPr/>
          <p:nvPr/>
        </p:nvSpPr>
        <p:spPr>
          <a:xfrm>
            <a:off x="10131552" y="2578608"/>
            <a:ext cx="1444752" cy="457200"/>
          </a:xfrm>
          <a:prstGeom prst="rect">
            <a:avLst/>
          </a:prstGeom>
          <a:solidFill>
            <a:schemeClr val="accent2">
              <a:alpha val="20000"/>
            </a:schemeClr>
          </a:solidFill>
          <a:ln w="12700">
            <a:solidFill>
              <a:schemeClr val="accent2"/>
            </a:solidFill>
            <a:prstDash val="solid"/>
          </a:ln>
        </p:spPr>
        <p:txBody>
          <a:bodyPr/>
          <a:lstStyle/>
          <a:p>
            <a:endParaRPr lang="en-US"/>
          </a:p>
        </p:txBody>
      </p:sp>
      <p:sp>
        <p:nvSpPr>
          <p:cNvPr id="27" name="Text 24"/>
          <p:cNvSpPr txBox="1"/>
          <p:nvPr/>
        </p:nvSpPr>
        <p:spPr>
          <a:xfrm>
            <a:off x="640080" y="3145536"/>
            <a:ext cx="1005840" cy="457200"/>
          </a:xfrm>
          <a:prstGeom prst="rect">
            <a:avLst/>
          </a:prstGeom>
          <a:noFill/>
          <a:ln/>
        </p:spPr>
        <p:txBody>
          <a:bodyPr wrap="square" lIns="0" tIns="0" rIns="0" bIns="0" rtlCol="0" anchor="ctr"/>
          <a:lstStyle/>
          <a:p>
            <a:pPr marL="0" indent="0">
              <a:buNone/>
            </a:pPr>
            <a:r>
              <a:rPr lang="en-US" sz="1500" b="1" dirty="0">
                <a:solidFill>
                  <a:schemeClr val="tx1"/>
                </a:solidFill>
              </a:rPr>
              <a:t>Fold 3</a:t>
            </a:r>
            <a:endParaRPr lang="en-US" sz="1500" dirty="0"/>
          </a:p>
        </p:txBody>
      </p:sp>
      <p:sp>
        <p:nvSpPr>
          <p:cNvPr id="28" name="Fold 3 chunk 0"/>
          <p:cNvSpPr/>
          <p:nvPr/>
        </p:nvSpPr>
        <p:spPr>
          <a:xfrm>
            <a:off x="1737360" y="3145536"/>
            <a:ext cx="1362456" cy="457200"/>
          </a:xfrm>
          <a:prstGeom prst="rect">
            <a:avLst/>
          </a:prstGeom>
          <a:solidFill>
            <a:schemeClr val="accent1"/>
          </a:solidFill>
          <a:ln w="12700">
            <a:solidFill>
              <a:schemeClr val="accent1"/>
            </a:solidFill>
            <a:prstDash val="solid"/>
          </a:ln>
        </p:spPr>
        <p:txBody>
          <a:bodyPr/>
          <a:lstStyle/>
          <a:p>
            <a:endParaRPr lang="en-US"/>
          </a:p>
        </p:txBody>
      </p:sp>
      <p:sp>
        <p:nvSpPr>
          <p:cNvPr id="29" name="Fold 3 chunk 1"/>
          <p:cNvSpPr/>
          <p:nvPr/>
        </p:nvSpPr>
        <p:spPr>
          <a:xfrm>
            <a:off x="3136392" y="3145536"/>
            <a:ext cx="1362456" cy="457200"/>
          </a:xfrm>
          <a:prstGeom prst="rect">
            <a:avLst/>
          </a:prstGeom>
          <a:solidFill>
            <a:schemeClr val="accent1"/>
          </a:solidFill>
          <a:ln w="12700">
            <a:solidFill>
              <a:schemeClr val="accent1"/>
            </a:solidFill>
            <a:prstDash val="solid"/>
          </a:ln>
        </p:spPr>
        <p:txBody>
          <a:bodyPr/>
          <a:lstStyle/>
          <a:p>
            <a:endParaRPr lang="en-US"/>
          </a:p>
        </p:txBody>
      </p:sp>
      <p:sp>
        <p:nvSpPr>
          <p:cNvPr id="30" name="Fold 3 chunk 2"/>
          <p:cNvSpPr/>
          <p:nvPr/>
        </p:nvSpPr>
        <p:spPr>
          <a:xfrm>
            <a:off x="4535424" y="3145536"/>
            <a:ext cx="1362456" cy="457200"/>
          </a:xfrm>
          <a:prstGeom prst="rect">
            <a:avLst/>
          </a:prstGeom>
          <a:solidFill>
            <a:schemeClr val="accent1"/>
          </a:solidFill>
          <a:ln w="12700">
            <a:solidFill>
              <a:schemeClr val="accent1"/>
            </a:solidFill>
            <a:prstDash val="solid"/>
          </a:ln>
        </p:spPr>
        <p:txBody>
          <a:bodyPr/>
          <a:lstStyle/>
          <a:p>
            <a:endParaRPr lang="en-US"/>
          </a:p>
        </p:txBody>
      </p:sp>
      <p:sp>
        <p:nvSpPr>
          <p:cNvPr id="31" name="Fold 3 chunk 3"/>
          <p:cNvSpPr/>
          <p:nvPr/>
        </p:nvSpPr>
        <p:spPr>
          <a:xfrm>
            <a:off x="5934456" y="3145536"/>
            <a:ext cx="1362456" cy="457200"/>
          </a:xfrm>
          <a:prstGeom prst="rect">
            <a:avLst/>
          </a:prstGeom>
          <a:solidFill>
            <a:schemeClr val="accent3"/>
          </a:solidFill>
          <a:ln w="12700">
            <a:solidFill>
              <a:schemeClr val="accent3"/>
            </a:solidFill>
            <a:prstDash val="solid"/>
          </a:ln>
        </p:spPr>
        <p:txBody>
          <a:bodyPr/>
          <a:lstStyle/>
          <a:p>
            <a:endParaRPr lang="en-US"/>
          </a:p>
        </p:txBody>
      </p:sp>
      <p:sp>
        <p:nvSpPr>
          <p:cNvPr id="32" name="Fold 3 chunk 4"/>
          <p:cNvSpPr/>
          <p:nvPr/>
        </p:nvSpPr>
        <p:spPr>
          <a:xfrm>
            <a:off x="7333488" y="3145536"/>
            <a:ext cx="1362456" cy="457200"/>
          </a:xfrm>
          <a:prstGeom prst="rect">
            <a:avLst/>
          </a:prstGeom>
          <a:solidFill>
            <a:schemeClr val="bg2"/>
          </a:solidFill>
          <a:ln w="12700">
            <a:solidFill>
              <a:schemeClr val="bg2"/>
            </a:solidFill>
            <a:prstDash val="solid"/>
          </a:ln>
        </p:spPr>
        <p:txBody>
          <a:bodyPr/>
          <a:lstStyle/>
          <a:p>
            <a:endParaRPr lang="en-US"/>
          </a:p>
        </p:txBody>
      </p:sp>
      <p:sp>
        <p:nvSpPr>
          <p:cNvPr id="33" name="Fold 3 chunk 5"/>
          <p:cNvSpPr/>
          <p:nvPr/>
        </p:nvSpPr>
        <p:spPr>
          <a:xfrm>
            <a:off x="8732520" y="3145536"/>
            <a:ext cx="1362456" cy="457200"/>
          </a:xfrm>
          <a:prstGeom prst="rect">
            <a:avLst/>
          </a:prstGeom>
          <a:solidFill>
            <a:schemeClr val="bg2"/>
          </a:solidFill>
          <a:ln w="12700">
            <a:solidFill>
              <a:schemeClr val="bg2"/>
            </a:solidFill>
            <a:prstDash val="solid"/>
          </a:ln>
        </p:spPr>
        <p:txBody>
          <a:bodyPr/>
          <a:lstStyle/>
          <a:p>
            <a:endParaRPr lang="en-US"/>
          </a:p>
        </p:txBody>
      </p:sp>
      <p:sp>
        <p:nvSpPr>
          <p:cNvPr id="34" name="Test 3"/>
          <p:cNvSpPr/>
          <p:nvPr/>
        </p:nvSpPr>
        <p:spPr>
          <a:xfrm>
            <a:off x="10131552" y="3145536"/>
            <a:ext cx="1444752" cy="457200"/>
          </a:xfrm>
          <a:prstGeom prst="rect">
            <a:avLst/>
          </a:prstGeom>
          <a:solidFill>
            <a:schemeClr val="accent2">
              <a:alpha val="20000"/>
            </a:schemeClr>
          </a:solidFill>
          <a:ln w="12700">
            <a:solidFill>
              <a:schemeClr val="accent2"/>
            </a:solidFill>
            <a:prstDash val="solid"/>
          </a:ln>
        </p:spPr>
        <p:txBody>
          <a:bodyPr/>
          <a:lstStyle/>
          <a:p>
            <a:endParaRPr lang="en-US"/>
          </a:p>
        </p:txBody>
      </p:sp>
      <p:sp>
        <p:nvSpPr>
          <p:cNvPr id="35" name="Text 32"/>
          <p:cNvSpPr txBox="1"/>
          <p:nvPr/>
        </p:nvSpPr>
        <p:spPr>
          <a:xfrm>
            <a:off x="640080" y="3712464"/>
            <a:ext cx="1005840" cy="457200"/>
          </a:xfrm>
          <a:prstGeom prst="rect">
            <a:avLst/>
          </a:prstGeom>
          <a:noFill/>
          <a:ln/>
        </p:spPr>
        <p:txBody>
          <a:bodyPr wrap="square" lIns="0" tIns="0" rIns="0" bIns="0" rtlCol="0" anchor="ctr"/>
          <a:lstStyle/>
          <a:p>
            <a:pPr marL="0" indent="0">
              <a:buNone/>
            </a:pPr>
            <a:r>
              <a:rPr lang="en-US" sz="1500" b="1" dirty="0">
                <a:solidFill>
                  <a:schemeClr val="tx1"/>
                </a:solidFill>
              </a:rPr>
              <a:t>Fold 4</a:t>
            </a:r>
            <a:endParaRPr lang="en-US" sz="1500" dirty="0"/>
          </a:p>
        </p:txBody>
      </p:sp>
      <p:sp>
        <p:nvSpPr>
          <p:cNvPr id="36" name="Fold 4 chunk 0"/>
          <p:cNvSpPr/>
          <p:nvPr/>
        </p:nvSpPr>
        <p:spPr>
          <a:xfrm>
            <a:off x="1737360" y="3712464"/>
            <a:ext cx="1362456" cy="457200"/>
          </a:xfrm>
          <a:prstGeom prst="rect">
            <a:avLst/>
          </a:prstGeom>
          <a:solidFill>
            <a:schemeClr val="accent1"/>
          </a:solidFill>
          <a:ln w="12700">
            <a:solidFill>
              <a:schemeClr val="accent1"/>
            </a:solidFill>
            <a:prstDash val="solid"/>
          </a:ln>
        </p:spPr>
        <p:txBody>
          <a:bodyPr/>
          <a:lstStyle/>
          <a:p>
            <a:endParaRPr lang="en-US"/>
          </a:p>
        </p:txBody>
      </p:sp>
      <p:sp>
        <p:nvSpPr>
          <p:cNvPr id="37" name="Fold 4 chunk 1"/>
          <p:cNvSpPr/>
          <p:nvPr/>
        </p:nvSpPr>
        <p:spPr>
          <a:xfrm>
            <a:off x="3136392" y="3712464"/>
            <a:ext cx="1362456" cy="457200"/>
          </a:xfrm>
          <a:prstGeom prst="rect">
            <a:avLst/>
          </a:prstGeom>
          <a:solidFill>
            <a:schemeClr val="accent1"/>
          </a:solidFill>
          <a:ln w="12700">
            <a:solidFill>
              <a:schemeClr val="accent1"/>
            </a:solidFill>
            <a:prstDash val="solid"/>
          </a:ln>
        </p:spPr>
        <p:txBody>
          <a:bodyPr/>
          <a:lstStyle/>
          <a:p>
            <a:endParaRPr lang="en-US"/>
          </a:p>
        </p:txBody>
      </p:sp>
      <p:sp>
        <p:nvSpPr>
          <p:cNvPr id="38" name="Fold 4 chunk 2"/>
          <p:cNvSpPr/>
          <p:nvPr/>
        </p:nvSpPr>
        <p:spPr>
          <a:xfrm>
            <a:off x="4535424" y="3712464"/>
            <a:ext cx="1362456" cy="457200"/>
          </a:xfrm>
          <a:prstGeom prst="rect">
            <a:avLst/>
          </a:prstGeom>
          <a:solidFill>
            <a:schemeClr val="accent1"/>
          </a:solidFill>
          <a:ln w="12700">
            <a:solidFill>
              <a:schemeClr val="accent1"/>
            </a:solidFill>
            <a:prstDash val="solid"/>
          </a:ln>
        </p:spPr>
        <p:txBody>
          <a:bodyPr/>
          <a:lstStyle/>
          <a:p>
            <a:endParaRPr lang="en-US"/>
          </a:p>
        </p:txBody>
      </p:sp>
      <p:sp>
        <p:nvSpPr>
          <p:cNvPr id="39" name="Fold 4 chunk 3"/>
          <p:cNvSpPr/>
          <p:nvPr/>
        </p:nvSpPr>
        <p:spPr>
          <a:xfrm>
            <a:off x="5934456" y="3712464"/>
            <a:ext cx="1362456" cy="457200"/>
          </a:xfrm>
          <a:prstGeom prst="rect">
            <a:avLst/>
          </a:prstGeom>
          <a:solidFill>
            <a:schemeClr val="accent1"/>
          </a:solidFill>
          <a:ln w="12700">
            <a:solidFill>
              <a:schemeClr val="accent1"/>
            </a:solidFill>
            <a:prstDash val="solid"/>
          </a:ln>
        </p:spPr>
        <p:txBody>
          <a:bodyPr/>
          <a:lstStyle/>
          <a:p>
            <a:endParaRPr lang="en-US"/>
          </a:p>
        </p:txBody>
      </p:sp>
      <p:sp>
        <p:nvSpPr>
          <p:cNvPr id="40" name="Fold 4 chunk 4"/>
          <p:cNvSpPr/>
          <p:nvPr/>
        </p:nvSpPr>
        <p:spPr>
          <a:xfrm>
            <a:off x="7333488" y="3712464"/>
            <a:ext cx="1362456" cy="457200"/>
          </a:xfrm>
          <a:prstGeom prst="rect">
            <a:avLst/>
          </a:prstGeom>
          <a:solidFill>
            <a:schemeClr val="accent3"/>
          </a:solidFill>
          <a:ln w="12700">
            <a:solidFill>
              <a:schemeClr val="accent3"/>
            </a:solidFill>
            <a:prstDash val="solid"/>
          </a:ln>
        </p:spPr>
        <p:txBody>
          <a:bodyPr/>
          <a:lstStyle/>
          <a:p>
            <a:endParaRPr lang="en-US"/>
          </a:p>
        </p:txBody>
      </p:sp>
      <p:sp>
        <p:nvSpPr>
          <p:cNvPr id="41" name="Fold 4 chunk 5"/>
          <p:cNvSpPr/>
          <p:nvPr/>
        </p:nvSpPr>
        <p:spPr>
          <a:xfrm>
            <a:off x="8732520" y="3712464"/>
            <a:ext cx="1362456" cy="457200"/>
          </a:xfrm>
          <a:prstGeom prst="rect">
            <a:avLst/>
          </a:prstGeom>
          <a:solidFill>
            <a:schemeClr val="bg2"/>
          </a:solidFill>
          <a:ln w="12700">
            <a:solidFill>
              <a:schemeClr val="bg2"/>
            </a:solidFill>
            <a:prstDash val="solid"/>
          </a:ln>
        </p:spPr>
        <p:txBody>
          <a:bodyPr/>
          <a:lstStyle/>
          <a:p>
            <a:endParaRPr lang="en-US"/>
          </a:p>
        </p:txBody>
      </p:sp>
      <p:sp>
        <p:nvSpPr>
          <p:cNvPr id="42" name="Test 4"/>
          <p:cNvSpPr/>
          <p:nvPr/>
        </p:nvSpPr>
        <p:spPr>
          <a:xfrm>
            <a:off x="10131552" y="3712464"/>
            <a:ext cx="1444752" cy="457200"/>
          </a:xfrm>
          <a:prstGeom prst="rect">
            <a:avLst/>
          </a:prstGeom>
          <a:solidFill>
            <a:schemeClr val="accent2">
              <a:alpha val="20000"/>
            </a:schemeClr>
          </a:solidFill>
          <a:ln w="12700">
            <a:solidFill>
              <a:schemeClr val="accent2"/>
            </a:solidFill>
            <a:prstDash val="solid"/>
          </a:ln>
        </p:spPr>
        <p:txBody>
          <a:bodyPr/>
          <a:lstStyle/>
          <a:p>
            <a:endParaRPr lang="en-US"/>
          </a:p>
        </p:txBody>
      </p:sp>
      <p:sp>
        <p:nvSpPr>
          <p:cNvPr id="43" name="Text 40"/>
          <p:cNvSpPr txBox="1"/>
          <p:nvPr/>
        </p:nvSpPr>
        <p:spPr>
          <a:xfrm>
            <a:off x="640080" y="4279392"/>
            <a:ext cx="1005840" cy="457200"/>
          </a:xfrm>
          <a:prstGeom prst="rect">
            <a:avLst/>
          </a:prstGeom>
          <a:noFill/>
          <a:ln/>
        </p:spPr>
        <p:txBody>
          <a:bodyPr wrap="square" lIns="0" tIns="0" rIns="0" bIns="0" rtlCol="0" anchor="ctr"/>
          <a:lstStyle/>
          <a:p>
            <a:pPr marL="0" indent="0">
              <a:buNone/>
            </a:pPr>
            <a:r>
              <a:rPr lang="en-US" sz="1500" b="1" dirty="0">
                <a:solidFill>
                  <a:schemeClr val="tx1"/>
                </a:solidFill>
              </a:rPr>
              <a:t>Fold 5</a:t>
            </a:r>
            <a:endParaRPr lang="en-US" sz="1500" dirty="0"/>
          </a:p>
        </p:txBody>
      </p:sp>
      <p:sp>
        <p:nvSpPr>
          <p:cNvPr id="44" name="Fold 5 chunk 0"/>
          <p:cNvSpPr/>
          <p:nvPr/>
        </p:nvSpPr>
        <p:spPr>
          <a:xfrm>
            <a:off x="1737360" y="4279392"/>
            <a:ext cx="1362456" cy="457200"/>
          </a:xfrm>
          <a:prstGeom prst="rect">
            <a:avLst/>
          </a:prstGeom>
          <a:solidFill>
            <a:schemeClr val="accent1"/>
          </a:solidFill>
          <a:ln w="12700">
            <a:solidFill>
              <a:schemeClr val="accent1"/>
            </a:solidFill>
            <a:prstDash val="solid"/>
          </a:ln>
        </p:spPr>
        <p:txBody>
          <a:bodyPr/>
          <a:lstStyle/>
          <a:p>
            <a:endParaRPr lang="en-US"/>
          </a:p>
        </p:txBody>
      </p:sp>
      <p:sp>
        <p:nvSpPr>
          <p:cNvPr id="45" name="Fold 5 chunk 1"/>
          <p:cNvSpPr/>
          <p:nvPr/>
        </p:nvSpPr>
        <p:spPr>
          <a:xfrm>
            <a:off x="3136392" y="4279392"/>
            <a:ext cx="1362456" cy="457200"/>
          </a:xfrm>
          <a:prstGeom prst="rect">
            <a:avLst/>
          </a:prstGeom>
          <a:solidFill>
            <a:schemeClr val="accent1"/>
          </a:solidFill>
          <a:ln w="12700">
            <a:solidFill>
              <a:schemeClr val="accent1"/>
            </a:solidFill>
            <a:prstDash val="solid"/>
          </a:ln>
        </p:spPr>
        <p:txBody>
          <a:bodyPr/>
          <a:lstStyle/>
          <a:p>
            <a:endParaRPr lang="en-US"/>
          </a:p>
        </p:txBody>
      </p:sp>
      <p:sp>
        <p:nvSpPr>
          <p:cNvPr id="46" name="Fold 5 chunk 2"/>
          <p:cNvSpPr/>
          <p:nvPr/>
        </p:nvSpPr>
        <p:spPr>
          <a:xfrm>
            <a:off x="4535424" y="4279392"/>
            <a:ext cx="1362456" cy="457200"/>
          </a:xfrm>
          <a:prstGeom prst="rect">
            <a:avLst/>
          </a:prstGeom>
          <a:solidFill>
            <a:schemeClr val="accent1"/>
          </a:solidFill>
          <a:ln w="12700">
            <a:solidFill>
              <a:schemeClr val="accent1"/>
            </a:solidFill>
            <a:prstDash val="solid"/>
          </a:ln>
        </p:spPr>
        <p:txBody>
          <a:bodyPr/>
          <a:lstStyle/>
          <a:p>
            <a:endParaRPr lang="en-US"/>
          </a:p>
        </p:txBody>
      </p:sp>
      <p:sp>
        <p:nvSpPr>
          <p:cNvPr id="47" name="Fold 5 chunk 3"/>
          <p:cNvSpPr/>
          <p:nvPr/>
        </p:nvSpPr>
        <p:spPr>
          <a:xfrm>
            <a:off x="5934456" y="4279392"/>
            <a:ext cx="1362456" cy="457200"/>
          </a:xfrm>
          <a:prstGeom prst="rect">
            <a:avLst/>
          </a:prstGeom>
          <a:solidFill>
            <a:schemeClr val="accent1"/>
          </a:solidFill>
          <a:ln w="12700">
            <a:solidFill>
              <a:schemeClr val="accent1"/>
            </a:solidFill>
            <a:prstDash val="solid"/>
          </a:ln>
        </p:spPr>
        <p:txBody>
          <a:bodyPr/>
          <a:lstStyle/>
          <a:p>
            <a:endParaRPr lang="en-US"/>
          </a:p>
        </p:txBody>
      </p:sp>
      <p:sp>
        <p:nvSpPr>
          <p:cNvPr id="48" name="Fold 5 chunk 4"/>
          <p:cNvSpPr/>
          <p:nvPr/>
        </p:nvSpPr>
        <p:spPr>
          <a:xfrm>
            <a:off x="7333488" y="4279392"/>
            <a:ext cx="1362456" cy="457200"/>
          </a:xfrm>
          <a:prstGeom prst="rect">
            <a:avLst/>
          </a:prstGeom>
          <a:solidFill>
            <a:schemeClr val="accent1"/>
          </a:solidFill>
          <a:ln w="12700">
            <a:solidFill>
              <a:schemeClr val="accent1"/>
            </a:solidFill>
            <a:prstDash val="solid"/>
          </a:ln>
        </p:spPr>
        <p:txBody>
          <a:bodyPr/>
          <a:lstStyle/>
          <a:p>
            <a:endParaRPr lang="en-US"/>
          </a:p>
        </p:txBody>
      </p:sp>
      <p:sp>
        <p:nvSpPr>
          <p:cNvPr id="49" name="Fold 5 chunk 5"/>
          <p:cNvSpPr/>
          <p:nvPr/>
        </p:nvSpPr>
        <p:spPr>
          <a:xfrm>
            <a:off x="8732520" y="4279392"/>
            <a:ext cx="1362456" cy="457200"/>
          </a:xfrm>
          <a:prstGeom prst="rect">
            <a:avLst/>
          </a:prstGeom>
          <a:solidFill>
            <a:schemeClr val="accent3"/>
          </a:solidFill>
          <a:ln w="12700">
            <a:solidFill>
              <a:schemeClr val="accent3"/>
            </a:solidFill>
            <a:prstDash val="solid"/>
          </a:ln>
        </p:spPr>
        <p:txBody>
          <a:bodyPr/>
          <a:lstStyle/>
          <a:p>
            <a:endParaRPr lang="en-US"/>
          </a:p>
        </p:txBody>
      </p:sp>
      <p:sp>
        <p:nvSpPr>
          <p:cNvPr id="50" name="Test 5"/>
          <p:cNvSpPr/>
          <p:nvPr/>
        </p:nvSpPr>
        <p:spPr>
          <a:xfrm>
            <a:off x="10131552" y="4279392"/>
            <a:ext cx="1444752" cy="457200"/>
          </a:xfrm>
          <a:prstGeom prst="rect">
            <a:avLst/>
          </a:prstGeom>
          <a:solidFill>
            <a:schemeClr val="accent2">
              <a:alpha val="20000"/>
            </a:schemeClr>
          </a:solidFill>
          <a:ln w="12700">
            <a:solidFill>
              <a:schemeClr val="accent2"/>
            </a:solidFill>
            <a:prstDash val="solid"/>
          </a:ln>
        </p:spPr>
        <p:txBody>
          <a:bodyPr/>
          <a:lstStyle/>
          <a:p>
            <a:endParaRPr lang="en-US"/>
          </a:p>
        </p:txBody>
      </p:sp>
      <p:sp>
        <p:nvSpPr>
          <p:cNvPr id="51" name="Legend 0"/>
          <p:cNvSpPr/>
          <p:nvPr/>
        </p:nvSpPr>
        <p:spPr>
          <a:xfrm>
            <a:off x="1737360" y="4846320"/>
            <a:ext cx="201168" cy="201168"/>
          </a:xfrm>
          <a:prstGeom prst="rect">
            <a:avLst/>
          </a:prstGeom>
          <a:solidFill>
            <a:schemeClr val="accent1"/>
          </a:solidFill>
          <a:ln w="12700">
            <a:solidFill>
              <a:schemeClr val="accent1"/>
            </a:solidFill>
            <a:prstDash val="solid"/>
          </a:ln>
        </p:spPr>
        <p:txBody>
          <a:bodyPr/>
          <a:lstStyle/>
          <a:p>
            <a:endParaRPr lang="en-US"/>
          </a:p>
        </p:txBody>
      </p:sp>
      <p:sp>
        <p:nvSpPr>
          <p:cNvPr id="52" name="Text 49"/>
          <p:cNvSpPr txBox="1"/>
          <p:nvPr/>
        </p:nvSpPr>
        <p:spPr>
          <a:xfrm>
            <a:off x="2011680" y="4791456"/>
            <a:ext cx="2103120" cy="310896"/>
          </a:xfrm>
          <a:prstGeom prst="rect">
            <a:avLst/>
          </a:prstGeom>
          <a:noFill/>
          <a:ln/>
        </p:spPr>
        <p:txBody>
          <a:bodyPr wrap="square" lIns="0" tIns="0" rIns="0" bIns="0" rtlCol="0" anchor="t"/>
          <a:lstStyle/>
          <a:p>
            <a:pPr marL="0" indent="0">
              <a:buNone/>
            </a:pPr>
            <a:r>
              <a:rPr lang="en-US" sz="1200" dirty="0">
                <a:solidFill>
                  <a:schemeClr val="tx1"/>
                </a:solidFill>
              </a:rPr>
              <a:t>Train</a:t>
            </a:r>
            <a:endParaRPr lang="en-US" sz="1200" dirty="0"/>
          </a:p>
        </p:txBody>
      </p:sp>
      <p:sp>
        <p:nvSpPr>
          <p:cNvPr id="53" name="Legend 1"/>
          <p:cNvSpPr/>
          <p:nvPr/>
        </p:nvSpPr>
        <p:spPr>
          <a:xfrm>
            <a:off x="4206240" y="4846320"/>
            <a:ext cx="201168" cy="201168"/>
          </a:xfrm>
          <a:prstGeom prst="rect">
            <a:avLst/>
          </a:prstGeom>
          <a:solidFill>
            <a:schemeClr val="accent3"/>
          </a:solidFill>
          <a:ln w="12700">
            <a:solidFill>
              <a:schemeClr val="accent3"/>
            </a:solidFill>
            <a:prstDash val="solid"/>
          </a:ln>
        </p:spPr>
        <p:txBody>
          <a:bodyPr/>
          <a:lstStyle/>
          <a:p>
            <a:endParaRPr lang="en-US"/>
          </a:p>
        </p:txBody>
      </p:sp>
      <p:sp>
        <p:nvSpPr>
          <p:cNvPr id="54" name="Text 51"/>
          <p:cNvSpPr txBox="1"/>
          <p:nvPr/>
        </p:nvSpPr>
        <p:spPr>
          <a:xfrm>
            <a:off x="4480560" y="4791456"/>
            <a:ext cx="2103120" cy="310896"/>
          </a:xfrm>
          <a:prstGeom prst="rect">
            <a:avLst/>
          </a:prstGeom>
          <a:noFill/>
          <a:ln/>
        </p:spPr>
        <p:txBody>
          <a:bodyPr wrap="square" lIns="0" tIns="0" rIns="0" bIns="0" rtlCol="0" anchor="t"/>
          <a:lstStyle/>
          <a:p>
            <a:pPr marL="0" indent="0">
              <a:buNone/>
            </a:pPr>
            <a:r>
              <a:rPr lang="en-US" sz="1200" dirty="0">
                <a:solidFill>
                  <a:schemeClr val="tx1"/>
                </a:solidFill>
              </a:rPr>
              <a:t>Validate</a:t>
            </a:r>
            <a:endParaRPr lang="en-US" sz="1200" dirty="0"/>
          </a:p>
        </p:txBody>
      </p:sp>
      <p:sp>
        <p:nvSpPr>
          <p:cNvPr id="55" name="Legend 2"/>
          <p:cNvSpPr/>
          <p:nvPr/>
        </p:nvSpPr>
        <p:spPr>
          <a:xfrm>
            <a:off x="6675120" y="4846320"/>
            <a:ext cx="201168" cy="201168"/>
          </a:xfrm>
          <a:prstGeom prst="rect">
            <a:avLst/>
          </a:prstGeom>
          <a:solidFill>
            <a:schemeClr val="bg2"/>
          </a:solidFill>
          <a:ln w="12700">
            <a:solidFill>
              <a:schemeClr val="bg2"/>
            </a:solidFill>
            <a:prstDash val="solid"/>
          </a:ln>
        </p:spPr>
        <p:txBody>
          <a:bodyPr/>
          <a:lstStyle/>
          <a:p>
            <a:endParaRPr lang="en-US"/>
          </a:p>
        </p:txBody>
      </p:sp>
      <p:sp>
        <p:nvSpPr>
          <p:cNvPr id="56" name="Text 53"/>
          <p:cNvSpPr txBox="1"/>
          <p:nvPr/>
        </p:nvSpPr>
        <p:spPr>
          <a:xfrm>
            <a:off x="6949440" y="4791456"/>
            <a:ext cx="2103120" cy="310896"/>
          </a:xfrm>
          <a:prstGeom prst="rect">
            <a:avLst/>
          </a:prstGeom>
          <a:noFill/>
          <a:ln/>
        </p:spPr>
        <p:txBody>
          <a:bodyPr wrap="square" lIns="0" tIns="0" rIns="0" bIns="0" rtlCol="0" anchor="t"/>
          <a:lstStyle/>
          <a:p>
            <a:pPr marL="0" indent="0">
              <a:buNone/>
            </a:pPr>
            <a:r>
              <a:rPr lang="en-US" sz="1200" dirty="0">
                <a:solidFill>
                  <a:schemeClr val="tx1"/>
                </a:solidFill>
              </a:rPr>
              <a:t>Not used in this fold</a:t>
            </a:r>
            <a:endParaRPr lang="en-US" sz="1200" dirty="0"/>
          </a:p>
        </p:txBody>
      </p:sp>
      <p:sp>
        <p:nvSpPr>
          <p:cNvPr id="57" name="Legend 3"/>
          <p:cNvSpPr/>
          <p:nvPr/>
        </p:nvSpPr>
        <p:spPr>
          <a:xfrm>
            <a:off x="9144000" y="4846320"/>
            <a:ext cx="201168" cy="201168"/>
          </a:xfrm>
          <a:prstGeom prst="rect">
            <a:avLst/>
          </a:prstGeom>
          <a:solidFill>
            <a:schemeClr val="accent2">
              <a:alpha val="20000"/>
            </a:schemeClr>
          </a:solidFill>
          <a:ln w="12700">
            <a:solidFill>
              <a:schemeClr val="accent2"/>
            </a:solidFill>
            <a:prstDash val="solid"/>
          </a:ln>
        </p:spPr>
        <p:txBody>
          <a:bodyPr/>
          <a:lstStyle/>
          <a:p>
            <a:endParaRPr lang="en-US"/>
          </a:p>
        </p:txBody>
      </p:sp>
      <p:sp>
        <p:nvSpPr>
          <p:cNvPr id="58" name="Text 55"/>
          <p:cNvSpPr txBox="1"/>
          <p:nvPr/>
        </p:nvSpPr>
        <p:spPr>
          <a:xfrm>
            <a:off x="9418320" y="4791456"/>
            <a:ext cx="2103120" cy="310896"/>
          </a:xfrm>
          <a:prstGeom prst="rect">
            <a:avLst/>
          </a:prstGeom>
          <a:noFill/>
          <a:ln/>
        </p:spPr>
        <p:txBody>
          <a:bodyPr wrap="square" lIns="0" tIns="0" rIns="0" bIns="0" rtlCol="0" anchor="t"/>
          <a:lstStyle/>
          <a:p>
            <a:pPr marL="0" indent="0">
              <a:buNone/>
            </a:pPr>
            <a:r>
              <a:rPr lang="en-US" sz="1200" dirty="0">
                <a:solidFill>
                  <a:schemeClr val="tx1"/>
                </a:solidFill>
              </a:rPr>
              <a:t>Held out until the end</a:t>
            </a:r>
            <a:endParaRPr lang="en-US" sz="1200" dirty="0"/>
          </a:p>
        </p:txBody>
      </p:sp>
      <p:sp>
        <p:nvSpPr>
          <p:cNvPr id="59" name="Strip"/>
          <p:cNvSpPr/>
          <p:nvPr/>
        </p:nvSpPr>
        <p:spPr>
          <a:xfrm>
            <a:off x="640080" y="5166360"/>
            <a:ext cx="10881360" cy="1097280"/>
          </a:xfrm>
          <a:prstGeom prst="roundRect">
            <a:avLst>
              <a:gd name="adj" fmla="val 10000"/>
            </a:avLst>
          </a:prstGeom>
          <a:solidFill>
            <a:schemeClr val="bg2"/>
          </a:solidFill>
          <a:ln w="12700">
            <a:solidFill>
              <a:schemeClr val="bg2"/>
            </a:solidFill>
            <a:prstDash val="solid"/>
          </a:ln>
        </p:spPr>
        <p:txBody>
          <a:bodyPr/>
          <a:lstStyle/>
          <a:p>
            <a:endParaRPr lang="en-US"/>
          </a:p>
        </p:txBody>
      </p:sp>
      <p:sp>
        <p:nvSpPr>
          <p:cNvPr id="60" name="Strip circle"/>
          <p:cNvSpPr/>
          <p:nvPr/>
        </p:nvSpPr>
        <p:spPr>
          <a:xfrm>
            <a:off x="914400" y="5349240"/>
            <a:ext cx="731520" cy="731520"/>
          </a:xfrm>
          <a:prstGeom prst="ellipse">
            <a:avLst/>
          </a:prstGeom>
          <a:solidFill>
            <a:schemeClr val="accent3"/>
          </a:solidFill>
          <a:ln w="12700">
            <a:solidFill>
              <a:schemeClr val="accent3"/>
            </a:solidFill>
            <a:prstDash val="solid"/>
          </a:ln>
        </p:spPr>
        <p:txBody>
          <a:bodyPr/>
          <a:lstStyle/>
          <a:p>
            <a:endParaRPr lang="en-US"/>
          </a:p>
        </p:txBody>
      </p:sp>
      <p:sp>
        <p:nvSpPr>
          <p:cNvPr id="61" name="Text 58"/>
          <p:cNvSpPr txBox="1"/>
          <p:nvPr/>
        </p:nvSpPr>
        <p:spPr>
          <a:xfrm>
            <a:off x="1920240" y="5349240"/>
            <a:ext cx="9326880" cy="731520"/>
          </a:xfrm>
          <a:prstGeom prst="rect">
            <a:avLst/>
          </a:prstGeom>
          <a:noFill/>
          <a:ln/>
        </p:spPr>
        <p:txBody>
          <a:bodyPr wrap="square" lIns="0" tIns="0" rIns="0" bIns="0" rtlCol="0" anchor="ctr"/>
          <a:lstStyle/>
          <a:p>
            <a:pPr marL="0" indent="0">
              <a:buNone/>
            </a:pPr>
            <a:r>
              <a:rPr lang="en-US" sz="1600" b="1" dirty="0">
                <a:solidFill>
                  <a:schemeClr val="tx1"/>
                </a:solidFill>
              </a:rPr>
              <a:t>Mean PR-AUC across the 5 folds: </a:t>
            </a:r>
            <a:r>
              <a:rPr lang="en-US" sz="1600" dirty="0">
                <a:solidFill>
                  <a:schemeClr val="tx1"/>
                </a:solidFill>
              </a:rPr>
              <a:t>random forest 0.73 ± 0.10, decision tree 0.48 ± 0.30, gradient boosting 0.56 ± 0.19.</a:t>
            </a:r>
            <a:endParaRPr lang="en-US" sz="1600" dirty="0"/>
          </a:p>
        </p:txBody>
      </p:sp>
      <p:pic>
        <p:nvPicPr>
          <p:cNvPr id="62" name="Strip icon" descr="Strip"/>
          <p:cNvPicPr>
            <a:picLocks noChangeAspect="1"/>
          </p:cNvPicPr>
          <p:nvPr/>
        </p:nvPicPr>
        <p:blipFill>
          <a:blip r:embed="rId3"/>
          <a:stretch>
            <a:fillRect/>
          </a:stretch>
        </p:blipFill>
        <p:spPr>
          <a:xfrm>
            <a:off x="1075334" y="5510174"/>
            <a:ext cx="409651" cy="409651"/>
          </a:xfrm>
          <a:prstGeom prst="rect">
            <a:avLst/>
          </a:prstGeom>
        </p:spPr>
      </p:pic>
      <p:sp>
        <p:nvSpPr>
          <p:cNvPr id="3"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365760"/>
            <a:ext cx="10881360" cy="914400"/>
          </a:xfrm>
          <a:prstGeom prst="rect">
            <a:avLst/>
          </a:prstGeom>
          <a:noFill/>
          <a:ln/>
        </p:spPr>
        <p:txBody>
          <a:bodyPr wrap="square" lIns="0" tIns="0" rIns="0" bIns="0" rtlCol="0" anchor="ctr"/>
          <a:lstStyle/>
          <a:p>
            <a:pPr marL="0" indent="0" algn="l">
              <a:buNone/>
            </a:pPr>
            <a:r>
              <a:rPr lang="en-US" sz="3600" b="1" dirty="0">
                <a:solidFill>
                  <a:schemeClr val="tx1"/>
                </a:solidFill>
              </a:rPr>
              <a:t>Early model results</a:t>
            </a:r>
            <a:endParaRPr lang="en-US" sz="3600" dirty="0"/>
          </a:p>
        </p:txBody>
      </p:sp>
      <p:graphicFrame>
        <p:nvGraphicFramePr>
          <p:cNvPr id="4" name="Model chart"/>
          <p:cNvGraphicFramePr/>
          <p:nvPr/>
        </p:nvGraphicFramePr>
        <p:xfrm>
          <a:off x="640080" y="1463040"/>
          <a:ext cx="749808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Best card"/>
          <p:cNvSpPr/>
          <p:nvPr/>
        </p:nvSpPr>
        <p:spPr>
          <a:xfrm>
            <a:off x="8503920" y="1463040"/>
            <a:ext cx="3017520" cy="4480560"/>
          </a:xfrm>
          <a:prstGeom prst="roundRect">
            <a:avLst>
              <a:gd name="adj" fmla="val 3636"/>
            </a:avLst>
          </a:prstGeom>
          <a:solidFill>
            <a:schemeClr val="tx1"/>
          </a:solidFill>
          <a:ln w="12700">
            <a:solidFill>
              <a:schemeClr val="tx1"/>
            </a:solidFill>
            <a:prstDash val="solid"/>
          </a:ln>
        </p:spPr>
        <p:txBody>
          <a:bodyPr/>
          <a:lstStyle/>
          <a:p>
            <a:endParaRPr lang="en-US"/>
          </a:p>
        </p:txBody>
      </p:sp>
      <p:sp>
        <p:nvSpPr>
          <p:cNvPr id="6" name="Text 2"/>
          <p:cNvSpPr txBox="1"/>
          <p:nvPr/>
        </p:nvSpPr>
        <p:spPr>
          <a:xfrm>
            <a:off x="8778240" y="2011680"/>
            <a:ext cx="2468880" cy="1097280"/>
          </a:xfrm>
          <a:prstGeom prst="rect">
            <a:avLst/>
          </a:prstGeom>
          <a:noFill/>
          <a:ln/>
        </p:spPr>
        <p:txBody>
          <a:bodyPr wrap="square" lIns="0" tIns="0" rIns="0" bIns="0" rtlCol="0" anchor="t"/>
          <a:lstStyle/>
          <a:p>
            <a:pPr marL="0" indent="0">
              <a:buNone/>
            </a:pPr>
            <a:r>
              <a:rPr lang="en-US" sz="6000" b="1" dirty="0">
                <a:solidFill>
                  <a:schemeClr val="accent3"/>
                </a:solidFill>
              </a:rPr>
              <a:t>0.76</a:t>
            </a:r>
            <a:endParaRPr lang="en-US" sz="6000" dirty="0"/>
          </a:p>
        </p:txBody>
      </p:sp>
      <p:sp>
        <p:nvSpPr>
          <p:cNvPr id="7" name="Text 3"/>
          <p:cNvSpPr txBox="1"/>
          <p:nvPr/>
        </p:nvSpPr>
        <p:spPr>
          <a:xfrm>
            <a:off x="8778240" y="3383280"/>
            <a:ext cx="2468880" cy="2377440"/>
          </a:xfrm>
          <a:prstGeom prst="rect">
            <a:avLst/>
          </a:prstGeom>
          <a:noFill/>
          <a:ln/>
        </p:spPr>
        <p:txBody>
          <a:bodyPr wrap="square" lIns="0" tIns="0" rIns="0" bIns="0" rtlCol="0" anchor="t"/>
          <a:lstStyle/>
          <a:p>
            <a:pPr marL="0" indent="0">
              <a:buNone/>
            </a:pPr>
            <a:r>
              <a:rPr lang="en-US" sz="1600" dirty="0">
                <a:solidFill>
                  <a:schemeClr val="bg1"/>
                </a:solidFill>
              </a:rPr>
              <a:t>Test PR-AUC for the random forest. Cross-validated: 0.73 ± 0.10. Logistic regression scores 0.006.</a:t>
            </a:r>
            <a:endParaRPr lang="en-US" sz="1600" dirty="0"/>
          </a:p>
        </p:txBody>
      </p:sp>
      <p:sp>
        <p:nvSpPr>
          <p:cNvPr id="25"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365760"/>
            <a:ext cx="10881360" cy="914400"/>
          </a:xfrm>
          <a:prstGeom prst="rect">
            <a:avLst/>
          </a:prstGeom>
          <a:noFill/>
          <a:ln/>
        </p:spPr>
        <p:txBody>
          <a:bodyPr wrap="square" lIns="0" tIns="0" rIns="0" bIns="0" rtlCol="0" anchor="ctr"/>
          <a:lstStyle/>
          <a:p>
            <a:pPr marL="0" indent="0" algn="l">
              <a:buNone/>
            </a:pPr>
            <a:r>
              <a:rPr lang="en-US" sz="3600" b="1" dirty="0">
                <a:solidFill>
                  <a:schemeClr val="tx1"/>
                </a:solidFill>
              </a:rPr>
              <a:t>Limitations</a:t>
            </a:r>
            <a:endParaRPr lang="en-US" sz="3600" dirty="0"/>
          </a:p>
        </p:txBody>
      </p:sp>
      <p:sp>
        <p:nvSpPr>
          <p:cNvPr id="4" name="Card 1"/>
          <p:cNvSpPr/>
          <p:nvPr/>
        </p:nvSpPr>
        <p:spPr>
          <a:xfrm>
            <a:off x="640080" y="1554480"/>
            <a:ext cx="2514600" cy="3017520"/>
          </a:xfrm>
          <a:prstGeom prst="roundRect">
            <a:avLst>
              <a:gd name="adj" fmla="val 4364"/>
            </a:avLst>
          </a:prstGeom>
          <a:solidFill>
            <a:schemeClr val="bg2"/>
          </a:solidFill>
          <a:ln w="12700">
            <a:solidFill>
              <a:schemeClr val="bg2"/>
            </a:solidFill>
            <a:prstDash val="solid"/>
          </a:ln>
        </p:spPr>
        <p:txBody>
          <a:bodyPr/>
          <a:lstStyle/>
          <a:p>
            <a:endParaRPr lang="en-US"/>
          </a:p>
        </p:txBody>
      </p:sp>
      <p:sp>
        <p:nvSpPr>
          <p:cNvPr id="5" name="Simulated data circle"/>
          <p:cNvSpPr/>
          <p:nvPr/>
        </p:nvSpPr>
        <p:spPr>
          <a:xfrm>
            <a:off x="914400" y="1828800"/>
            <a:ext cx="640080" cy="640080"/>
          </a:xfrm>
          <a:prstGeom prst="ellipse">
            <a:avLst/>
          </a:prstGeom>
          <a:solidFill>
            <a:schemeClr val="accent1"/>
          </a:solidFill>
          <a:ln w="12700">
            <a:solidFill>
              <a:schemeClr val="accent1"/>
            </a:solidFill>
            <a:prstDash val="solid"/>
          </a:ln>
        </p:spPr>
        <p:txBody>
          <a:bodyPr/>
          <a:lstStyle/>
          <a:p>
            <a:endParaRPr lang="en-US"/>
          </a:p>
        </p:txBody>
      </p:sp>
      <p:sp>
        <p:nvSpPr>
          <p:cNvPr id="6" name="Text 3"/>
          <p:cNvSpPr txBox="1"/>
          <p:nvPr/>
        </p:nvSpPr>
        <p:spPr>
          <a:xfrm>
            <a:off x="914400" y="2651760"/>
            <a:ext cx="1965960" cy="411480"/>
          </a:xfrm>
          <a:prstGeom prst="rect">
            <a:avLst/>
          </a:prstGeom>
          <a:noFill/>
          <a:ln/>
        </p:spPr>
        <p:txBody>
          <a:bodyPr wrap="square" lIns="0" tIns="0" rIns="0" bIns="0" rtlCol="0" anchor="t"/>
          <a:lstStyle/>
          <a:p>
            <a:pPr marL="0" indent="0">
              <a:buNone/>
            </a:pPr>
            <a:r>
              <a:rPr lang="en-US" sz="1900" b="1" dirty="0">
                <a:solidFill>
                  <a:schemeClr val="tx1"/>
                </a:solidFill>
              </a:rPr>
              <a:t>Simulated data</a:t>
            </a:r>
            <a:endParaRPr lang="en-US" sz="1900" dirty="0"/>
          </a:p>
        </p:txBody>
      </p:sp>
      <p:sp>
        <p:nvSpPr>
          <p:cNvPr id="7" name="Text 4"/>
          <p:cNvSpPr txBox="1"/>
          <p:nvPr/>
        </p:nvSpPr>
        <p:spPr>
          <a:xfrm>
            <a:off x="914400" y="3154680"/>
            <a:ext cx="1965960" cy="1280160"/>
          </a:xfrm>
          <a:prstGeom prst="rect">
            <a:avLst/>
          </a:prstGeom>
          <a:noFill/>
          <a:ln/>
        </p:spPr>
        <p:txBody>
          <a:bodyPr wrap="square" lIns="0" tIns="0" rIns="0" bIns="0" rtlCol="0" anchor="t"/>
          <a:lstStyle/>
          <a:p>
            <a:pPr marL="0" indent="0">
              <a:buNone/>
            </a:pPr>
            <a:r>
              <a:rPr lang="en-US" sz="1500" dirty="0">
                <a:solidFill>
                  <a:schemeClr val="tx1"/>
                </a:solidFill>
              </a:rPr>
              <a:t>Results may not transfer to real-world spending.</a:t>
            </a:r>
            <a:endParaRPr lang="en-US" sz="1500" dirty="0"/>
          </a:p>
        </p:txBody>
      </p:sp>
      <p:sp>
        <p:nvSpPr>
          <p:cNvPr id="8" name="Card 2"/>
          <p:cNvSpPr/>
          <p:nvPr/>
        </p:nvSpPr>
        <p:spPr>
          <a:xfrm>
            <a:off x="3429000" y="1554480"/>
            <a:ext cx="2514600" cy="3017520"/>
          </a:xfrm>
          <a:prstGeom prst="roundRect">
            <a:avLst>
              <a:gd name="adj" fmla="val 4364"/>
            </a:avLst>
          </a:prstGeom>
          <a:solidFill>
            <a:schemeClr val="bg2"/>
          </a:solidFill>
          <a:ln w="12700">
            <a:solidFill>
              <a:schemeClr val="bg2"/>
            </a:solidFill>
            <a:prstDash val="solid"/>
          </a:ln>
        </p:spPr>
        <p:txBody>
          <a:bodyPr/>
          <a:lstStyle/>
          <a:p>
            <a:endParaRPr lang="en-US"/>
          </a:p>
        </p:txBody>
      </p:sp>
      <p:sp>
        <p:nvSpPr>
          <p:cNvPr id="9" name="No distance signal circle"/>
          <p:cNvSpPr/>
          <p:nvPr/>
        </p:nvSpPr>
        <p:spPr>
          <a:xfrm>
            <a:off x="3703320" y="1828800"/>
            <a:ext cx="640080" cy="640080"/>
          </a:xfrm>
          <a:prstGeom prst="ellipse">
            <a:avLst/>
          </a:prstGeom>
          <a:solidFill>
            <a:schemeClr val="accent1"/>
          </a:solidFill>
          <a:ln w="12700">
            <a:solidFill>
              <a:schemeClr val="accent1"/>
            </a:solidFill>
            <a:prstDash val="solid"/>
          </a:ln>
        </p:spPr>
        <p:txBody>
          <a:bodyPr/>
          <a:lstStyle/>
          <a:p>
            <a:endParaRPr lang="en-US"/>
          </a:p>
        </p:txBody>
      </p:sp>
      <p:sp>
        <p:nvSpPr>
          <p:cNvPr id="10" name="Text 7"/>
          <p:cNvSpPr txBox="1"/>
          <p:nvPr/>
        </p:nvSpPr>
        <p:spPr>
          <a:xfrm>
            <a:off x="3703320" y="2651760"/>
            <a:ext cx="1965960" cy="411480"/>
          </a:xfrm>
          <a:prstGeom prst="rect">
            <a:avLst/>
          </a:prstGeom>
          <a:noFill/>
          <a:ln/>
        </p:spPr>
        <p:txBody>
          <a:bodyPr wrap="square" lIns="0" tIns="0" rIns="0" bIns="0" rtlCol="0" anchor="t"/>
          <a:lstStyle/>
          <a:p>
            <a:pPr marL="0" indent="0">
              <a:buNone/>
            </a:pPr>
            <a:r>
              <a:rPr lang="en-US" sz="1900" b="1" dirty="0">
                <a:solidFill>
                  <a:schemeClr val="tx1"/>
                </a:solidFill>
              </a:rPr>
              <a:t>No distance signal</a:t>
            </a:r>
            <a:endParaRPr lang="en-US" sz="1900" dirty="0"/>
          </a:p>
        </p:txBody>
      </p:sp>
      <p:sp>
        <p:nvSpPr>
          <p:cNvPr id="11" name="Text 8"/>
          <p:cNvSpPr txBox="1"/>
          <p:nvPr/>
        </p:nvSpPr>
        <p:spPr>
          <a:xfrm>
            <a:off x="3703320" y="3154680"/>
            <a:ext cx="1965960" cy="1280160"/>
          </a:xfrm>
          <a:prstGeom prst="rect">
            <a:avLst/>
          </a:prstGeom>
          <a:noFill/>
          <a:ln/>
        </p:spPr>
        <p:txBody>
          <a:bodyPr wrap="square" lIns="0" tIns="0" rIns="0" bIns="0" rtlCol="0" anchor="t"/>
          <a:lstStyle/>
          <a:p>
            <a:pPr marL="0" indent="0">
              <a:buNone/>
            </a:pPr>
            <a:r>
              <a:rPr lang="en-US" sz="1500" dirty="0">
                <a:solidFill>
                  <a:schemeClr val="tx1"/>
                </a:solidFill>
              </a:rPr>
              <a:t>Single-feature score 0.50; it did not help in our first ablation.</a:t>
            </a:r>
            <a:endParaRPr lang="en-US" sz="1500" dirty="0"/>
          </a:p>
        </p:txBody>
      </p:sp>
      <p:sp>
        <p:nvSpPr>
          <p:cNvPr id="12" name="Card 3"/>
          <p:cNvSpPr/>
          <p:nvPr/>
        </p:nvSpPr>
        <p:spPr>
          <a:xfrm>
            <a:off x="6217920" y="1554480"/>
            <a:ext cx="2514600" cy="3017520"/>
          </a:xfrm>
          <a:prstGeom prst="roundRect">
            <a:avLst>
              <a:gd name="adj" fmla="val 4364"/>
            </a:avLst>
          </a:prstGeom>
          <a:solidFill>
            <a:schemeClr val="bg2"/>
          </a:solidFill>
          <a:ln w="12700">
            <a:solidFill>
              <a:schemeClr val="bg2"/>
            </a:solidFill>
            <a:prstDash val="solid"/>
          </a:ln>
        </p:spPr>
        <p:txBody>
          <a:bodyPr/>
          <a:lstStyle/>
          <a:p>
            <a:endParaRPr lang="en-US"/>
          </a:p>
        </p:txBody>
      </p:sp>
      <p:sp>
        <p:nvSpPr>
          <p:cNvPr id="13" name="Fraud rate drifts circle"/>
          <p:cNvSpPr/>
          <p:nvPr/>
        </p:nvSpPr>
        <p:spPr>
          <a:xfrm>
            <a:off x="6492240" y="1828800"/>
            <a:ext cx="640080" cy="640080"/>
          </a:xfrm>
          <a:prstGeom prst="ellipse">
            <a:avLst/>
          </a:prstGeom>
          <a:solidFill>
            <a:schemeClr val="accent1"/>
          </a:solidFill>
          <a:ln w="12700">
            <a:solidFill>
              <a:schemeClr val="accent1"/>
            </a:solidFill>
            <a:prstDash val="solid"/>
          </a:ln>
        </p:spPr>
        <p:txBody>
          <a:bodyPr/>
          <a:lstStyle/>
          <a:p>
            <a:endParaRPr lang="en-US"/>
          </a:p>
        </p:txBody>
      </p:sp>
      <p:sp>
        <p:nvSpPr>
          <p:cNvPr id="14" name="Text 11"/>
          <p:cNvSpPr txBox="1"/>
          <p:nvPr/>
        </p:nvSpPr>
        <p:spPr>
          <a:xfrm>
            <a:off x="6492240" y="2651760"/>
            <a:ext cx="1965960" cy="411480"/>
          </a:xfrm>
          <a:prstGeom prst="rect">
            <a:avLst/>
          </a:prstGeom>
          <a:noFill/>
          <a:ln/>
        </p:spPr>
        <p:txBody>
          <a:bodyPr wrap="square" lIns="0" tIns="0" rIns="0" bIns="0" rtlCol="0" anchor="t"/>
          <a:lstStyle/>
          <a:p>
            <a:pPr marL="0" indent="0">
              <a:buNone/>
            </a:pPr>
            <a:r>
              <a:rPr lang="en-US" sz="1900" b="1" dirty="0">
                <a:solidFill>
                  <a:schemeClr val="tx1"/>
                </a:solidFill>
              </a:rPr>
              <a:t>Fraud rate drifts</a:t>
            </a:r>
            <a:endParaRPr lang="en-US" sz="1900" dirty="0"/>
          </a:p>
        </p:txBody>
      </p:sp>
      <p:sp>
        <p:nvSpPr>
          <p:cNvPr id="15" name="Text 12"/>
          <p:cNvSpPr txBox="1"/>
          <p:nvPr/>
        </p:nvSpPr>
        <p:spPr>
          <a:xfrm>
            <a:off x="6492240" y="3154680"/>
            <a:ext cx="1965960" cy="1280160"/>
          </a:xfrm>
          <a:prstGeom prst="rect">
            <a:avLst/>
          </a:prstGeom>
          <a:noFill/>
          <a:ln/>
        </p:spPr>
        <p:txBody>
          <a:bodyPr wrap="square" lIns="0" tIns="0" rIns="0" bIns="0" rtlCol="0" anchor="t"/>
          <a:lstStyle/>
          <a:p>
            <a:pPr marL="0" indent="0">
              <a:buNone/>
            </a:pPr>
            <a:r>
              <a:rPr lang="en-US" sz="1500" dirty="0">
                <a:solidFill>
                  <a:schemeClr val="tx1"/>
                </a:solidFill>
              </a:rPr>
              <a:t>1.3% in Jan-Nov versus 0.5% in the test month.</a:t>
            </a:r>
            <a:endParaRPr lang="en-US" sz="1500" dirty="0"/>
          </a:p>
        </p:txBody>
      </p:sp>
      <p:sp>
        <p:nvSpPr>
          <p:cNvPr id="16" name="Card 4"/>
          <p:cNvSpPr/>
          <p:nvPr/>
        </p:nvSpPr>
        <p:spPr>
          <a:xfrm>
            <a:off x="9006840" y="1554480"/>
            <a:ext cx="2514600" cy="3017520"/>
          </a:xfrm>
          <a:prstGeom prst="roundRect">
            <a:avLst>
              <a:gd name="adj" fmla="val 4364"/>
            </a:avLst>
          </a:prstGeom>
          <a:solidFill>
            <a:schemeClr val="bg2"/>
          </a:solidFill>
          <a:ln w="12700">
            <a:solidFill>
              <a:schemeClr val="bg2"/>
            </a:solidFill>
            <a:prstDash val="solid"/>
          </a:ln>
        </p:spPr>
        <p:txBody>
          <a:bodyPr/>
          <a:lstStyle/>
          <a:p>
            <a:endParaRPr lang="en-US"/>
          </a:p>
        </p:txBody>
      </p:sp>
      <p:sp>
        <p:nvSpPr>
          <p:cNvPr id="17" name="Unstable folds circle"/>
          <p:cNvSpPr/>
          <p:nvPr/>
        </p:nvSpPr>
        <p:spPr>
          <a:xfrm>
            <a:off x="9281160" y="1828800"/>
            <a:ext cx="640080" cy="640080"/>
          </a:xfrm>
          <a:prstGeom prst="ellipse">
            <a:avLst/>
          </a:prstGeom>
          <a:solidFill>
            <a:schemeClr val="accent1"/>
          </a:solidFill>
          <a:ln w="12700">
            <a:solidFill>
              <a:schemeClr val="accent1"/>
            </a:solidFill>
            <a:prstDash val="solid"/>
          </a:ln>
        </p:spPr>
        <p:txBody>
          <a:bodyPr/>
          <a:lstStyle/>
          <a:p>
            <a:endParaRPr lang="en-US"/>
          </a:p>
        </p:txBody>
      </p:sp>
      <p:sp>
        <p:nvSpPr>
          <p:cNvPr id="18" name="Text 15"/>
          <p:cNvSpPr txBox="1"/>
          <p:nvPr/>
        </p:nvSpPr>
        <p:spPr>
          <a:xfrm>
            <a:off x="9281160" y="2651760"/>
            <a:ext cx="1965960" cy="411480"/>
          </a:xfrm>
          <a:prstGeom prst="rect">
            <a:avLst/>
          </a:prstGeom>
          <a:noFill/>
          <a:ln/>
        </p:spPr>
        <p:txBody>
          <a:bodyPr wrap="square" lIns="0" tIns="0" rIns="0" bIns="0" rtlCol="0" anchor="t"/>
          <a:lstStyle/>
          <a:p>
            <a:pPr marL="0" indent="0">
              <a:buNone/>
            </a:pPr>
            <a:r>
              <a:rPr lang="en-US" sz="1900" b="1" dirty="0">
                <a:solidFill>
                  <a:schemeClr val="tx1"/>
                </a:solidFill>
              </a:rPr>
              <a:t>Unstable folds</a:t>
            </a:r>
            <a:endParaRPr lang="en-US" sz="1900" dirty="0"/>
          </a:p>
        </p:txBody>
      </p:sp>
      <p:sp>
        <p:nvSpPr>
          <p:cNvPr id="19" name="Text 16"/>
          <p:cNvSpPr txBox="1"/>
          <p:nvPr/>
        </p:nvSpPr>
        <p:spPr>
          <a:xfrm>
            <a:off x="9281160" y="3154680"/>
            <a:ext cx="1965960" cy="1280160"/>
          </a:xfrm>
          <a:prstGeom prst="rect">
            <a:avLst/>
          </a:prstGeom>
          <a:noFill/>
          <a:ln/>
        </p:spPr>
        <p:txBody>
          <a:bodyPr wrap="square" lIns="0" tIns="0" rIns="0" bIns="0" rtlCol="0" anchor="t"/>
          <a:lstStyle/>
          <a:p>
            <a:pPr marL="0" indent="0">
              <a:buNone/>
            </a:pPr>
            <a:r>
              <a:rPr lang="en-US" sz="1500" dirty="0">
                <a:solidFill>
                  <a:schemeClr val="tx1"/>
                </a:solidFill>
              </a:rPr>
              <a:t>Small tuning grids; random forest scores vary by ±0.10 across folds.</a:t>
            </a:r>
            <a:endParaRPr lang="en-US" sz="1500" dirty="0"/>
          </a:p>
        </p:txBody>
      </p:sp>
      <p:sp>
        <p:nvSpPr>
          <p:cNvPr id="20" name="Strip"/>
          <p:cNvSpPr/>
          <p:nvPr/>
        </p:nvSpPr>
        <p:spPr>
          <a:xfrm>
            <a:off x="640080" y="4846320"/>
            <a:ext cx="10881360" cy="1097280"/>
          </a:xfrm>
          <a:prstGeom prst="roundRect">
            <a:avLst>
              <a:gd name="adj" fmla="val 10000"/>
            </a:avLst>
          </a:prstGeom>
          <a:solidFill>
            <a:schemeClr val="bg2"/>
          </a:solidFill>
          <a:ln w="12700">
            <a:solidFill>
              <a:schemeClr val="bg2"/>
            </a:solidFill>
            <a:prstDash val="solid"/>
          </a:ln>
        </p:spPr>
        <p:txBody>
          <a:bodyPr/>
          <a:lstStyle/>
          <a:p>
            <a:endParaRPr lang="en-US"/>
          </a:p>
        </p:txBody>
      </p:sp>
      <p:sp>
        <p:nvSpPr>
          <p:cNvPr id="21" name="Strip circle"/>
          <p:cNvSpPr/>
          <p:nvPr/>
        </p:nvSpPr>
        <p:spPr>
          <a:xfrm>
            <a:off x="914400" y="5029200"/>
            <a:ext cx="731520" cy="731520"/>
          </a:xfrm>
          <a:prstGeom prst="ellipse">
            <a:avLst/>
          </a:prstGeom>
          <a:solidFill>
            <a:schemeClr val="accent3"/>
          </a:solidFill>
          <a:ln w="12700">
            <a:solidFill>
              <a:schemeClr val="accent3"/>
            </a:solidFill>
            <a:prstDash val="solid"/>
          </a:ln>
        </p:spPr>
        <p:txBody>
          <a:bodyPr/>
          <a:lstStyle/>
          <a:p>
            <a:endParaRPr lang="en-US"/>
          </a:p>
        </p:txBody>
      </p:sp>
      <p:sp>
        <p:nvSpPr>
          <p:cNvPr id="22" name="Text 19"/>
          <p:cNvSpPr txBox="1"/>
          <p:nvPr/>
        </p:nvSpPr>
        <p:spPr>
          <a:xfrm>
            <a:off x="1920240" y="5029200"/>
            <a:ext cx="9326880" cy="731520"/>
          </a:xfrm>
          <a:prstGeom prst="rect">
            <a:avLst/>
          </a:prstGeom>
          <a:noFill/>
          <a:ln/>
        </p:spPr>
        <p:txBody>
          <a:bodyPr wrap="square" lIns="0" tIns="0" rIns="0" bIns="0" rtlCol="0" anchor="ctr"/>
          <a:lstStyle/>
          <a:p>
            <a:pPr marL="0" indent="0">
              <a:buNone/>
            </a:pPr>
            <a:r>
              <a:rPr lang="en-US" sz="1600" b="1" dirty="0">
                <a:solidFill>
                  <a:schemeClr val="tx1"/>
                </a:solidFill>
              </a:rPr>
              <a:t>Thresholds do not always transfer: </a:t>
            </a:r>
            <a:r>
              <a:rPr lang="en-US" sz="1600" dirty="0">
                <a:solidFill>
                  <a:schemeClr val="tx1"/>
                </a:solidFill>
              </a:rPr>
              <a:t>gradient boosting reaches a PR-AUC of 0.66 but an F1 of only 0.30.</a:t>
            </a:r>
            <a:endParaRPr lang="en-US" sz="1600" dirty="0"/>
          </a:p>
        </p:txBody>
      </p:sp>
      <p:pic>
        <p:nvPicPr>
          <p:cNvPr id="23" name="Simulated data icon" descr="Simulated data"/>
          <p:cNvPicPr>
            <a:picLocks noChangeAspect="1"/>
          </p:cNvPicPr>
          <p:nvPr/>
        </p:nvPicPr>
        <p:blipFill>
          <a:blip r:embed="rId3"/>
          <a:stretch>
            <a:fillRect/>
          </a:stretch>
        </p:blipFill>
        <p:spPr>
          <a:xfrm>
            <a:off x="1055218" y="1969618"/>
            <a:ext cx="358445" cy="358445"/>
          </a:xfrm>
          <a:prstGeom prst="rect">
            <a:avLst/>
          </a:prstGeom>
        </p:spPr>
      </p:pic>
      <p:pic>
        <p:nvPicPr>
          <p:cNvPr id="24" name="No distance signal icon" descr="No distance signal"/>
          <p:cNvPicPr>
            <a:picLocks noChangeAspect="1"/>
          </p:cNvPicPr>
          <p:nvPr/>
        </p:nvPicPr>
        <p:blipFill>
          <a:blip r:embed="rId4"/>
          <a:stretch>
            <a:fillRect/>
          </a:stretch>
        </p:blipFill>
        <p:spPr>
          <a:xfrm>
            <a:off x="3844138" y="1969618"/>
            <a:ext cx="358445" cy="358445"/>
          </a:xfrm>
          <a:prstGeom prst="rect">
            <a:avLst/>
          </a:prstGeom>
        </p:spPr>
      </p:pic>
      <p:pic>
        <p:nvPicPr>
          <p:cNvPr id="25" name="Fraud rate drifts icon" descr="Fraud rate drifts"/>
          <p:cNvPicPr>
            <a:picLocks noChangeAspect="1"/>
          </p:cNvPicPr>
          <p:nvPr/>
        </p:nvPicPr>
        <p:blipFill>
          <a:blip r:embed="rId5"/>
          <a:stretch>
            <a:fillRect/>
          </a:stretch>
        </p:blipFill>
        <p:spPr>
          <a:xfrm>
            <a:off x="6633058" y="1969618"/>
            <a:ext cx="358445" cy="358445"/>
          </a:xfrm>
          <a:prstGeom prst="rect">
            <a:avLst/>
          </a:prstGeom>
        </p:spPr>
      </p:pic>
      <p:pic>
        <p:nvPicPr>
          <p:cNvPr id="26" name="Unstable folds icon" descr="Unstable folds"/>
          <p:cNvPicPr>
            <a:picLocks noChangeAspect="1"/>
          </p:cNvPicPr>
          <p:nvPr/>
        </p:nvPicPr>
        <p:blipFill>
          <a:blip r:embed="rId6"/>
          <a:stretch>
            <a:fillRect/>
          </a:stretch>
        </p:blipFill>
        <p:spPr>
          <a:xfrm>
            <a:off x="9421978" y="1969618"/>
            <a:ext cx="358445" cy="358445"/>
          </a:xfrm>
          <a:prstGeom prst="rect">
            <a:avLst/>
          </a:prstGeom>
        </p:spPr>
      </p:pic>
      <p:pic>
        <p:nvPicPr>
          <p:cNvPr id="27" name="Strip icon" descr="Strip"/>
          <p:cNvPicPr>
            <a:picLocks noChangeAspect="1"/>
          </p:cNvPicPr>
          <p:nvPr/>
        </p:nvPicPr>
        <p:blipFill>
          <a:blip r:embed="rId7"/>
          <a:stretch>
            <a:fillRect/>
          </a:stretch>
        </p:blipFill>
        <p:spPr>
          <a:xfrm>
            <a:off x="1075334" y="5190134"/>
            <a:ext cx="409651" cy="409651"/>
          </a:xfrm>
          <a:prstGeom prst="rect">
            <a:avLst/>
          </a:prstGeom>
        </p:spPr>
      </p:pic>
      <p:sp>
        <p:nvSpPr>
          <p:cNvPr id="3"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365760"/>
            <a:ext cx="10881360" cy="914400"/>
          </a:xfrm>
          <a:prstGeom prst="rect">
            <a:avLst/>
          </a:prstGeom>
          <a:noFill/>
          <a:ln/>
        </p:spPr>
        <p:txBody>
          <a:bodyPr wrap="square" lIns="0" tIns="0" rIns="0" bIns="0" rtlCol="0" anchor="ctr"/>
          <a:lstStyle/>
          <a:p>
            <a:pPr marL="0" indent="0" algn="l">
              <a:buNone/>
            </a:pPr>
            <a:r>
              <a:rPr lang="en-US" sz="3600" b="1" dirty="0">
                <a:solidFill>
                  <a:schemeClr val="tx1"/>
                </a:solidFill>
              </a:rPr>
              <a:t>Scope and changes since proposal</a:t>
            </a:r>
            <a:endParaRPr lang="en-US" sz="3600" dirty="0"/>
          </a:p>
        </p:txBody>
      </p:sp>
      <p:sp>
        <p:nvSpPr>
          <p:cNvPr id="4" name="Card 1"/>
          <p:cNvSpPr/>
          <p:nvPr/>
        </p:nvSpPr>
        <p:spPr>
          <a:xfrm>
            <a:off x="640080" y="1554480"/>
            <a:ext cx="3444240" cy="3017520"/>
          </a:xfrm>
          <a:prstGeom prst="roundRect">
            <a:avLst>
              <a:gd name="adj" fmla="val 3636"/>
            </a:avLst>
          </a:prstGeom>
          <a:solidFill>
            <a:schemeClr val="bg2"/>
          </a:solidFill>
          <a:ln w="12700">
            <a:solidFill>
              <a:schemeClr val="bg2"/>
            </a:solidFill>
            <a:prstDash val="solid"/>
          </a:ln>
        </p:spPr>
        <p:txBody>
          <a:bodyPr/>
          <a:lstStyle/>
          <a:p>
            <a:endParaRPr lang="en-US"/>
          </a:p>
        </p:txBody>
      </p:sp>
      <p:sp>
        <p:nvSpPr>
          <p:cNvPr id="5" name="Topic and title circle"/>
          <p:cNvSpPr/>
          <p:nvPr/>
        </p:nvSpPr>
        <p:spPr>
          <a:xfrm>
            <a:off x="914400" y="1828800"/>
            <a:ext cx="640080" cy="640080"/>
          </a:xfrm>
          <a:prstGeom prst="ellipse">
            <a:avLst/>
          </a:prstGeom>
          <a:solidFill>
            <a:schemeClr val="accent1"/>
          </a:solidFill>
          <a:ln w="12700">
            <a:solidFill>
              <a:schemeClr val="accent1"/>
            </a:solidFill>
            <a:prstDash val="solid"/>
          </a:ln>
        </p:spPr>
        <p:txBody>
          <a:bodyPr/>
          <a:lstStyle/>
          <a:p>
            <a:endParaRPr lang="en-US"/>
          </a:p>
        </p:txBody>
      </p:sp>
      <p:sp>
        <p:nvSpPr>
          <p:cNvPr id="6" name="Text 3"/>
          <p:cNvSpPr txBox="1"/>
          <p:nvPr/>
        </p:nvSpPr>
        <p:spPr>
          <a:xfrm>
            <a:off x="914400" y="2651760"/>
            <a:ext cx="2895600" cy="411480"/>
          </a:xfrm>
          <a:prstGeom prst="rect">
            <a:avLst/>
          </a:prstGeom>
          <a:noFill/>
          <a:ln/>
        </p:spPr>
        <p:txBody>
          <a:bodyPr wrap="square" lIns="0" tIns="0" rIns="0" bIns="0" rtlCol="0" anchor="t"/>
          <a:lstStyle/>
          <a:p>
            <a:pPr marL="0" indent="0">
              <a:buNone/>
            </a:pPr>
            <a:r>
              <a:rPr lang="en-US" sz="1900" b="1" dirty="0">
                <a:solidFill>
                  <a:schemeClr val="tx1"/>
                </a:solidFill>
              </a:rPr>
              <a:t>Topic and title</a:t>
            </a:r>
            <a:endParaRPr lang="en-US" sz="1900" dirty="0"/>
          </a:p>
        </p:txBody>
      </p:sp>
      <p:sp>
        <p:nvSpPr>
          <p:cNvPr id="7" name="Text 4"/>
          <p:cNvSpPr txBox="1"/>
          <p:nvPr/>
        </p:nvSpPr>
        <p:spPr>
          <a:xfrm>
            <a:off x="914400" y="3154680"/>
            <a:ext cx="2895600" cy="1280160"/>
          </a:xfrm>
          <a:prstGeom prst="rect">
            <a:avLst/>
          </a:prstGeom>
          <a:noFill/>
          <a:ln/>
        </p:spPr>
        <p:txBody>
          <a:bodyPr wrap="square" lIns="0" tIns="0" rIns="0" bIns="0" rtlCol="0" anchor="t"/>
          <a:lstStyle/>
          <a:p>
            <a:pPr marL="0" indent="0">
              <a:buNone/>
            </a:pPr>
            <a:r>
              <a:rPr lang="en-US" sz="1500" dirty="0">
                <a:solidFill>
                  <a:schemeClr val="tx1"/>
                </a:solidFill>
              </a:rPr>
              <a:t>Unchanged: credit card fraud detection.</a:t>
            </a:r>
            <a:endParaRPr lang="en-US" sz="1500" dirty="0"/>
          </a:p>
        </p:txBody>
      </p:sp>
      <p:sp>
        <p:nvSpPr>
          <p:cNvPr id="8" name="Card 2"/>
          <p:cNvSpPr/>
          <p:nvPr/>
        </p:nvSpPr>
        <p:spPr>
          <a:xfrm>
            <a:off x="4358640" y="1554480"/>
            <a:ext cx="3444240" cy="3017520"/>
          </a:xfrm>
          <a:prstGeom prst="roundRect">
            <a:avLst>
              <a:gd name="adj" fmla="val 3636"/>
            </a:avLst>
          </a:prstGeom>
          <a:solidFill>
            <a:schemeClr val="bg2"/>
          </a:solidFill>
          <a:ln w="12700">
            <a:solidFill>
              <a:schemeClr val="bg2"/>
            </a:solidFill>
            <a:prstDash val="solid"/>
          </a:ln>
        </p:spPr>
        <p:txBody>
          <a:bodyPr/>
          <a:lstStyle/>
          <a:p>
            <a:endParaRPr lang="en-US"/>
          </a:p>
        </p:txBody>
      </p:sp>
      <p:sp>
        <p:nvSpPr>
          <p:cNvPr id="9" name="Changes since proposal circle"/>
          <p:cNvSpPr/>
          <p:nvPr/>
        </p:nvSpPr>
        <p:spPr>
          <a:xfrm>
            <a:off x="4632960" y="1828800"/>
            <a:ext cx="640080" cy="640080"/>
          </a:xfrm>
          <a:prstGeom prst="ellipse">
            <a:avLst/>
          </a:prstGeom>
          <a:solidFill>
            <a:schemeClr val="accent1"/>
          </a:solidFill>
          <a:ln w="12700">
            <a:solidFill>
              <a:schemeClr val="accent1"/>
            </a:solidFill>
            <a:prstDash val="solid"/>
          </a:ln>
        </p:spPr>
        <p:txBody>
          <a:bodyPr/>
          <a:lstStyle/>
          <a:p>
            <a:endParaRPr lang="en-US"/>
          </a:p>
        </p:txBody>
      </p:sp>
      <p:sp>
        <p:nvSpPr>
          <p:cNvPr id="10" name="Text 7"/>
          <p:cNvSpPr txBox="1"/>
          <p:nvPr/>
        </p:nvSpPr>
        <p:spPr>
          <a:xfrm>
            <a:off x="4632960" y="2651760"/>
            <a:ext cx="2895600" cy="411480"/>
          </a:xfrm>
          <a:prstGeom prst="rect">
            <a:avLst/>
          </a:prstGeom>
          <a:noFill/>
          <a:ln/>
        </p:spPr>
        <p:txBody>
          <a:bodyPr wrap="square" lIns="0" tIns="0" rIns="0" bIns="0" rtlCol="0" anchor="t"/>
          <a:lstStyle/>
          <a:p>
            <a:pPr marL="0" indent="0">
              <a:buNone/>
            </a:pPr>
            <a:r>
              <a:rPr lang="en-US" sz="1900" b="1" dirty="0">
                <a:solidFill>
                  <a:schemeClr val="tx1"/>
                </a:solidFill>
              </a:rPr>
              <a:t>Changes since proposal</a:t>
            </a:r>
            <a:endParaRPr lang="en-US" sz="1900" dirty="0"/>
          </a:p>
        </p:txBody>
      </p:sp>
      <p:sp>
        <p:nvSpPr>
          <p:cNvPr id="11" name="Text 8"/>
          <p:cNvSpPr txBox="1"/>
          <p:nvPr/>
        </p:nvSpPr>
        <p:spPr>
          <a:xfrm>
            <a:off x="4632960" y="3154680"/>
            <a:ext cx="2895600" cy="1280160"/>
          </a:xfrm>
          <a:prstGeom prst="rect">
            <a:avLst/>
          </a:prstGeom>
          <a:noFill/>
          <a:ln/>
        </p:spPr>
        <p:txBody>
          <a:bodyPr wrap="square" lIns="0" tIns="0" rIns="0" bIns="0" rtlCol="0" anchor="t"/>
          <a:lstStyle/>
          <a:p>
            <a:pPr marL="0" indent="0">
              <a:buNone/>
            </a:pPr>
            <a:r>
              <a:rPr lang="en-US" sz="1500" dirty="0">
                <a:solidFill>
                  <a:schemeClr val="tx1"/>
                </a:solidFill>
              </a:rPr>
              <a:t>Four models, time-aware cross-validation, PCA and t-SNE, Sparkov data from GitHub.</a:t>
            </a:r>
            <a:endParaRPr lang="en-US" sz="1500" dirty="0"/>
          </a:p>
        </p:txBody>
      </p:sp>
      <p:sp>
        <p:nvSpPr>
          <p:cNvPr id="12" name="Card 3"/>
          <p:cNvSpPr/>
          <p:nvPr/>
        </p:nvSpPr>
        <p:spPr>
          <a:xfrm>
            <a:off x="8077200" y="1554480"/>
            <a:ext cx="3444240" cy="3017520"/>
          </a:xfrm>
          <a:prstGeom prst="roundRect">
            <a:avLst>
              <a:gd name="adj" fmla="val 3636"/>
            </a:avLst>
          </a:prstGeom>
          <a:solidFill>
            <a:schemeClr val="bg2"/>
          </a:solidFill>
          <a:ln w="12700">
            <a:solidFill>
              <a:schemeClr val="bg2"/>
            </a:solidFill>
            <a:prstDash val="solid"/>
          </a:ln>
        </p:spPr>
        <p:txBody>
          <a:bodyPr/>
          <a:lstStyle/>
          <a:p>
            <a:endParaRPr lang="en-US"/>
          </a:p>
        </p:txBody>
      </p:sp>
      <p:sp>
        <p:nvSpPr>
          <p:cNvPr id="13" name="Shift in emphasis circle"/>
          <p:cNvSpPr/>
          <p:nvPr/>
        </p:nvSpPr>
        <p:spPr>
          <a:xfrm>
            <a:off x="8351520" y="1828800"/>
            <a:ext cx="640080" cy="640080"/>
          </a:xfrm>
          <a:prstGeom prst="ellipse">
            <a:avLst/>
          </a:prstGeom>
          <a:solidFill>
            <a:schemeClr val="accent1"/>
          </a:solidFill>
          <a:ln w="12700">
            <a:solidFill>
              <a:schemeClr val="accent1"/>
            </a:solidFill>
            <a:prstDash val="solid"/>
          </a:ln>
        </p:spPr>
        <p:txBody>
          <a:bodyPr/>
          <a:lstStyle/>
          <a:p>
            <a:endParaRPr lang="en-US"/>
          </a:p>
        </p:txBody>
      </p:sp>
      <p:sp>
        <p:nvSpPr>
          <p:cNvPr id="14" name="Text 11"/>
          <p:cNvSpPr txBox="1"/>
          <p:nvPr/>
        </p:nvSpPr>
        <p:spPr>
          <a:xfrm>
            <a:off x="8351520" y="2651760"/>
            <a:ext cx="2895600" cy="411480"/>
          </a:xfrm>
          <a:prstGeom prst="rect">
            <a:avLst/>
          </a:prstGeom>
          <a:noFill/>
          <a:ln/>
        </p:spPr>
        <p:txBody>
          <a:bodyPr wrap="square" lIns="0" tIns="0" rIns="0" bIns="0" rtlCol="0" anchor="t"/>
          <a:lstStyle/>
          <a:p>
            <a:pPr marL="0" indent="0">
              <a:buNone/>
            </a:pPr>
            <a:r>
              <a:rPr lang="en-US" sz="1900" b="1" dirty="0">
                <a:solidFill>
                  <a:schemeClr val="tx1"/>
                </a:solidFill>
              </a:rPr>
              <a:t>Shift in emphasis</a:t>
            </a:r>
            <a:endParaRPr lang="en-US" sz="1900" dirty="0"/>
          </a:p>
        </p:txBody>
      </p:sp>
      <p:sp>
        <p:nvSpPr>
          <p:cNvPr id="15" name="Text 12"/>
          <p:cNvSpPr txBox="1"/>
          <p:nvPr/>
        </p:nvSpPr>
        <p:spPr>
          <a:xfrm>
            <a:off x="8351520" y="3154680"/>
            <a:ext cx="2895600" cy="1280160"/>
          </a:xfrm>
          <a:prstGeom prst="rect">
            <a:avLst/>
          </a:prstGeom>
          <a:noFill/>
          <a:ln/>
        </p:spPr>
        <p:txBody>
          <a:bodyPr wrap="square" lIns="0" tIns="0" rIns="0" bIns="0" rtlCol="0" anchor="t"/>
          <a:lstStyle/>
          <a:p>
            <a:pPr marL="0" indent="0">
              <a:buNone/>
            </a:pPr>
            <a:r>
              <a:rPr lang="en-US" sz="1500" dirty="0">
                <a:solidFill>
                  <a:schemeClr val="tx1"/>
                </a:solidFill>
              </a:rPr>
              <a:t>Amount, time, and customer history lead; distance is reported honestly.</a:t>
            </a:r>
            <a:endParaRPr lang="en-US" sz="1500" dirty="0"/>
          </a:p>
        </p:txBody>
      </p:sp>
      <p:sp>
        <p:nvSpPr>
          <p:cNvPr id="16" name="Strip"/>
          <p:cNvSpPr/>
          <p:nvPr/>
        </p:nvSpPr>
        <p:spPr>
          <a:xfrm>
            <a:off x="640080" y="4846320"/>
            <a:ext cx="10881360" cy="1097280"/>
          </a:xfrm>
          <a:prstGeom prst="roundRect">
            <a:avLst>
              <a:gd name="adj" fmla="val 10000"/>
            </a:avLst>
          </a:prstGeom>
          <a:solidFill>
            <a:schemeClr val="bg2"/>
          </a:solidFill>
          <a:ln w="12700">
            <a:solidFill>
              <a:schemeClr val="bg2"/>
            </a:solidFill>
            <a:prstDash val="solid"/>
          </a:ln>
        </p:spPr>
        <p:txBody>
          <a:bodyPr/>
          <a:lstStyle/>
          <a:p>
            <a:endParaRPr lang="en-US"/>
          </a:p>
        </p:txBody>
      </p:sp>
      <p:sp>
        <p:nvSpPr>
          <p:cNvPr id="17" name="Strip circle"/>
          <p:cNvSpPr/>
          <p:nvPr/>
        </p:nvSpPr>
        <p:spPr>
          <a:xfrm>
            <a:off x="914400" y="5029200"/>
            <a:ext cx="731520" cy="731520"/>
          </a:xfrm>
          <a:prstGeom prst="ellipse">
            <a:avLst/>
          </a:prstGeom>
          <a:solidFill>
            <a:schemeClr val="accent3"/>
          </a:solidFill>
          <a:ln w="12700">
            <a:solidFill>
              <a:schemeClr val="accent3"/>
            </a:solidFill>
            <a:prstDash val="solid"/>
          </a:ln>
        </p:spPr>
        <p:txBody>
          <a:bodyPr/>
          <a:lstStyle/>
          <a:p>
            <a:endParaRPr lang="en-US"/>
          </a:p>
        </p:txBody>
      </p:sp>
      <p:sp>
        <p:nvSpPr>
          <p:cNvPr id="18" name="Text 15"/>
          <p:cNvSpPr txBox="1"/>
          <p:nvPr/>
        </p:nvSpPr>
        <p:spPr>
          <a:xfrm>
            <a:off x="1920240" y="5029200"/>
            <a:ext cx="9326880" cy="731520"/>
          </a:xfrm>
          <a:prstGeom prst="rect">
            <a:avLst/>
          </a:prstGeom>
          <a:noFill/>
          <a:ln/>
        </p:spPr>
        <p:txBody>
          <a:bodyPr wrap="square" lIns="0" tIns="0" rIns="0" bIns="0" rtlCol="0" anchor="ctr"/>
          <a:lstStyle/>
          <a:p>
            <a:pPr marL="0" indent="0">
              <a:buNone/>
            </a:pPr>
            <a:r>
              <a:rPr lang="en-US" sz="1600" b="1" dirty="0">
                <a:solidFill>
                  <a:schemeClr val="tx1"/>
                </a:solidFill>
              </a:rPr>
              <a:t>Scope: </a:t>
            </a:r>
            <a:r>
              <a:rPr lang="en-US" sz="1600" dirty="0">
                <a:solidFill>
                  <a:schemeClr val="tx1"/>
                </a:solidFill>
              </a:rPr>
              <a:t>same problem and data source, with broader methods and stronger validation.</a:t>
            </a:r>
            <a:endParaRPr lang="en-US" sz="1600" dirty="0"/>
          </a:p>
        </p:txBody>
      </p:sp>
      <p:pic>
        <p:nvPicPr>
          <p:cNvPr id="19" name="Changes since proposal icon" descr="Changes since proposal"/>
          <p:cNvPicPr>
            <a:picLocks noChangeAspect="1"/>
          </p:cNvPicPr>
          <p:nvPr/>
        </p:nvPicPr>
        <p:blipFill>
          <a:blip r:embed="rId3"/>
          <a:stretch>
            <a:fillRect/>
          </a:stretch>
        </p:blipFill>
        <p:spPr>
          <a:xfrm>
            <a:off x="4773778" y="1969618"/>
            <a:ext cx="358445" cy="358445"/>
          </a:xfrm>
          <a:prstGeom prst="rect">
            <a:avLst/>
          </a:prstGeom>
        </p:spPr>
      </p:pic>
      <p:pic>
        <p:nvPicPr>
          <p:cNvPr id="20" name="Shift in emphasis icon" descr="Shift in emphasis"/>
          <p:cNvPicPr>
            <a:picLocks noChangeAspect="1"/>
          </p:cNvPicPr>
          <p:nvPr/>
        </p:nvPicPr>
        <p:blipFill>
          <a:blip r:embed="rId4"/>
          <a:stretch>
            <a:fillRect/>
          </a:stretch>
        </p:blipFill>
        <p:spPr>
          <a:xfrm>
            <a:off x="8492338" y="1969618"/>
            <a:ext cx="358445" cy="358445"/>
          </a:xfrm>
          <a:prstGeom prst="rect">
            <a:avLst/>
          </a:prstGeom>
        </p:spPr>
      </p:pic>
      <p:pic>
        <p:nvPicPr>
          <p:cNvPr id="21" name="Topic and title icon" descr="Topic and title"/>
          <p:cNvPicPr>
            <a:picLocks noChangeAspect="1"/>
          </p:cNvPicPr>
          <p:nvPr/>
        </p:nvPicPr>
        <p:blipFill>
          <a:blip r:embed="rId5"/>
          <a:stretch>
            <a:fillRect/>
          </a:stretch>
        </p:blipFill>
        <p:spPr>
          <a:xfrm>
            <a:off x="1055218" y="1969618"/>
            <a:ext cx="358445" cy="358445"/>
          </a:xfrm>
          <a:prstGeom prst="rect">
            <a:avLst/>
          </a:prstGeom>
        </p:spPr>
      </p:pic>
      <p:pic>
        <p:nvPicPr>
          <p:cNvPr id="22" name="Strip icon" descr="Strip"/>
          <p:cNvPicPr>
            <a:picLocks noChangeAspect="1"/>
          </p:cNvPicPr>
          <p:nvPr/>
        </p:nvPicPr>
        <p:blipFill>
          <a:blip r:embed="rId6"/>
          <a:stretch>
            <a:fillRect/>
          </a:stretch>
        </p:blipFill>
        <p:spPr>
          <a:xfrm>
            <a:off x="1075334" y="5190134"/>
            <a:ext cx="409651" cy="409651"/>
          </a:xfrm>
          <a:prstGeom prst="rect">
            <a:avLst/>
          </a:prstGeom>
        </p:spPr>
      </p:pic>
      <p:sp>
        <p:nvSpPr>
          <p:cNvPr id="25"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365760"/>
            <a:ext cx="10881360" cy="914400"/>
          </a:xfrm>
          <a:prstGeom prst="rect">
            <a:avLst/>
          </a:prstGeom>
          <a:noFill/>
          <a:ln/>
        </p:spPr>
        <p:txBody>
          <a:bodyPr wrap="square" lIns="0" tIns="0" rIns="0" bIns="0" rtlCol="0" anchor="ctr"/>
          <a:lstStyle/>
          <a:p>
            <a:pPr marL="0" indent="0" algn="l">
              <a:buNone/>
            </a:pPr>
            <a:r>
              <a:rPr lang="en-US" sz="3600" b="1" dirty="0">
                <a:solidFill>
                  <a:schemeClr val="tx1"/>
                </a:solidFill>
              </a:rPr>
              <a:t>Next steps and who does what</a:t>
            </a:r>
            <a:endParaRPr lang="en-US" sz="3600" dirty="0"/>
          </a:p>
        </p:txBody>
      </p:sp>
      <p:sp>
        <p:nvSpPr>
          <p:cNvPr id="4" name="Person Josh"/>
          <p:cNvSpPr/>
          <p:nvPr/>
        </p:nvSpPr>
        <p:spPr>
          <a:xfrm>
            <a:off x="640080" y="1554480"/>
            <a:ext cx="5303520" cy="3200400"/>
          </a:xfrm>
          <a:prstGeom prst="roundRect">
            <a:avLst>
              <a:gd name="adj" fmla="val 3429"/>
            </a:avLst>
          </a:prstGeom>
          <a:solidFill>
            <a:schemeClr val="bg2"/>
          </a:solidFill>
          <a:ln w="12700">
            <a:solidFill>
              <a:schemeClr val="bg2"/>
            </a:solidFill>
            <a:prstDash val="solid"/>
          </a:ln>
        </p:spPr>
        <p:txBody>
          <a:bodyPr/>
          <a:lstStyle/>
          <a:p>
            <a:endParaRPr lang="en-US"/>
          </a:p>
        </p:txBody>
      </p:sp>
      <p:sp>
        <p:nvSpPr>
          <p:cNvPr id="5" name="Josh circle"/>
          <p:cNvSpPr/>
          <p:nvPr/>
        </p:nvSpPr>
        <p:spPr>
          <a:xfrm>
            <a:off x="960120" y="1828800"/>
            <a:ext cx="731520" cy="731520"/>
          </a:xfrm>
          <a:prstGeom prst="ellipse">
            <a:avLst/>
          </a:prstGeom>
          <a:solidFill>
            <a:schemeClr val="accent1"/>
          </a:solidFill>
          <a:ln w="12700">
            <a:solidFill>
              <a:schemeClr val="accent1"/>
            </a:solidFill>
            <a:prstDash val="solid"/>
          </a:ln>
        </p:spPr>
        <p:txBody>
          <a:bodyPr/>
          <a:lstStyle/>
          <a:p>
            <a:endParaRPr lang="en-US"/>
          </a:p>
        </p:txBody>
      </p:sp>
      <p:sp>
        <p:nvSpPr>
          <p:cNvPr id="6" name="Text 3"/>
          <p:cNvSpPr txBox="1"/>
          <p:nvPr/>
        </p:nvSpPr>
        <p:spPr>
          <a:xfrm>
            <a:off x="2011680" y="1920240"/>
            <a:ext cx="3200400" cy="548640"/>
          </a:xfrm>
          <a:prstGeom prst="rect">
            <a:avLst/>
          </a:prstGeom>
          <a:noFill/>
          <a:ln/>
        </p:spPr>
        <p:txBody>
          <a:bodyPr wrap="square" lIns="0" tIns="0" rIns="0" bIns="0" rtlCol="0" anchor="t"/>
          <a:lstStyle/>
          <a:p>
            <a:pPr marL="0" indent="0">
              <a:buNone/>
            </a:pPr>
            <a:r>
              <a:rPr lang="en-US" sz="2600" b="1" dirty="0">
                <a:solidFill>
                  <a:schemeClr val="tx1"/>
                </a:solidFill>
              </a:rPr>
              <a:t>Josh</a:t>
            </a:r>
            <a:endParaRPr lang="en-US" sz="2600" dirty="0"/>
          </a:p>
        </p:txBody>
      </p:sp>
      <p:sp>
        <p:nvSpPr>
          <p:cNvPr id="7" name="Text 4"/>
          <p:cNvSpPr txBox="1"/>
          <p:nvPr/>
        </p:nvSpPr>
        <p:spPr>
          <a:xfrm>
            <a:off x="960120" y="2926080"/>
            <a:ext cx="4663440" cy="1645920"/>
          </a:xfrm>
          <a:prstGeom prst="rect">
            <a:avLst/>
          </a:prstGeom>
          <a:noFill/>
          <a:ln/>
        </p:spPr>
        <p:txBody>
          <a:bodyPr wrap="square" lIns="0" tIns="0" rIns="0" bIns="0" rtlCol="0" anchor="t"/>
          <a:lstStyle/>
          <a:p>
            <a:pPr marL="0" indent="0">
              <a:spcAft>
                <a:spcPts val="800"/>
              </a:spcAft>
              <a:buNone/>
            </a:pPr>
            <a:r>
              <a:rPr lang="en-US" sz="1700" b="1" dirty="0">
                <a:solidFill>
                  <a:schemeClr val="tx1"/>
                </a:solidFill>
              </a:rPr>
              <a:t>Models: </a:t>
            </a:r>
            <a:r>
              <a:rPr lang="en-US" sz="1700" dirty="0">
                <a:solidFill>
                  <a:schemeClr val="tx1"/>
                </a:solidFill>
              </a:rPr>
              <a:t>Logistic regression and Decision tree</a:t>
            </a:r>
            <a:endParaRPr lang="en-US" sz="1700" dirty="0"/>
          </a:p>
          <a:p>
            <a:pPr marL="0" indent="0">
              <a:spcAft>
                <a:spcPts val="800"/>
              </a:spcAft>
              <a:buNone/>
            </a:pPr>
            <a:r>
              <a:rPr lang="en-US" sz="1700" b="1" dirty="0">
                <a:solidFill>
                  <a:schemeClr val="tx1"/>
                </a:solidFill>
              </a:rPr>
              <a:t>Also: </a:t>
            </a:r>
            <a:r>
              <a:rPr lang="en-US" sz="1700" dirty="0">
                <a:solidFill>
                  <a:schemeClr val="tx1"/>
                </a:solidFill>
              </a:rPr>
              <a:t>Feature pipeline and the ablation study</a:t>
            </a:r>
            <a:endParaRPr lang="en-US" sz="1700" dirty="0"/>
          </a:p>
        </p:txBody>
      </p:sp>
      <p:sp>
        <p:nvSpPr>
          <p:cNvPr id="8" name="Person Logan"/>
          <p:cNvSpPr/>
          <p:nvPr/>
        </p:nvSpPr>
        <p:spPr>
          <a:xfrm>
            <a:off x="6217920" y="1554480"/>
            <a:ext cx="5303520" cy="3200400"/>
          </a:xfrm>
          <a:prstGeom prst="roundRect">
            <a:avLst>
              <a:gd name="adj" fmla="val 3429"/>
            </a:avLst>
          </a:prstGeom>
          <a:solidFill>
            <a:schemeClr val="bg2"/>
          </a:solidFill>
          <a:ln w="12700">
            <a:solidFill>
              <a:schemeClr val="bg2"/>
            </a:solidFill>
            <a:prstDash val="solid"/>
          </a:ln>
        </p:spPr>
        <p:txBody>
          <a:bodyPr/>
          <a:lstStyle/>
          <a:p>
            <a:endParaRPr lang="en-US"/>
          </a:p>
        </p:txBody>
      </p:sp>
      <p:sp>
        <p:nvSpPr>
          <p:cNvPr id="9" name="Logan circle"/>
          <p:cNvSpPr/>
          <p:nvPr/>
        </p:nvSpPr>
        <p:spPr>
          <a:xfrm>
            <a:off x="6537960" y="1828800"/>
            <a:ext cx="731520" cy="731520"/>
          </a:xfrm>
          <a:prstGeom prst="ellipse">
            <a:avLst/>
          </a:prstGeom>
          <a:solidFill>
            <a:schemeClr val="accent1"/>
          </a:solidFill>
          <a:ln w="12700">
            <a:solidFill>
              <a:schemeClr val="accent1"/>
            </a:solidFill>
            <a:prstDash val="solid"/>
          </a:ln>
        </p:spPr>
        <p:txBody>
          <a:bodyPr/>
          <a:lstStyle/>
          <a:p>
            <a:endParaRPr lang="en-US"/>
          </a:p>
        </p:txBody>
      </p:sp>
      <p:sp>
        <p:nvSpPr>
          <p:cNvPr id="10" name="Text 7"/>
          <p:cNvSpPr txBox="1"/>
          <p:nvPr/>
        </p:nvSpPr>
        <p:spPr>
          <a:xfrm>
            <a:off x="7589520" y="1920240"/>
            <a:ext cx="3200400" cy="548640"/>
          </a:xfrm>
          <a:prstGeom prst="rect">
            <a:avLst/>
          </a:prstGeom>
          <a:noFill/>
          <a:ln/>
        </p:spPr>
        <p:txBody>
          <a:bodyPr wrap="square" lIns="0" tIns="0" rIns="0" bIns="0" rtlCol="0" anchor="t"/>
          <a:lstStyle/>
          <a:p>
            <a:pPr marL="0" indent="0">
              <a:buNone/>
            </a:pPr>
            <a:r>
              <a:rPr lang="en-US" sz="2600" b="1" dirty="0">
                <a:solidFill>
                  <a:schemeClr val="tx1"/>
                </a:solidFill>
              </a:rPr>
              <a:t>Logan</a:t>
            </a:r>
            <a:endParaRPr lang="en-US" sz="2600" dirty="0"/>
          </a:p>
        </p:txBody>
      </p:sp>
      <p:sp>
        <p:nvSpPr>
          <p:cNvPr id="11" name="Text 8"/>
          <p:cNvSpPr txBox="1"/>
          <p:nvPr/>
        </p:nvSpPr>
        <p:spPr>
          <a:xfrm>
            <a:off x="6537960" y="2926080"/>
            <a:ext cx="4663440" cy="1645920"/>
          </a:xfrm>
          <a:prstGeom prst="rect">
            <a:avLst/>
          </a:prstGeom>
          <a:noFill/>
          <a:ln/>
        </p:spPr>
        <p:txBody>
          <a:bodyPr wrap="square" lIns="0" tIns="0" rIns="0" bIns="0" rtlCol="0" anchor="t"/>
          <a:lstStyle/>
          <a:p>
            <a:pPr marL="0" indent="0">
              <a:spcAft>
                <a:spcPts val="800"/>
              </a:spcAft>
              <a:buNone/>
            </a:pPr>
            <a:r>
              <a:rPr lang="en-US" sz="1700" b="1" dirty="0">
                <a:solidFill>
                  <a:schemeClr val="tx1"/>
                </a:solidFill>
              </a:rPr>
              <a:t>Models: </a:t>
            </a:r>
            <a:r>
              <a:rPr lang="en-US" sz="1700" dirty="0">
                <a:solidFill>
                  <a:schemeClr val="tx1"/>
                </a:solidFill>
              </a:rPr>
              <a:t>Random forest and Gradient boosting</a:t>
            </a:r>
            <a:endParaRPr lang="en-US" sz="1700" dirty="0"/>
          </a:p>
          <a:p>
            <a:pPr marL="0" indent="0">
              <a:spcAft>
                <a:spcPts val="800"/>
              </a:spcAft>
              <a:buNone/>
            </a:pPr>
            <a:r>
              <a:rPr lang="en-US" sz="1700" b="1" dirty="0">
                <a:solidFill>
                  <a:schemeClr val="tx1"/>
                </a:solidFill>
              </a:rPr>
              <a:t>Also: </a:t>
            </a:r>
            <a:r>
              <a:rPr lang="en-US" sz="1700" dirty="0">
                <a:solidFill>
                  <a:schemeClr val="tx1"/>
                </a:solidFill>
              </a:rPr>
              <a:t>Deeper tuning and threshold choice</a:t>
            </a:r>
            <a:endParaRPr lang="en-US" sz="1700" dirty="0"/>
          </a:p>
        </p:txBody>
      </p:sp>
      <p:sp>
        <p:nvSpPr>
          <p:cNvPr id="12" name="Strip"/>
          <p:cNvSpPr/>
          <p:nvPr/>
        </p:nvSpPr>
        <p:spPr>
          <a:xfrm>
            <a:off x="640080" y="5029200"/>
            <a:ext cx="10881360" cy="1097280"/>
          </a:xfrm>
          <a:prstGeom prst="roundRect">
            <a:avLst>
              <a:gd name="adj" fmla="val 10000"/>
            </a:avLst>
          </a:prstGeom>
          <a:solidFill>
            <a:schemeClr val="bg2"/>
          </a:solidFill>
          <a:ln w="12700">
            <a:solidFill>
              <a:schemeClr val="bg2"/>
            </a:solidFill>
            <a:prstDash val="solid"/>
          </a:ln>
        </p:spPr>
        <p:txBody>
          <a:bodyPr/>
          <a:lstStyle/>
          <a:p>
            <a:endParaRPr lang="en-US"/>
          </a:p>
        </p:txBody>
      </p:sp>
      <p:sp>
        <p:nvSpPr>
          <p:cNvPr id="13" name="Strip circle"/>
          <p:cNvSpPr/>
          <p:nvPr/>
        </p:nvSpPr>
        <p:spPr>
          <a:xfrm>
            <a:off x="914400" y="5212080"/>
            <a:ext cx="731520" cy="731520"/>
          </a:xfrm>
          <a:prstGeom prst="ellipse">
            <a:avLst/>
          </a:prstGeom>
          <a:solidFill>
            <a:schemeClr val="accent3"/>
          </a:solidFill>
          <a:ln w="12700">
            <a:solidFill>
              <a:schemeClr val="accent3"/>
            </a:solidFill>
            <a:prstDash val="solid"/>
          </a:ln>
        </p:spPr>
        <p:txBody>
          <a:bodyPr/>
          <a:lstStyle/>
          <a:p>
            <a:endParaRPr lang="en-US"/>
          </a:p>
        </p:txBody>
      </p:sp>
      <p:sp>
        <p:nvSpPr>
          <p:cNvPr id="14" name="Text 11"/>
          <p:cNvSpPr txBox="1"/>
          <p:nvPr/>
        </p:nvSpPr>
        <p:spPr>
          <a:xfrm>
            <a:off x="1920240" y="5212080"/>
            <a:ext cx="9326880" cy="731520"/>
          </a:xfrm>
          <a:prstGeom prst="rect">
            <a:avLst/>
          </a:prstGeom>
          <a:noFill/>
          <a:ln/>
        </p:spPr>
        <p:txBody>
          <a:bodyPr wrap="square" lIns="0" tIns="0" rIns="0" bIns="0" rtlCol="0" anchor="ctr"/>
          <a:lstStyle/>
          <a:p>
            <a:pPr marL="0" indent="0">
              <a:buNone/>
            </a:pPr>
            <a:r>
              <a:rPr lang="en-US" sz="1600" b="1" dirty="0">
                <a:solidFill>
                  <a:schemeClr val="tx1"/>
                </a:solidFill>
              </a:rPr>
              <a:t>Together: </a:t>
            </a:r>
            <a:r>
              <a:rPr lang="en-US" sz="1600" dirty="0">
                <a:solidFill>
                  <a:schemeClr val="tx1"/>
                </a:solidFill>
              </a:rPr>
              <a:t>scoring demo, final deck (Nov 22), report (Dec 6), and the GitHub repo.</a:t>
            </a:r>
            <a:endParaRPr lang="en-US" sz="1600" dirty="0"/>
          </a:p>
        </p:txBody>
      </p:sp>
      <p:pic>
        <p:nvPicPr>
          <p:cNvPr id="15" name="Josh icon" descr="Josh"/>
          <p:cNvPicPr>
            <a:picLocks noChangeAspect="1"/>
          </p:cNvPicPr>
          <p:nvPr/>
        </p:nvPicPr>
        <p:blipFill>
          <a:blip r:embed="rId3"/>
          <a:stretch>
            <a:fillRect/>
          </a:stretch>
        </p:blipFill>
        <p:spPr>
          <a:xfrm>
            <a:off x="1121054" y="1989734"/>
            <a:ext cx="409651" cy="409651"/>
          </a:xfrm>
          <a:prstGeom prst="rect">
            <a:avLst/>
          </a:prstGeom>
        </p:spPr>
      </p:pic>
      <p:pic>
        <p:nvPicPr>
          <p:cNvPr id="16" name="Logan icon" descr="Logan"/>
          <p:cNvPicPr>
            <a:picLocks noChangeAspect="1"/>
          </p:cNvPicPr>
          <p:nvPr/>
        </p:nvPicPr>
        <p:blipFill>
          <a:blip r:embed="rId4"/>
          <a:stretch>
            <a:fillRect/>
          </a:stretch>
        </p:blipFill>
        <p:spPr>
          <a:xfrm>
            <a:off x="6698894" y="1989734"/>
            <a:ext cx="409651" cy="409651"/>
          </a:xfrm>
          <a:prstGeom prst="rect">
            <a:avLst/>
          </a:prstGeom>
        </p:spPr>
      </p:pic>
      <p:pic>
        <p:nvPicPr>
          <p:cNvPr id="17" name="Strip icon" descr="Strip"/>
          <p:cNvPicPr>
            <a:picLocks noChangeAspect="1"/>
          </p:cNvPicPr>
          <p:nvPr/>
        </p:nvPicPr>
        <p:blipFill>
          <a:blip r:embed="rId5"/>
          <a:stretch>
            <a:fillRect/>
          </a:stretch>
        </p:blipFill>
        <p:spPr>
          <a:xfrm>
            <a:off x="1075334" y="5373014"/>
            <a:ext cx="409651" cy="409651"/>
          </a:xfrm>
          <a:prstGeom prst="rect">
            <a:avLst/>
          </a:prstGeom>
        </p:spPr>
      </p:pic>
      <p:sp>
        <p:nvSpPr>
          <p:cNvPr id="25" name="Slide Number Placeholder 0"/>
          <p:cNvSpPr>
            <a:spLocks noGrp="1"/>
          </p:cNvSpPr>
          <p:nvPr>
            <p:ph type="sldNum" sz="quarter" idx="4294967295"/>
          </p:nvPr>
        </p:nvSpPr>
        <p:spPr>
          <a:xfrm>
            <a:off x="10881360" y="635508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theme/theme1.xml><?xml version="1.0" encoding="utf-8"?>
<a:theme xmlns:a="http://schemas.openxmlformats.org/drawingml/2006/main" name="Fraud Signal">
  <a:themeElements>
    <a:clrScheme name="Fraud Signal">
      <a:dk1>
        <a:srgbClr val="17252A"/>
      </a:dk1>
      <a:lt1>
        <a:srgbClr val="FFFFFF"/>
      </a:lt1>
      <a:dk2>
        <a:srgbClr val="2B7A78"/>
      </a:dk2>
      <a:lt2>
        <a:srgbClr val="E3F4F2"/>
      </a:lt2>
      <a:accent1>
        <a:srgbClr val="2B7A78"/>
      </a:accent1>
      <a:accent2>
        <a:srgbClr val="E4572E"/>
      </a:accent2>
      <a:accent3>
        <a:srgbClr val="F2B134"/>
      </a:accent3>
      <a:accent4>
        <a:srgbClr val="3AAFA9"/>
      </a:accent4>
      <a:accent5>
        <a:srgbClr val="5C6B73"/>
      </a:accent5>
      <a:accent6>
        <a:srgbClr val="9BC1BC"/>
      </a:accent6>
      <a:hlink>
        <a:srgbClr val="2B7A78"/>
      </a:hlink>
      <a:folHlink>
        <a:srgbClr val="5C6B73"/>
      </a:folHlink>
    </a:clrScheme>
    <a:fontScheme name="Fraud Sign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1869</Words>
  <Application>Microsoft Office PowerPoint</Application>
  <PresentationFormat>Widescreen</PresentationFormat>
  <Paragraphs>139</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Fraud Signal</vt:lpstr>
      <vt:lpstr>Fraud Detection: Intermediate Update</vt:lpstr>
      <vt:lpstr>Where we left off</vt:lpstr>
      <vt:lpstr>Progress against our proposal</vt:lpstr>
      <vt:lpstr>Data: generated and validated</vt:lpstr>
      <vt:lpstr>Features built so far</vt:lpstr>
      <vt:lpstr>Dimensionality reduction: PCA</vt:lpstr>
      <vt:lpstr>t-SNE and PCA in the models</vt:lpstr>
      <vt:lpstr>Time-aware cross-validation</vt:lpstr>
      <vt:lpstr>Early model results</vt:lpstr>
      <vt:lpstr>Limitations</vt:lpstr>
      <vt:lpstr>Scope and changes since proposal</vt:lpstr>
      <vt:lpstr>Next steps and who does what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Fraud Detection - ML Project Intermediate Update</dc:title>
  <dc:subject>PptxGenJS Presentation</dc:subject>
  <dc:creator>PptxGenJS</dc:creator>
  <cp:lastModifiedBy>Logan Digilormo</cp:lastModifiedBy>
  <cp:revision>1</cp:revision>
  <dcterms:created xsi:type="dcterms:W3CDTF">2026-10-29T23:40:05Z</dcterms:created>
  <dcterms:modified xsi:type="dcterms:W3CDTF">2026-10-30T18:18:49Z</dcterms:modified>
</cp:coreProperties>
</file>