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posal" id="{bab23fcc-343b-953b-7ef4-e71b4c63a7d4}">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Hi everyone, I'm Josh, and this is Logan. Our project is about detecting credit card fraud using machine learning. We'll walk you through the problem, our data, how we plan to model it, and what we expect to get out of it. Logan will start with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Thanks, Josh. Our goal is to predict whether a credit card transaction is fraud, based on things like the amount, category, time, and location. A big signal is where the purchase happened. If it's far from the cardholder's home, or just out of pattern for that person, it looks suspicious. The challenge is that fraud is a tiny fraction of all transactions. On this slide, one dot in a hundred is fraud, and in our generated data it's about 1.2 in a hundred, so the model has to find a few needles in a very large haystack. Josh will tell you where our data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For data, we're using the Sparkov Data Generation tool, which is public on GitHub. It simulates credit card transactions, including fraud. It gives us customers with a home location, merchants with a category and location, amounts, timestamps, and a fraud label. Since it's simulated, there's no private or personal data involved, and we can generate as much as we need. Logan will explain what we do with it.
Source: https://github.com/namebrandon/Sparkov_Data_Generation. Confirm exact column names after generating the CSVs.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Raw columns only get us so far, so we'll build features that capture normal card behavior. For location, we'll calculate the distance from the customer's home to the merchant. For time, we'll use hour of day, weekend, and customer age. For behavior, we'll compare each amount to the customer's average and count how many transactions happened in the past hour and day. And for movement, we'll look at how much time and distance has passed since their previous transaction. All of these only use past transactions, so nothing from the future leaks into training. Josh will cover the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Thanks, Logan. We're comparing four models, from simple to powerful. Logistic regression is our baseline. It learns a weight for each feature and outputs a fraud probability. A decision tree is a single flowchart of yes/no questions, which is easy to read but can overfit. A random forest combines hundreds of trees that vote, which captures non-linear patterns and shows which features matter most. And gradient boosting builds trees one after another, each fixing the last one's mistakes, and it's often the strongest on tables like ours. To deal with the imbalance, we'll use class weights, so every model treats a missed fraud as more costly than a false alarm. We'll build everything in Python with scikit-learn and XGBoost or LightGBM. Logan will explain how we measure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We can't use accuracy here. Fraud is only about 1.2% of our transactions, so a model that says "not fraud" every single time is 98.8% accurate and catches nothing. So we'll use precision, which is how many flagged transactions are really fraud, and recall, which is how much of the real fraud we catch. F1 combines the two, and that will be our main number for comparing models. Josh will walk through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Here's the plan from start to finish. First, we generate the data and load it into pandas. Second, we preprocess it: drop identifiers like name, street, and card number, parse timestamps, one-hot encode categories, and scale inputs for logistic regression. Third, we engineer the features Logan described. Fourth, we split by time, training on earlier transactions and testing on later ones, like a real fraud system would. Fifth, we train and compare all four models and tune them on a validation set. And last, we evaluate with our metrics and run a demo on hand-built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There's an existing project on GitHub by sharmasapna that also classifies fraud on Sparkov data, about 1.3 million transactions across 1,000 customers and 800 merchants. Our focus is a bit different: the distance-from-home feature, per-customer behavior features, a time-based split, a four-model comparison with precision, recall, and F1, and a scoring demo.
Source: https://github.com/sharmasapna/credit-card-fraud-detection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We expect the random forest and gradient boosting to beat the logistic regression baseline on recall and F1. We also expect the distance and behavior features to rank high in feature importance. And we'll end with a working demo that scores normal and suspicious hand-built transactions. One limitation is that the data is simulated, so results may not transfer directly to real-world spending. Logan will close with the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For the timeline, today is the proposal. By the intermediate presentation, we'll have the data generated, features built, and baseline results, along with limitations. By the final presentation, all four models will be tuned and compared with the demo working. The final report and code go on GitHub on December 6th. Thanks,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7498080" cy="23774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4297680"/>
            <a:ext cx="74980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640080" y="635508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Credit Card Fraud Detection  |  ML Project Proposal</a:t>
            </a:r>
            <a:endParaRPr lang="en-US" sz="10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7498080" cy="2377440"/>
          </a:xfrm>
          <a:prstGeom prst="rect">
            <a:avLst/>
          </a:prstGeom>
          <a:noFill/>
          <a:ln/>
        </p:spPr>
        <p:txBody>
          <a:bodyPr wrap="square" lIns="0" tIns="0" rIns="0" bIns="0" rtlCol="0" anchor="b"/>
          <a:lstStyle/>
          <a:p>
            <a:pPr algn="l" indent="0" marL="0">
              <a:buNone/>
            </a:pPr>
            <a:r>
              <a:rPr lang="en-US" sz="4800" b="1" dirty="0">
                <a:solidFill>
                  <a:schemeClr val="bg1"/>
                </a:solidFill>
              </a:rPr>
              <a:t>Detecting Credit Card Fraud with Machine Learning</a:t>
            </a:r>
            <a:endParaRPr lang="en-US" sz="4800" dirty="0"/>
          </a:p>
        </p:txBody>
      </p:sp>
      <p:sp>
        <p:nvSpPr>
          <p:cNvPr id="3" name="Text 0"/>
          <p:cNvSpPr/>
          <p:nvPr>
            <p:ph idx="101" type="body" hasCustomPrompt="1"/>
          </p:nvPr>
        </p:nvSpPr>
        <p:spPr>
          <a:xfrm>
            <a:off x="731520" y="4297680"/>
            <a:ext cx="7498080" cy="914400"/>
          </a:xfrm>
          <a:prstGeom prst="rect">
            <a:avLst/>
          </a:prstGeom>
          <a:noFill/>
          <a:ln/>
        </p:spPr>
        <p:txBody>
          <a:bodyPr wrap="square" lIns="0" tIns="0" rIns="0" bIns="0" rtlCol="0" anchor="t"/>
          <a:lstStyle/>
          <a:p>
            <a:pPr indent="0" marL="0">
              <a:buNone/>
            </a:pPr>
            <a:r>
              <a:rPr lang="en-US" sz="2000" dirty="0">
                <a:solidFill>
                  <a:schemeClr val="bg2"/>
                </a:solidFill>
              </a:rPr>
              <a:t>Machine Learning Project Proposal</a:t>
            </a:r>
            <a:endParaRPr lang="en-US" sz="2000" dirty="0"/>
          </a:p>
          <a:p>
            <a:pPr indent="0" marL="0">
              <a:buNone/>
            </a:pPr>
            <a:r>
              <a:rPr lang="en-US" sz="2000" dirty="0">
                <a:solidFill>
                  <a:schemeClr val="bg2"/>
                </a:solidFill>
              </a:rPr>
              <a:t>Joshua Francis and Logan Digilormo</a:t>
            </a:r>
            <a:endParaRPr lang="en-US" sz="2000" dirty="0"/>
          </a:p>
        </p:txBody>
      </p:sp>
      <p:sp>
        <p:nvSpPr>
          <p:cNvPr id="4" name="Decor circle 1"/>
          <p:cNvSpPr/>
          <p:nvPr/>
        </p:nvSpPr>
        <p:spPr>
          <a:xfrm>
            <a:off x="8229600" y="1371600"/>
            <a:ext cx="2926080" cy="2926080"/>
          </a:xfrm>
          <a:prstGeom prst="ellipse">
            <a:avLst/>
          </a:prstGeom>
          <a:solidFill>
            <a:schemeClr val="accent1">
              <a:alpha val="45000"/>
            </a:schemeClr>
          </a:solidFill>
          <a:ln w="12700">
            <a:solidFill>
              <a:schemeClr val="accent1">
                <a:alpha val="45000"/>
              </a:schemeClr>
            </a:solidFill>
            <a:prstDash val="solid"/>
          </a:ln>
        </p:spPr>
      </p:sp>
      <p:sp>
        <p:nvSpPr>
          <p:cNvPr id="5" name="Decor circle 2"/>
          <p:cNvSpPr/>
          <p:nvPr/>
        </p:nvSpPr>
        <p:spPr>
          <a:xfrm>
            <a:off x="10241280" y="4114800"/>
            <a:ext cx="1645920" cy="1645920"/>
          </a:xfrm>
          <a:prstGeom prst="ellipse">
            <a:avLst/>
          </a:prstGeom>
          <a:solidFill>
            <a:schemeClr val="accent4">
              <a:alpha val="50000"/>
            </a:schemeClr>
          </a:solidFill>
          <a:ln w="12700">
            <a:solidFill>
              <a:schemeClr val="accent4">
                <a:alpha val="50000"/>
              </a:schemeClr>
            </a:solidFill>
            <a:prstDash val="solid"/>
          </a:ln>
        </p:spPr>
      </p:sp>
      <p:sp>
        <p:nvSpPr>
          <p:cNvPr id="6" name="Decor circle 3"/>
          <p:cNvSpPr/>
          <p:nvPr/>
        </p:nvSpPr>
        <p:spPr>
          <a:xfrm>
            <a:off x="8503920" y="4754880"/>
            <a:ext cx="1005840" cy="1005840"/>
          </a:xfrm>
          <a:prstGeom prst="ellipse">
            <a:avLst/>
          </a:prstGeom>
          <a:solidFill>
            <a:schemeClr val="accent6">
              <a:alpha val="40000"/>
            </a:schemeClr>
          </a:solidFill>
          <a:ln w="12700">
            <a:solidFill>
              <a:schemeClr val="accent6">
                <a:alpha val="40000"/>
              </a:schemeClr>
            </a:solidFill>
            <a:prstDash val="solid"/>
          </a:ln>
        </p:spPr>
      </p:sp>
      <p:sp>
        <p:nvSpPr>
          <p:cNvPr id="7" name="Decor circle 4"/>
          <p:cNvSpPr/>
          <p:nvPr/>
        </p:nvSpPr>
        <p:spPr>
          <a:xfrm>
            <a:off x="10607040" y="1554480"/>
            <a:ext cx="640080" cy="640080"/>
          </a:xfrm>
          <a:prstGeom prst="ellipse">
            <a:avLst/>
          </a:prstGeom>
          <a:solidFill>
            <a:schemeClr val="accent6">
              <a:alpha val="60000"/>
            </a:schemeClr>
          </a:solidFill>
          <a:ln w="12700">
            <a:solidFill>
              <a:schemeClr val="accent6">
                <a:alpha val="60000"/>
              </a:schemeClr>
            </a:solidFill>
            <a:prstDash val="solid"/>
          </a:ln>
        </p:spPr>
      </p:sp>
      <p:sp>
        <p:nvSpPr>
          <p:cNvPr id="8" name="Decor circle 5"/>
          <p:cNvSpPr/>
          <p:nvPr/>
        </p:nvSpPr>
        <p:spPr>
          <a:xfrm>
            <a:off x="9966960" y="2651760"/>
            <a:ext cx="411480" cy="411480"/>
          </a:xfrm>
          <a:prstGeom prst="ellipse">
            <a:avLst/>
          </a:prstGeom>
          <a:solidFill>
            <a:schemeClr val="accent4">
              <a:alpha val="70000"/>
            </a:schemeClr>
          </a:solidFill>
          <a:ln w="12700">
            <a:solidFill>
              <a:schemeClr val="accent4">
                <a:alpha val="70000"/>
              </a:schemeClr>
            </a:solidFill>
            <a:prstDash val="solid"/>
          </a:ln>
        </p:spPr>
      </p:sp>
      <p:sp>
        <p:nvSpPr>
          <p:cNvPr id="9" name="Decor circle 6"/>
          <p:cNvSpPr/>
          <p:nvPr/>
        </p:nvSpPr>
        <p:spPr>
          <a:xfrm>
            <a:off x="7955280" y="3566160"/>
            <a:ext cx="457200" cy="457200"/>
          </a:xfrm>
          <a:prstGeom prst="ellipse">
            <a:avLst/>
          </a:prstGeom>
          <a:solidFill>
            <a:schemeClr val="accent4">
              <a:alpha val="55000"/>
            </a:schemeClr>
          </a:solidFill>
          <a:ln w="12700">
            <a:solidFill>
              <a:schemeClr val="accent4">
                <a:alpha val="55000"/>
              </a:schemeClr>
            </a:solidFill>
            <a:prstDash val="solid"/>
          </a:ln>
        </p:spPr>
      </p:sp>
      <p:sp>
        <p:nvSpPr>
          <p:cNvPr id="10" name="Flagged transaction dot"/>
          <p:cNvSpPr/>
          <p:nvPr/>
        </p:nvSpPr>
        <p:spPr>
          <a:xfrm>
            <a:off x="9326880" y="3200400"/>
            <a:ext cx="548640" cy="548640"/>
          </a:xfrm>
          <a:prstGeom prst="ellipse">
            <a:avLst/>
          </a:prstGeom>
          <a:solidFill>
            <a:schemeClr val="accent2"/>
          </a:solidFill>
          <a:ln w="12700">
            <a:solidFill>
              <a:schemeClr val="accent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Fraud is rare, costly, and hard to spot</a:t>
            </a:r>
            <a:endParaRPr lang="en-US" sz="3600" dirty="0"/>
          </a:p>
        </p:txBody>
      </p:sp>
      <p:sp>
        <p:nvSpPr>
          <p:cNvPr id="3" name="Problem label 1"/>
          <p:cNvSpPr txBox="1"/>
          <p:nvPr/>
        </p:nvSpPr>
        <p:spPr>
          <a:xfrm>
            <a:off x="640080" y="1600200"/>
            <a:ext cx="5852160" cy="365760"/>
          </a:xfrm>
          <a:prstGeom prst="rect">
            <a:avLst/>
          </a:prstGeom>
          <a:noFill/>
          <a:ln/>
        </p:spPr>
        <p:txBody>
          <a:bodyPr wrap="square" lIns="0" tIns="0" rIns="0" bIns="0" rtlCol="0" anchor="t"/>
          <a:lstStyle/>
          <a:p>
            <a:pPr indent="0" marL="0">
              <a:buNone/>
            </a:pPr>
            <a:r>
              <a:rPr lang="en-US" sz="2000" b="1" dirty="0">
                <a:solidFill>
                  <a:schemeClr val="accent1"/>
                </a:solidFill>
              </a:rPr>
              <a:t>The goal</a:t>
            </a:r>
            <a:endParaRPr lang="en-US" sz="2000" dirty="0"/>
          </a:p>
        </p:txBody>
      </p:sp>
      <p:sp>
        <p:nvSpPr>
          <p:cNvPr id="4" name="Problem text 1"/>
          <p:cNvSpPr txBox="1"/>
          <p:nvPr/>
        </p:nvSpPr>
        <p:spPr>
          <a:xfrm>
            <a:off x="640080" y="2057400"/>
            <a:ext cx="5852160" cy="914400"/>
          </a:xfrm>
          <a:prstGeom prst="rect">
            <a:avLst/>
          </a:prstGeom>
          <a:noFill/>
          <a:ln/>
        </p:spPr>
        <p:txBody>
          <a:bodyPr wrap="square" lIns="0" tIns="0" rIns="0" bIns="0" rtlCol="0" anchor="t"/>
          <a:lstStyle/>
          <a:p>
            <a:pPr indent="0" marL="0">
              <a:buNone/>
            </a:pPr>
            <a:r>
              <a:rPr lang="en-US" sz="1600" dirty="0">
                <a:solidFill>
                  <a:schemeClr val="tx1"/>
                </a:solidFill>
              </a:rPr>
              <a:t>Predict whether a credit card transaction is fraud, using its amount, category, time, and location.</a:t>
            </a:r>
            <a:endParaRPr lang="en-US" sz="1600" dirty="0"/>
          </a:p>
        </p:txBody>
      </p:sp>
      <p:sp>
        <p:nvSpPr>
          <p:cNvPr id="5" name="Problem label 2"/>
          <p:cNvSpPr txBox="1"/>
          <p:nvPr/>
        </p:nvSpPr>
        <p:spPr>
          <a:xfrm>
            <a:off x="640080" y="3108960"/>
            <a:ext cx="5852160" cy="365760"/>
          </a:xfrm>
          <a:prstGeom prst="rect">
            <a:avLst/>
          </a:prstGeom>
          <a:noFill/>
          <a:ln/>
        </p:spPr>
        <p:txBody>
          <a:bodyPr wrap="square" lIns="0" tIns="0" rIns="0" bIns="0" rtlCol="0" anchor="t"/>
          <a:lstStyle/>
          <a:p>
            <a:pPr indent="0" marL="0">
              <a:buNone/>
            </a:pPr>
            <a:r>
              <a:rPr lang="en-US" sz="2000" b="1" dirty="0">
                <a:solidFill>
                  <a:schemeClr val="accent1"/>
                </a:solidFill>
              </a:rPr>
              <a:t>The key signal</a:t>
            </a:r>
            <a:endParaRPr lang="en-US" sz="2000" dirty="0"/>
          </a:p>
        </p:txBody>
      </p:sp>
      <p:sp>
        <p:nvSpPr>
          <p:cNvPr id="6" name="Problem text 2"/>
          <p:cNvSpPr txBox="1"/>
          <p:nvPr/>
        </p:nvSpPr>
        <p:spPr>
          <a:xfrm>
            <a:off x="640080" y="3566160"/>
            <a:ext cx="5852160" cy="914400"/>
          </a:xfrm>
          <a:prstGeom prst="rect">
            <a:avLst/>
          </a:prstGeom>
          <a:noFill/>
          <a:ln/>
        </p:spPr>
        <p:txBody>
          <a:bodyPr wrap="square" lIns="0" tIns="0" rIns="0" bIns="0" rtlCol="0" anchor="t"/>
          <a:lstStyle/>
          <a:p>
            <a:pPr indent="0" marL="0">
              <a:buNone/>
            </a:pPr>
            <a:r>
              <a:rPr lang="en-US" sz="1600" dirty="0">
                <a:solidFill>
                  <a:schemeClr val="tx1"/>
                </a:solidFill>
              </a:rPr>
              <a:t>A purchase far from the cardholder's home, or out of pattern for that cardholder, is more suspicious.</a:t>
            </a:r>
            <a:endParaRPr lang="en-US" sz="1600" dirty="0"/>
          </a:p>
        </p:txBody>
      </p:sp>
      <p:sp>
        <p:nvSpPr>
          <p:cNvPr id="7" name="Problem label 3"/>
          <p:cNvSpPr txBox="1"/>
          <p:nvPr/>
        </p:nvSpPr>
        <p:spPr>
          <a:xfrm>
            <a:off x="640080" y="4617720"/>
            <a:ext cx="5852160" cy="365760"/>
          </a:xfrm>
          <a:prstGeom prst="rect">
            <a:avLst/>
          </a:prstGeom>
          <a:noFill/>
          <a:ln/>
        </p:spPr>
        <p:txBody>
          <a:bodyPr wrap="square" lIns="0" tIns="0" rIns="0" bIns="0" rtlCol="0" anchor="t"/>
          <a:lstStyle/>
          <a:p>
            <a:pPr indent="0" marL="0">
              <a:buNone/>
            </a:pPr>
            <a:r>
              <a:rPr lang="en-US" sz="2000" b="1" dirty="0">
                <a:solidFill>
                  <a:schemeClr val="accent1"/>
                </a:solidFill>
              </a:rPr>
              <a:t>The challenge</a:t>
            </a:r>
            <a:endParaRPr lang="en-US" sz="2000" dirty="0"/>
          </a:p>
        </p:txBody>
      </p:sp>
      <p:sp>
        <p:nvSpPr>
          <p:cNvPr id="8" name="Problem text 3"/>
          <p:cNvSpPr txBox="1"/>
          <p:nvPr/>
        </p:nvSpPr>
        <p:spPr>
          <a:xfrm>
            <a:off x="640080" y="5074920"/>
            <a:ext cx="5852160" cy="914400"/>
          </a:xfrm>
          <a:prstGeom prst="rect">
            <a:avLst/>
          </a:prstGeom>
          <a:noFill/>
          <a:ln/>
        </p:spPr>
        <p:txBody>
          <a:bodyPr wrap="square" lIns="0" tIns="0" rIns="0" bIns="0" rtlCol="0" anchor="t"/>
          <a:lstStyle/>
          <a:p>
            <a:pPr indent="0" marL="0">
              <a:buNone/>
            </a:pPr>
            <a:r>
              <a:rPr lang="en-US" sz="1600" dirty="0">
                <a:solidFill>
                  <a:schemeClr val="tx1"/>
                </a:solidFill>
              </a:rPr>
              <a:t>Fraud is a tiny fraction of transactions, so the model has to find a few needles in a very large haystack.</a:t>
            </a:r>
            <a:endParaRPr lang="en-US" sz="1600" dirty="0"/>
          </a:p>
        </p:txBody>
      </p:sp>
      <p:sp>
        <p:nvSpPr>
          <p:cNvPr id="9" name="Normal dot 1"/>
          <p:cNvSpPr/>
          <p:nvPr/>
        </p:nvSpPr>
        <p:spPr>
          <a:xfrm>
            <a:off x="7315200" y="1600200"/>
            <a:ext cx="310896" cy="310896"/>
          </a:xfrm>
          <a:prstGeom prst="ellipse">
            <a:avLst/>
          </a:prstGeom>
          <a:solidFill>
            <a:schemeClr val="accent6"/>
          </a:solidFill>
          <a:ln w="12700">
            <a:solidFill>
              <a:schemeClr val="accent6"/>
            </a:solidFill>
            <a:prstDash val="solid"/>
          </a:ln>
        </p:spPr>
      </p:sp>
      <p:sp>
        <p:nvSpPr>
          <p:cNvPr id="10" name="Normal dot 2"/>
          <p:cNvSpPr/>
          <p:nvPr/>
        </p:nvSpPr>
        <p:spPr>
          <a:xfrm>
            <a:off x="7726680" y="1600200"/>
            <a:ext cx="310896" cy="310896"/>
          </a:xfrm>
          <a:prstGeom prst="ellipse">
            <a:avLst/>
          </a:prstGeom>
          <a:solidFill>
            <a:schemeClr val="accent6"/>
          </a:solidFill>
          <a:ln w="12700">
            <a:solidFill>
              <a:schemeClr val="accent6"/>
            </a:solidFill>
            <a:prstDash val="solid"/>
          </a:ln>
        </p:spPr>
      </p:sp>
      <p:sp>
        <p:nvSpPr>
          <p:cNvPr id="11" name="Normal dot 3"/>
          <p:cNvSpPr/>
          <p:nvPr/>
        </p:nvSpPr>
        <p:spPr>
          <a:xfrm>
            <a:off x="8138160" y="1600200"/>
            <a:ext cx="310896" cy="310896"/>
          </a:xfrm>
          <a:prstGeom prst="ellipse">
            <a:avLst/>
          </a:prstGeom>
          <a:solidFill>
            <a:schemeClr val="accent6"/>
          </a:solidFill>
          <a:ln w="12700">
            <a:solidFill>
              <a:schemeClr val="accent6"/>
            </a:solidFill>
            <a:prstDash val="solid"/>
          </a:ln>
        </p:spPr>
      </p:sp>
      <p:sp>
        <p:nvSpPr>
          <p:cNvPr id="12" name="Normal dot 4"/>
          <p:cNvSpPr/>
          <p:nvPr/>
        </p:nvSpPr>
        <p:spPr>
          <a:xfrm>
            <a:off x="8549640" y="1600200"/>
            <a:ext cx="310896" cy="310896"/>
          </a:xfrm>
          <a:prstGeom prst="ellipse">
            <a:avLst/>
          </a:prstGeom>
          <a:solidFill>
            <a:schemeClr val="accent6"/>
          </a:solidFill>
          <a:ln w="12700">
            <a:solidFill>
              <a:schemeClr val="accent6"/>
            </a:solidFill>
            <a:prstDash val="solid"/>
          </a:ln>
        </p:spPr>
      </p:sp>
      <p:sp>
        <p:nvSpPr>
          <p:cNvPr id="13" name="Normal dot 5"/>
          <p:cNvSpPr/>
          <p:nvPr/>
        </p:nvSpPr>
        <p:spPr>
          <a:xfrm>
            <a:off x="8961120" y="1600200"/>
            <a:ext cx="310896" cy="310896"/>
          </a:xfrm>
          <a:prstGeom prst="ellipse">
            <a:avLst/>
          </a:prstGeom>
          <a:solidFill>
            <a:schemeClr val="accent6"/>
          </a:solidFill>
          <a:ln w="12700">
            <a:solidFill>
              <a:schemeClr val="accent6"/>
            </a:solidFill>
            <a:prstDash val="solid"/>
          </a:ln>
        </p:spPr>
      </p:sp>
      <p:sp>
        <p:nvSpPr>
          <p:cNvPr id="14" name="Normal dot 6"/>
          <p:cNvSpPr/>
          <p:nvPr/>
        </p:nvSpPr>
        <p:spPr>
          <a:xfrm>
            <a:off x="9372600" y="1600200"/>
            <a:ext cx="310896" cy="310896"/>
          </a:xfrm>
          <a:prstGeom prst="ellipse">
            <a:avLst/>
          </a:prstGeom>
          <a:solidFill>
            <a:schemeClr val="accent6"/>
          </a:solidFill>
          <a:ln w="12700">
            <a:solidFill>
              <a:schemeClr val="accent6"/>
            </a:solidFill>
            <a:prstDash val="solid"/>
          </a:ln>
        </p:spPr>
      </p:sp>
      <p:sp>
        <p:nvSpPr>
          <p:cNvPr id="15" name="Normal dot 7"/>
          <p:cNvSpPr/>
          <p:nvPr/>
        </p:nvSpPr>
        <p:spPr>
          <a:xfrm>
            <a:off x="9784080" y="1600200"/>
            <a:ext cx="310896" cy="310896"/>
          </a:xfrm>
          <a:prstGeom prst="ellipse">
            <a:avLst/>
          </a:prstGeom>
          <a:solidFill>
            <a:schemeClr val="accent6"/>
          </a:solidFill>
          <a:ln w="12700">
            <a:solidFill>
              <a:schemeClr val="accent6"/>
            </a:solidFill>
            <a:prstDash val="solid"/>
          </a:ln>
        </p:spPr>
      </p:sp>
      <p:sp>
        <p:nvSpPr>
          <p:cNvPr id="16" name="Normal dot 8"/>
          <p:cNvSpPr/>
          <p:nvPr/>
        </p:nvSpPr>
        <p:spPr>
          <a:xfrm>
            <a:off x="10195560" y="1600200"/>
            <a:ext cx="310896" cy="310896"/>
          </a:xfrm>
          <a:prstGeom prst="ellipse">
            <a:avLst/>
          </a:prstGeom>
          <a:solidFill>
            <a:schemeClr val="accent6"/>
          </a:solidFill>
          <a:ln w="12700">
            <a:solidFill>
              <a:schemeClr val="accent6"/>
            </a:solidFill>
            <a:prstDash val="solid"/>
          </a:ln>
        </p:spPr>
      </p:sp>
      <p:sp>
        <p:nvSpPr>
          <p:cNvPr id="17" name="Normal dot 9"/>
          <p:cNvSpPr/>
          <p:nvPr/>
        </p:nvSpPr>
        <p:spPr>
          <a:xfrm>
            <a:off x="10607040" y="1600200"/>
            <a:ext cx="310896" cy="310896"/>
          </a:xfrm>
          <a:prstGeom prst="ellipse">
            <a:avLst/>
          </a:prstGeom>
          <a:solidFill>
            <a:schemeClr val="accent6"/>
          </a:solidFill>
          <a:ln w="12700">
            <a:solidFill>
              <a:schemeClr val="accent6"/>
            </a:solidFill>
            <a:prstDash val="solid"/>
          </a:ln>
        </p:spPr>
      </p:sp>
      <p:sp>
        <p:nvSpPr>
          <p:cNvPr id="18" name="Normal dot 10"/>
          <p:cNvSpPr/>
          <p:nvPr/>
        </p:nvSpPr>
        <p:spPr>
          <a:xfrm>
            <a:off x="11018520" y="1600200"/>
            <a:ext cx="310896" cy="310896"/>
          </a:xfrm>
          <a:prstGeom prst="ellipse">
            <a:avLst/>
          </a:prstGeom>
          <a:solidFill>
            <a:schemeClr val="accent6"/>
          </a:solidFill>
          <a:ln w="12700">
            <a:solidFill>
              <a:schemeClr val="accent6"/>
            </a:solidFill>
            <a:prstDash val="solid"/>
          </a:ln>
        </p:spPr>
      </p:sp>
      <p:sp>
        <p:nvSpPr>
          <p:cNvPr id="19" name="Normal dot 11"/>
          <p:cNvSpPr/>
          <p:nvPr/>
        </p:nvSpPr>
        <p:spPr>
          <a:xfrm>
            <a:off x="7315200" y="2011680"/>
            <a:ext cx="310896" cy="310896"/>
          </a:xfrm>
          <a:prstGeom prst="ellipse">
            <a:avLst/>
          </a:prstGeom>
          <a:solidFill>
            <a:schemeClr val="accent6"/>
          </a:solidFill>
          <a:ln w="12700">
            <a:solidFill>
              <a:schemeClr val="accent6"/>
            </a:solidFill>
            <a:prstDash val="solid"/>
          </a:ln>
        </p:spPr>
      </p:sp>
      <p:sp>
        <p:nvSpPr>
          <p:cNvPr id="20" name="Normal dot 12"/>
          <p:cNvSpPr/>
          <p:nvPr/>
        </p:nvSpPr>
        <p:spPr>
          <a:xfrm>
            <a:off x="7726680" y="2011680"/>
            <a:ext cx="310896" cy="310896"/>
          </a:xfrm>
          <a:prstGeom prst="ellipse">
            <a:avLst/>
          </a:prstGeom>
          <a:solidFill>
            <a:schemeClr val="accent6"/>
          </a:solidFill>
          <a:ln w="12700">
            <a:solidFill>
              <a:schemeClr val="accent6"/>
            </a:solidFill>
            <a:prstDash val="solid"/>
          </a:ln>
        </p:spPr>
      </p:sp>
      <p:sp>
        <p:nvSpPr>
          <p:cNvPr id="21" name="Normal dot 13"/>
          <p:cNvSpPr/>
          <p:nvPr/>
        </p:nvSpPr>
        <p:spPr>
          <a:xfrm>
            <a:off x="8138160" y="2011680"/>
            <a:ext cx="310896" cy="310896"/>
          </a:xfrm>
          <a:prstGeom prst="ellipse">
            <a:avLst/>
          </a:prstGeom>
          <a:solidFill>
            <a:schemeClr val="accent6"/>
          </a:solidFill>
          <a:ln w="12700">
            <a:solidFill>
              <a:schemeClr val="accent6"/>
            </a:solidFill>
            <a:prstDash val="solid"/>
          </a:ln>
        </p:spPr>
      </p:sp>
      <p:sp>
        <p:nvSpPr>
          <p:cNvPr id="22" name="Normal dot 14"/>
          <p:cNvSpPr/>
          <p:nvPr/>
        </p:nvSpPr>
        <p:spPr>
          <a:xfrm>
            <a:off x="8549640" y="2011680"/>
            <a:ext cx="310896" cy="310896"/>
          </a:xfrm>
          <a:prstGeom prst="ellipse">
            <a:avLst/>
          </a:prstGeom>
          <a:solidFill>
            <a:schemeClr val="accent6"/>
          </a:solidFill>
          <a:ln w="12700">
            <a:solidFill>
              <a:schemeClr val="accent6"/>
            </a:solidFill>
            <a:prstDash val="solid"/>
          </a:ln>
        </p:spPr>
      </p:sp>
      <p:sp>
        <p:nvSpPr>
          <p:cNvPr id="23" name="Normal dot 15"/>
          <p:cNvSpPr/>
          <p:nvPr/>
        </p:nvSpPr>
        <p:spPr>
          <a:xfrm>
            <a:off x="8961120" y="2011680"/>
            <a:ext cx="310896" cy="310896"/>
          </a:xfrm>
          <a:prstGeom prst="ellipse">
            <a:avLst/>
          </a:prstGeom>
          <a:solidFill>
            <a:schemeClr val="accent6"/>
          </a:solidFill>
          <a:ln w="12700">
            <a:solidFill>
              <a:schemeClr val="accent6"/>
            </a:solidFill>
            <a:prstDash val="solid"/>
          </a:ln>
        </p:spPr>
      </p:sp>
      <p:sp>
        <p:nvSpPr>
          <p:cNvPr id="24" name="Normal dot 16"/>
          <p:cNvSpPr/>
          <p:nvPr/>
        </p:nvSpPr>
        <p:spPr>
          <a:xfrm>
            <a:off x="9372600" y="2011680"/>
            <a:ext cx="310896" cy="310896"/>
          </a:xfrm>
          <a:prstGeom prst="ellipse">
            <a:avLst/>
          </a:prstGeom>
          <a:solidFill>
            <a:schemeClr val="accent6"/>
          </a:solidFill>
          <a:ln w="12700">
            <a:solidFill>
              <a:schemeClr val="accent6"/>
            </a:solidFill>
            <a:prstDash val="solid"/>
          </a:ln>
        </p:spPr>
      </p:sp>
      <p:sp>
        <p:nvSpPr>
          <p:cNvPr id="25" name="Normal dot 17"/>
          <p:cNvSpPr/>
          <p:nvPr/>
        </p:nvSpPr>
        <p:spPr>
          <a:xfrm>
            <a:off x="9784080" y="2011680"/>
            <a:ext cx="310896" cy="310896"/>
          </a:xfrm>
          <a:prstGeom prst="ellipse">
            <a:avLst/>
          </a:prstGeom>
          <a:solidFill>
            <a:schemeClr val="accent6"/>
          </a:solidFill>
          <a:ln w="12700">
            <a:solidFill>
              <a:schemeClr val="accent6"/>
            </a:solidFill>
            <a:prstDash val="solid"/>
          </a:ln>
        </p:spPr>
      </p:sp>
      <p:sp>
        <p:nvSpPr>
          <p:cNvPr id="26" name="Normal dot 18"/>
          <p:cNvSpPr/>
          <p:nvPr/>
        </p:nvSpPr>
        <p:spPr>
          <a:xfrm>
            <a:off x="10195560" y="2011680"/>
            <a:ext cx="310896" cy="310896"/>
          </a:xfrm>
          <a:prstGeom prst="ellipse">
            <a:avLst/>
          </a:prstGeom>
          <a:solidFill>
            <a:schemeClr val="accent6"/>
          </a:solidFill>
          <a:ln w="12700">
            <a:solidFill>
              <a:schemeClr val="accent6"/>
            </a:solidFill>
            <a:prstDash val="solid"/>
          </a:ln>
        </p:spPr>
      </p:sp>
      <p:sp>
        <p:nvSpPr>
          <p:cNvPr id="27" name="Normal dot 19"/>
          <p:cNvSpPr/>
          <p:nvPr/>
        </p:nvSpPr>
        <p:spPr>
          <a:xfrm>
            <a:off x="10607040" y="2011680"/>
            <a:ext cx="310896" cy="310896"/>
          </a:xfrm>
          <a:prstGeom prst="ellipse">
            <a:avLst/>
          </a:prstGeom>
          <a:solidFill>
            <a:schemeClr val="accent6"/>
          </a:solidFill>
          <a:ln w="12700">
            <a:solidFill>
              <a:schemeClr val="accent6"/>
            </a:solidFill>
            <a:prstDash val="solid"/>
          </a:ln>
        </p:spPr>
      </p:sp>
      <p:sp>
        <p:nvSpPr>
          <p:cNvPr id="28" name="Normal dot 20"/>
          <p:cNvSpPr/>
          <p:nvPr/>
        </p:nvSpPr>
        <p:spPr>
          <a:xfrm>
            <a:off x="11018520" y="2011680"/>
            <a:ext cx="310896" cy="310896"/>
          </a:xfrm>
          <a:prstGeom prst="ellipse">
            <a:avLst/>
          </a:prstGeom>
          <a:solidFill>
            <a:schemeClr val="accent6"/>
          </a:solidFill>
          <a:ln w="12700">
            <a:solidFill>
              <a:schemeClr val="accent6"/>
            </a:solidFill>
            <a:prstDash val="solid"/>
          </a:ln>
        </p:spPr>
      </p:sp>
      <p:sp>
        <p:nvSpPr>
          <p:cNvPr id="29" name="Normal dot 21"/>
          <p:cNvSpPr/>
          <p:nvPr/>
        </p:nvSpPr>
        <p:spPr>
          <a:xfrm>
            <a:off x="7315200" y="2423160"/>
            <a:ext cx="310896" cy="310896"/>
          </a:xfrm>
          <a:prstGeom prst="ellipse">
            <a:avLst/>
          </a:prstGeom>
          <a:solidFill>
            <a:schemeClr val="accent6"/>
          </a:solidFill>
          <a:ln w="12700">
            <a:solidFill>
              <a:schemeClr val="accent6"/>
            </a:solidFill>
            <a:prstDash val="solid"/>
          </a:ln>
        </p:spPr>
      </p:sp>
      <p:sp>
        <p:nvSpPr>
          <p:cNvPr id="30" name="Normal dot 22"/>
          <p:cNvSpPr/>
          <p:nvPr/>
        </p:nvSpPr>
        <p:spPr>
          <a:xfrm>
            <a:off x="7726680" y="2423160"/>
            <a:ext cx="310896" cy="310896"/>
          </a:xfrm>
          <a:prstGeom prst="ellipse">
            <a:avLst/>
          </a:prstGeom>
          <a:solidFill>
            <a:schemeClr val="accent6"/>
          </a:solidFill>
          <a:ln w="12700">
            <a:solidFill>
              <a:schemeClr val="accent6"/>
            </a:solidFill>
            <a:prstDash val="solid"/>
          </a:ln>
        </p:spPr>
      </p:sp>
      <p:sp>
        <p:nvSpPr>
          <p:cNvPr id="31" name="Normal dot 23"/>
          <p:cNvSpPr/>
          <p:nvPr/>
        </p:nvSpPr>
        <p:spPr>
          <a:xfrm>
            <a:off x="8138160" y="2423160"/>
            <a:ext cx="310896" cy="310896"/>
          </a:xfrm>
          <a:prstGeom prst="ellipse">
            <a:avLst/>
          </a:prstGeom>
          <a:solidFill>
            <a:schemeClr val="accent6"/>
          </a:solidFill>
          <a:ln w="12700">
            <a:solidFill>
              <a:schemeClr val="accent6"/>
            </a:solidFill>
            <a:prstDash val="solid"/>
          </a:ln>
        </p:spPr>
      </p:sp>
      <p:sp>
        <p:nvSpPr>
          <p:cNvPr id="32" name="Normal dot 24"/>
          <p:cNvSpPr/>
          <p:nvPr/>
        </p:nvSpPr>
        <p:spPr>
          <a:xfrm>
            <a:off x="8549640" y="2423160"/>
            <a:ext cx="310896" cy="310896"/>
          </a:xfrm>
          <a:prstGeom prst="ellipse">
            <a:avLst/>
          </a:prstGeom>
          <a:solidFill>
            <a:schemeClr val="accent6"/>
          </a:solidFill>
          <a:ln w="12700">
            <a:solidFill>
              <a:schemeClr val="accent6"/>
            </a:solidFill>
            <a:prstDash val="solid"/>
          </a:ln>
        </p:spPr>
      </p:sp>
      <p:sp>
        <p:nvSpPr>
          <p:cNvPr id="33" name="Normal dot 25"/>
          <p:cNvSpPr/>
          <p:nvPr/>
        </p:nvSpPr>
        <p:spPr>
          <a:xfrm>
            <a:off x="8961120" y="2423160"/>
            <a:ext cx="310896" cy="310896"/>
          </a:xfrm>
          <a:prstGeom prst="ellipse">
            <a:avLst/>
          </a:prstGeom>
          <a:solidFill>
            <a:schemeClr val="accent6"/>
          </a:solidFill>
          <a:ln w="12700">
            <a:solidFill>
              <a:schemeClr val="accent6"/>
            </a:solidFill>
            <a:prstDash val="solid"/>
          </a:ln>
        </p:spPr>
      </p:sp>
      <p:sp>
        <p:nvSpPr>
          <p:cNvPr id="34" name="Normal dot 26"/>
          <p:cNvSpPr/>
          <p:nvPr/>
        </p:nvSpPr>
        <p:spPr>
          <a:xfrm>
            <a:off x="9372600" y="2423160"/>
            <a:ext cx="310896" cy="310896"/>
          </a:xfrm>
          <a:prstGeom prst="ellipse">
            <a:avLst/>
          </a:prstGeom>
          <a:solidFill>
            <a:schemeClr val="accent6"/>
          </a:solidFill>
          <a:ln w="12700">
            <a:solidFill>
              <a:schemeClr val="accent6"/>
            </a:solidFill>
            <a:prstDash val="solid"/>
          </a:ln>
        </p:spPr>
      </p:sp>
      <p:sp>
        <p:nvSpPr>
          <p:cNvPr id="35" name="Normal dot 27"/>
          <p:cNvSpPr/>
          <p:nvPr/>
        </p:nvSpPr>
        <p:spPr>
          <a:xfrm>
            <a:off x="9784080" y="2423160"/>
            <a:ext cx="310896" cy="310896"/>
          </a:xfrm>
          <a:prstGeom prst="ellipse">
            <a:avLst/>
          </a:prstGeom>
          <a:solidFill>
            <a:schemeClr val="accent6"/>
          </a:solidFill>
          <a:ln w="12700">
            <a:solidFill>
              <a:schemeClr val="accent6"/>
            </a:solidFill>
            <a:prstDash val="solid"/>
          </a:ln>
        </p:spPr>
      </p:sp>
      <p:sp>
        <p:nvSpPr>
          <p:cNvPr id="36" name="Normal dot 28"/>
          <p:cNvSpPr/>
          <p:nvPr/>
        </p:nvSpPr>
        <p:spPr>
          <a:xfrm>
            <a:off x="10195560" y="2423160"/>
            <a:ext cx="310896" cy="310896"/>
          </a:xfrm>
          <a:prstGeom prst="ellipse">
            <a:avLst/>
          </a:prstGeom>
          <a:solidFill>
            <a:schemeClr val="accent6"/>
          </a:solidFill>
          <a:ln w="12700">
            <a:solidFill>
              <a:schemeClr val="accent6"/>
            </a:solidFill>
            <a:prstDash val="solid"/>
          </a:ln>
        </p:spPr>
      </p:sp>
      <p:sp>
        <p:nvSpPr>
          <p:cNvPr id="37" name="Normal dot 29"/>
          <p:cNvSpPr/>
          <p:nvPr/>
        </p:nvSpPr>
        <p:spPr>
          <a:xfrm>
            <a:off x="10607040" y="2423160"/>
            <a:ext cx="310896" cy="310896"/>
          </a:xfrm>
          <a:prstGeom prst="ellipse">
            <a:avLst/>
          </a:prstGeom>
          <a:solidFill>
            <a:schemeClr val="accent6"/>
          </a:solidFill>
          <a:ln w="12700">
            <a:solidFill>
              <a:schemeClr val="accent6"/>
            </a:solidFill>
            <a:prstDash val="solid"/>
          </a:ln>
        </p:spPr>
      </p:sp>
      <p:sp>
        <p:nvSpPr>
          <p:cNvPr id="38" name="Normal dot 30"/>
          <p:cNvSpPr/>
          <p:nvPr/>
        </p:nvSpPr>
        <p:spPr>
          <a:xfrm>
            <a:off x="11018520" y="2423160"/>
            <a:ext cx="310896" cy="310896"/>
          </a:xfrm>
          <a:prstGeom prst="ellipse">
            <a:avLst/>
          </a:prstGeom>
          <a:solidFill>
            <a:schemeClr val="accent6"/>
          </a:solidFill>
          <a:ln w="12700">
            <a:solidFill>
              <a:schemeClr val="accent6"/>
            </a:solidFill>
            <a:prstDash val="solid"/>
          </a:ln>
        </p:spPr>
      </p:sp>
      <p:sp>
        <p:nvSpPr>
          <p:cNvPr id="39" name="Normal dot 31"/>
          <p:cNvSpPr/>
          <p:nvPr/>
        </p:nvSpPr>
        <p:spPr>
          <a:xfrm>
            <a:off x="7315200" y="2834640"/>
            <a:ext cx="310896" cy="310896"/>
          </a:xfrm>
          <a:prstGeom prst="ellipse">
            <a:avLst/>
          </a:prstGeom>
          <a:solidFill>
            <a:schemeClr val="accent6"/>
          </a:solidFill>
          <a:ln w="12700">
            <a:solidFill>
              <a:schemeClr val="accent6"/>
            </a:solidFill>
            <a:prstDash val="solid"/>
          </a:ln>
        </p:spPr>
      </p:sp>
      <p:sp>
        <p:nvSpPr>
          <p:cNvPr id="40" name="Normal dot 32"/>
          <p:cNvSpPr/>
          <p:nvPr/>
        </p:nvSpPr>
        <p:spPr>
          <a:xfrm>
            <a:off x="7726680" y="2834640"/>
            <a:ext cx="310896" cy="310896"/>
          </a:xfrm>
          <a:prstGeom prst="ellipse">
            <a:avLst/>
          </a:prstGeom>
          <a:solidFill>
            <a:schemeClr val="accent6"/>
          </a:solidFill>
          <a:ln w="12700">
            <a:solidFill>
              <a:schemeClr val="accent6"/>
            </a:solidFill>
            <a:prstDash val="solid"/>
          </a:ln>
        </p:spPr>
      </p:sp>
      <p:sp>
        <p:nvSpPr>
          <p:cNvPr id="41" name="Normal dot 33"/>
          <p:cNvSpPr/>
          <p:nvPr/>
        </p:nvSpPr>
        <p:spPr>
          <a:xfrm>
            <a:off x="8138160" y="2834640"/>
            <a:ext cx="310896" cy="310896"/>
          </a:xfrm>
          <a:prstGeom prst="ellipse">
            <a:avLst/>
          </a:prstGeom>
          <a:solidFill>
            <a:schemeClr val="accent6"/>
          </a:solidFill>
          <a:ln w="12700">
            <a:solidFill>
              <a:schemeClr val="accent6"/>
            </a:solidFill>
            <a:prstDash val="solid"/>
          </a:ln>
        </p:spPr>
      </p:sp>
      <p:sp>
        <p:nvSpPr>
          <p:cNvPr id="42" name="Normal dot 34"/>
          <p:cNvSpPr/>
          <p:nvPr/>
        </p:nvSpPr>
        <p:spPr>
          <a:xfrm>
            <a:off x="8549640" y="2834640"/>
            <a:ext cx="310896" cy="310896"/>
          </a:xfrm>
          <a:prstGeom prst="ellipse">
            <a:avLst/>
          </a:prstGeom>
          <a:solidFill>
            <a:schemeClr val="accent6"/>
          </a:solidFill>
          <a:ln w="12700">
            <a:solidFill>
              <a:schemeClr val="accent6"/>
            </a:solidFill>
            <a:prstDash val="solid"/>
          </a:ln>
        </p:spPr>
      </p:sp>
      <p:sp>
        <p:nvSpPr>
          <p:cNvPr id="43" name="Normal dot 35"/>
          <p:cNvSpPr/>
          <p:nvPr/>
        </p:nvSpPr>
        <p:spPr>
          <a:xfrm>
            <a:off x="8961120" y="2834640"/>
            <a:ext cx="310896" cy="310896"/>
          </a:xfrm>
          <a:prstGeom prst="ellipse">
            <a:avLst/>
          </a:prstGeom>
          <a:solidFill>
            <a:schemeClr val="accent6"/>
          </a:solidFill>
          <a:ln w="12700">
            <a:solidFill>
              <a:schemeClr val="accent6"/>
            </a:solidFill>
            <a:prstDash val="solid"/>
          </a:ln>
        </p:spPr>
      </p:sp>
      <p:sp>
        <p:nvSpPr>
          <p:cNvPr id="44" name="Normal dot 36"/>
          <p:cNvSpPr/>
          <p:nvPr/>
        </p:nvSpPr>
        <p:spPr>
          <a:xfrm>
            <a:off x="9372600" y="2834640"/>
            <a:ext cx="310896" cy="310896"/>
          </a:xfrm>
          <a:prstGeom prst="ellipse">
            <a:avLst/>
          </a:prstGeom>
          <a:solidFill>
            <a:schemeClr val="accent6"/>
          </a:solidFill>
          <a:ln w="12700">
            <a:solidFill>
              <a:schemeClr val="accent6"/>
            </a:solidFill>
            <a:prstDash val="solid"/>
          </a:ln>
        </p:spPr>
      </p:sp>
      <p:sp>
        <p:nvSpPr>
          <p:cNvPr id="45" name="Normal dot 37"/>
          <p:cNvSpPr/>
          <p:nvPr/>
        </p:nvSpPr>
        <p:spPr>
          <a:xfrm>
            <a:off x="9784080" y="2834640"/>
            <a:ext cx="310896" cy="310896"/>
          </a:xfrm>
          <a:prstGeom prst="ellipse">
            <a:avLst/>
          </a:prstGeom>
          <a:solidFill>
            <a:schemeClr val="accent6"/>
          </a:solidFill>
          <a:ln w="12700">
            <a:solidFill>
              <a:schemeClr val="accent6"/>
            </a:solidFill>
            <a:prstDash val="solid"/>
          </a:ln>
        </p:spPr>
      </p:sp>
      <p:sp>
        <p:nvSpPr>
          <p:cNvPr id="46" name="Normal dot 38"/>
          <p:cNvSpPr/>
          <p:nvPr/>
        </p:nvSpPr>
        <p:spPr>
          <a:xfrm>
            <a:off x="10195560" y="2834640"/>
            <a:ext cx="310896" cy="310896"/>
          </a:xfrm>
          <a:prstGeom prst="ellipse">
            <a:avLst/>
          </a:prstGeom>
          <a:solidFill>
            <a:schemeClr val="accent6"/>
          </a:solidFill>
          <a:ln w="12700">
            <a:solidFill>
              <a:schemeClr val="accent6"/>
            </a:solidFill>
            <a:prstDash val="solid"/>
          </a:ln>
        </p:spPr>
      </p:sp>
      <p:sp>
        <p:nvSpPr>
          <p:cNvPr id="47" name="Normal dot 39"/>
          <p:cNvSpPr/>
          <p:nvPr/>
        </p:nvSpPr>
        <p:spPr>
          <a:xfrm>
            <a:off x="10607040" y="2834640"/>
            <a:ext cx="310896" cy="310896"/>
          </a:xfrm>
          <a:prstGeom prst="ellipse">
            <a:avLst/>
          </a:prstGeom>
          <a:solidFill>
            <a:schemeClr val="accent6"/>
          </a:solidFill>
          <a:ln w="12700">
            <a:solidFill>
              <a:schemeClr val="accent6"/>
            </a:solidFill>
            <a:prstDash val="solid"/>
          </a:ln>
        </p:spPr>
      </p:sp>
      <p:sp>
        <p:nvSpPr>
          <p:cNvPr id="48" name="Normal dot 40"/>
          <p:cNvSpPr/>
          <p:nvPr/>
        </p:nvSpPr>
        <p:spPr>
          <a:xfrm>
            <a:off x="11018520" y="2834640"/>
            <a:ext cx="310896" cy="310896"/>
          </a:xfrm>
          <a:prstGeom prst="ellipse">
            <a:avLst/>
          </a:prstGeom>
          <a:solidFill>
            <a:schemeClr val="accent6"/>
          </a:solidFill>
          <a:ln w="12700">
            <a:solidFill>
              <a:schemeClr val="accent6"/>
            </a:solidFill>
            <a:prstDash val="solid"/>
          </a:ln>
        </p:spPr>
      </p:sp>
      <p:sp>
        <p:nvSpPr>
          <p:cNvPr id="49" name="Normal dot 41"/>
          <p:cNvSpPr/>
          <p:nvPr/>
        </p:nvSpPr>
        <p:spPr>
          <a:xfrm>
            <a:off x="7315200" y="3246120"/>
            <a:ext cx="310896" cy="310896"/>
          </a:xfrm>
          <a:prstGeom prst="ellipse">
            <a:avLst/>
          </a:prstGeom>
          <a:solidFill>
            <a:schemeClr val="accent6"/>
          </a:solidFill>
          <a:ln w="12700">
            <a:solidFill>
              <a:schemeClr val="accent6"/>
            </a:solidFill>
            <a:prstDash val="solid"/>
          </a:ln>
        </p:spPr>
      </p:sp>
      <p:sp>
        <p:nvSpPr>
          <p:cNvPr id="50" name="Normal dot 42"/>
          <p:cNvSpPr/>
          <p:nvPr/>
        </p:nvSpPr>
        <p:spPr>
          <a:xfrm>
            <a:off x="7726680" y="3246120"/>
            <a:ext cx="310896" cy="310896"/>
          </a:xfrm>
          <a:prstGeom prst="ellipse">
            <a:avLst/>
          </a:prstGeom>
          <a:solidFill>
            <a:schemeClr val="accent6"/>
          </a:solidFill>
          <a:ln w="12700">
            <a:solidFill>
              <a:schemeClr val="accent6"/>
            </a:solidFill>
            <a:prstDash val="solid"/>
          </a:ln>
        </p:spPr>
      </p:sp>
      <p:sp>
        <p:nvSpPr>
          <p:cNvPr id="51" name="Normal dot 43"/>
          <p:cNvSpPr/>
          <p:nvPr/>
        </p:nvSpPr>
        <p:spPr>
          <a:xfrm>
            <a:off x="8138160" y="3246120"/>
            <a:ext cx="310896" cy="310896"/>
          </a:xfrm>
          <a:prstGeom prst="ellipse">
            <a:avLst/>
          </a:prstGeom>
          <a:solidFill>
            <a:schemeClr val="accent6"/>
          </a:solidFill>
          <a:ln w="12700">
            <a:solidFill>
              <a:schemeClr val="accent6"/>
            </a:solidFill>
            <a:prstDash val="solid"/>
          </a:ln>
        </p:spPr>
      </p:sp>
      <p:sp>
        <p:nvSpPr>
          <p:cNvPr id="52" name="Normal dot 44"/>
          <p:cNvSpPr/>
          <p:nvPr/>
        </p:nvSpPr>
        <p:spPr>
          <a:xfrm>
            <a:off x="8549640" y="3246120"/>
            <a:ext cx="310896" cy="310896"/>
          </a:xfrm>
          <a:prstGeom prst="ellipse">
            <a:avLst/>
          </a:prstGeom>
          <a:solidFill>
            <a:schemeClr val="accent6"/>
          </a:solidFill>
          <a:ln w="12700">
            <a:solidFill>
              <a:schemeClr val="accent6"/>
            </a:solidFill>
            <a:prstDash val="solid"/>
          </a:ln>
        </p:spPr>
      </p:sp>
      <p:sp>
        <p:nvSpPr>
          <p:cNvPr id="53" name="Normal dot 45"/>
          <p:cNvSpPr/>
          <p:nvPr/>
        </p:nvSpPr>
        <p:spPr>
          <a:xfrm>
            <a:off x="8961120" y="3246120"/>
            <a:ext cx="310896" cy="310896"/>
          </a:xfrm>
          <a:prstGeom prst="ellipse">
            <a:avLst/>
          </a:prstGeom>
          <a:solidFill>
            <a:schemeClr val="accent6"/>
          </a:solidFill>
          <a:ln w="12700">
            <a:solidFill>
              <a:schemeClr val="accent6"/>
            </a:solidFill>
            <a:prstDash val="solid"/>
          </a:ln>
        </p:spPr>
      </p:sp>
      <p:sp>
        <p:nvSpPr>
          <p:cNvPr id="54" name="Normal dot 46"/>
          <p:cNvSpPr/>
          <p:nvPr/>
        </p:nvSpPr>
        <p:spPr>
          <a:xfrm>
            <a:off x="9372600" y="3246120"/>
            <a:ext cx="310896" cy="310896"/>
          </a:xfrm>
          <a:prstGeom prst="ellipse">
            <a:avLst/>
          </a:prstGeom>
          <a:solidFill>
            <a:schemeClr val="accent6"/>
          </a:solidFill>
          <a:ln w="12700">
            <a:solidFill>
              <a:schemeClr val="accent6"/>
            </a:solidFill>
            <a:prstDash val="solid"/>
          </a:ln>
        </p:spPr>
      </p:sp>
      <p:sp>
        <p:nvSpPr>
          <p:cNvPr id="55" name="Normal dot 47"/>
          <p:cNvSpPr/>
          <p:nvPr/>
        </p:nvSpPr>
        <p:spPr>
          <a:xfrm>
            <a:off x="9784080" y="3246120"/>
            <a:ext cx="310896" cy="310896"/>
          </a:xfrm>
          <a:prstGeom prst="ellipse">
            <a:avLst/>
          </a:prstGeom>
          <a:solidFill>
            <a:schemeClr val="accent6"/>
          </a:solidFill>
          <a:ln w="12700">
            <a:solidFill>
              <a:schemeClr val="accent6"/>
            </a:solidFill>
            <a:prstDash val="solid"/>
          </a:ln>
        </p:spPr>
      </p:sp>
      <p:sp>
        <p:nvSpPr>
          <p:cNvPr id="56" name="Normal dot 48"/>
          <p:cNvSpPr/>
          <p:nvPr/>
        </p:nvSpPr>
        <p:spPr>
          <a:xfrm>
            <a:off x="10195560" y="3246120"/>
            <a:ext cx="310896" cy="310896"/>
          </a:xfrm>
          <a:prstGeom prst="ellipse">
            <a:avLst/>
          </a:prstGeom>
          <a:solidFill>
            <a:schemeClr val="accent6"/>
          </a:solidFill>
          <a:ln w="12700">
            <a:solidFill>
              <a:schemeClr val="accent6"/>
            </a:solidFill>
            <a:prstDash val="solid"/>
          </a:ln>
        </p:spPr>
      </p:sp>
      <p:sp>
        <p:nvSpPr>
          <p:cNvPr id="57" name="Normal dot 49"/>
          <p:cNvSpPr/>
          <p:nvPr/>
        </p:nvSpPr>
        <p:spPr>
          <a:xfrm>
            <a:off x="10607040" y="3246120"/>
            <a:ext cx="310896" cy="310896"/>
          </a:xfrm>
          <a:prstGeom prst="ellipse">
            <a:avLst/>
          </a:prstGeom>
          <a:solidFill>
            <a:schemeClr val="accent6"/>
          </a:solidFill>
          <a:ln w="12700">
            <a:solidFill>
              <a:schemeClr val="accent6"/>
            </a:solidFill>
            <a:prstDash val="solid"/>
          </a:ln>
        </p:spPr>
      </p:sp>
      <p:sp>
        <p:nvSpPr>
          <p:cNvPr id="58" name="Normal dot 50"/>
          <p:cNvSpPr/>
          <p:nvPr/>
        </p:nvSpPr>
        <p:spPr>
          <a:xfrm>
            <a:off x="11018520" y="3246120"/>
            <a:ext cx="310896" cy="310896"/>
          </a:xfrm>
          <a:prstGeom prst="ellipse">
            <a:avLst/>
          </a:prstGeom>
          <a:solidFill>
            <a:schemeClr val="accent6"/>
          </a:solidFill>
          <a:ln w="12700">
            <a:solidFill>
              <a:schemeClr val="accent6"/>
            </a:solidFill>
            <a:prstDash val="solid"/>
          </a:ln>
        </p:spPr>
      </p:sp>
      <p:sp>
        <p:nvSpPr>
          <p:cNvPr id="59" name="Normal dot 51"/>
          <p:cNvSpPr/>
          <p:nvPr/>
        </p:nvSpPr>
        <p:spPr>
          <a:xfrm>
            <a:off x="7315200" y="3657600"/>
            <a:ext cx="310896" cy="310896"/>
          </a:xfrm>
          <a:prstGeom prst="ellipse">
            <a:avLst/>
          </a:prstGeom>
          <a:solidFill>
            <a:schemeClr val="accent6"/>
          </a:solidFill>
          <a:ln w="12700">
            <a:solidFill>
              <a:schemeClr val="accent6"/>
            </a:solidFill>
            <a:prstDash val="solid"/>
          </a:ln>
        </p:spPr>
      </p:sp>
      <p:sp>
        <p:nvSpPr>
          <p:cNvPr id="60" name="Normal dot 52"/>
          <p:cNvSpPr/>
          <p:nvPr/>
        </p:nvSpPr>
        <p:spPr>
          <a:xfrm>
            <a:off x="7726680" y="3657600"/>
            <a:ext cx="310896" cy="310896"/>
          </a:xfrm>
          <a:prstGeom prst="ellipse">
            <a:avLst/>
          </a:prstGeom>
          <a:solidFill>
            <a:schemeClr val="accent6"/>
          </a:solidFill>
          <a:ln w="12700">
            <a:solidFill>
              <a:schemeClr val="accent6"/>
            </a:solidFill>
            <a:prstDash val="solid"/>
          </a:ln>
        </p:spPr>
      </p:sp>
      <p:sp>
        <p:nvSpPr>
          <p:cNvPr id="61" name="Normal dot 53"/>
          <p:cNvSpPr/>
          <p:nvPr/>
        </p:nvSpPr>
        <p:spPr>
          <a:xfrm>
            <a:off x="8138160" y="3657600"/>
            <a:ext cx="310896" cy="310896"/>
          </a:xfrm>
          <a:prstGeom prst="ellipse">
            <a:avLst/>
          </a:prstGeom>
          <a:solidFill>
            <a:schemeClr val="accent6"/>
          </a:solidFill>
          <a:ln w="12700">
            <a:solidFill>
              <a:schemeClr val="accent6"/>
            </a:solidFill>
            <a:prstDash val="solid"/>
          </a:ln>
        </p:spPr>
      </p:sp>
      <p:sp>
        <p:nvSpPr>
          <p:cNvPr id="62" name="Fraud dot"/>
          <p:cNvSpPr/>
          <p:nvPr/>
        </p:nvSpPr>
        <p:spPr>
          <a:xfrm>
            <a:off x="8549640" y="3657600"/>
            <a:ext cx="310896" cy="310896"/>
          </a:xfrm>
          <a:prstGeom prst="ellipse">
            <a:avLst/>
          </a:prstGeom>
          <a:solidFill>
            <a:schemeClr val="accent2"/>
          </a:solidFill>
          <a:ln w="12700">
            <a:solidFill>
              <a:schemeClr val="accent2"/>
            </a:solidFill>
            <a:prstDash val="solid"/>
          </a:ln>
        </p:spPr>
      </p:sp>
      <p:sp>
        <p:nvSpPr>
          <p:cNvPr id="63" name="Normal dot 55"/>
          <p:cNvSpPr/>
          <p:nvPr/>
        </p:nvSpPr>
        <p:spPr>
          <a:xfrm>
            <a:off x="8961120" y="3657600"/>
            <a:ext cx="310896" cy="310896"/>
          </a:xfrm>
          <a:prstGeom prst="ellipse">
            <a:avLst/>
          </a:prstGeom>
          <a:solidFill>
            <a:schemeClr val="accent6"/>
          </a:solidFill>
          <a:ln w="12700">
            <a:solidFill>
              <a:schemeClr val="accent6"/>
            </a:solidFill>
            <a:prstDash val="solid"/>
          </a:ln>
        </p:spPr>
      </p:sp>
      <p:sp>
        <p:nvSpPr>
          <p:cNvPr id="64" name="Normal dot 56"/>
          <p:cNvSpPr/>
          <p:nvPr/>
        </p:nvSpPr>
        <p:spPr>
          <a:xfrm>
            <a:off x="9372600" y="3657600"/>
            <a:ext cx="310896" cy="310896"/>
          </a:xfrm>
          <a:prstGeom prst="ellipse">
            <a:avLst/>
          </a:prstGeom>
          <a:solidFill>
            <a:schemeClr val="accent6"/>
          </a:solidFill>
          <a:ln w="12700">
            <a:solidFill>
              <a:schemeClr val="accent6"/>
            </a:solidFill>
            <a:prstDash val="solid"/>
          </a:ln>
        </p:spPr>
      </p:sp>
      <p:sp>
        <p:nvSpPr>
          <p:cNvPr id="65" name="Normal dot 57"/>
          <p:cNvSpPr/>
          <p:nvPr/>
        </p:nvSpPr>
        <p:spPr>
          <a:xfrm>
            <a:off x="9784080" y="3657600"/>
            <a:ext cx="310896" cy="310896"/>
          </a:xfrm>
          <a:prstGeom prst="ellipse">
            <a:avLst/>
          </a:prstGeom>
          <a:solidFill>
            <a:schemeClr val="accent6"/>
          </a:solidFill>
          <a:ln w="12700">
            <a:solidFill>
              <a:schemeClr val="accent6"/>
            </a:solidFill>
            <a:prstDash val="solid"/>
          </a:ln>
        </p:spPr>
      </p:sp>
      <p:sp>
        <p:nvSpPr>
          <p:cNvPr id="66" name="Normal dot 58"/>
          <p:cNvSpPr/>
          <p:nvPr/>
        </p:nvSpPr>
        <p:spPr>
          <a:xfrm>
            <a:off x="10195560" y="3657600"/>
            <a:ext cx="310896" cy="310896"/>
          </a:xfrm>
          <a:prstGeom prst="ellipse">
            <a:avLst/>
          </a:prstGeom>
          <a:solidFill>
            <a:schemeClr val="accent6"/>
          </a:solidFill>
          <a:ln w="12700">
            <a:solidFill>
              <a:schemeClr val="accent6"/>
            </a:solidFill>
            <a:prstDash val="solid"/>
          </a:ln>
        </p:spPr>
      </p:sp>
      <p:sp>
        <p:nvSpPr>
          <p:cNvPr id="67" name="Normal dot 59"/>
          <p:cNvSpPr/>
          <p:nvPr/>
        </p:nvSpPr>
        <p:spPr>
          <a:xfrm>
            <a:off x="10607040" y="3657600"/>
            <a:ext cx="310896" cy="310896"/>
          </a:xfrm>
          <a:prstGeom prst="ellipse">
            <a:avLst/>
          </a:prstGeom>
          <a:solidFill>
            <a:schemeClr val="accent6"/>
          </a:solidFill>
          <a:ln w="12700">
            <a:solidFill>
              <a:schemeClr val="accent6"/>
            </a:solidFill>
            <a:prstDash val="solid"/>
          </a:ln>
        </p:spPr>
      </p:sp>
      <p:sp>
        <p:nvSpPr>
          <p:cNvPr id="68" name="Normal dot 60"/>
          <p:cNvSpPr/>
          <p:nvPr/>
        </p:nvSpPr>
        <p:spPr>
          <a:xfrm>
            <a:off x="11018520" y="3657600"/>
            <a:ext cx="310896" cy="310896"/>
          </a:xfrm>
          <a:prstGeom prst="ellipse">
            <a:avLst/>
          </a:prstGeom>
          <a:solidFill>
            <a:schemeClr val="accent6"/>
          </a:solidFill>
          <a:ln w="12700">
            <a:solidFill>
              <a:schemeClr val="accent6"/>
            </a:solidFill>
            <a:prstDash val="solid"/>
          </a:ln>
        </p:spPr>
      </p:sp>
      <p:sp>
        <p:nvSpPr>
          <p:cNvPr id="69" name="Normal dot 61"/>
          <p:cNvSpPr/>
          <p:nvPr/>
        </p:nvSpPr>
        <p:spPr>
          <a:xfrm>
            <a:off x="7315200" y="4069080"/>
            <a:ext cx="310896" cy="310896"/>
          </a:xfrm>
          <a:prstGeom prst="ellipse">
            <a:avLst/>
          </a:prstGeom>
          <a:solidFill>
            <a:schemeClr val="accent6"/>
          </a:solidFill>
          <a:ln w="12700">
            <a:solidFill>
              <a:schemeClr val="accent6"/>
            </a:solidFill>
            <a:prstDash val="solid"/>
          </a:ln>
        </p:spPr>
      </p:sp>
      <p:sp>
        <p:nvSpPr>
          <p:cNvPr id="70" name="Normal dot 62"/>
          <p:cNvSpPr/>
          <p:nvPr/>
        </p:nvSpPr>
        <p:spPr>
          <a:xfrm>
            <a:off x="7726680" y="4069080"/>
            <a:ext cx="310896" cy="310896"/>
          </a:xfrm>
          <a:prstGeom prst="ellipse">
            <a:avLst/>
          </a:prstGeom>
          <a:solidFill>
            <a:schemeClr val="accent6"/>
          </a:solidFill>
          <a:ln w="12700">
            <a:solidFill>
              <a:schemeClr val="accent6"/>
            </a:solidFill>
            <a:prstDash val="solid"/>
          </a:ln>
        </p:spPr>
      </p:sp>
      <p:sp>
        <p:nvSpPr>
          <p:cNvPr id="71" name="Normal dot 63"/>
          <p:cNvSpPr/>
          <p:nvPr/>
        </p:nvSpPr>
        <p:spPr>
          <a:xfrm>
            <a:off x="8138160" y="4069080"/>
            <a:ext cx="310896" cy="310896"/>
          </a:xfrm>
          <a:prstGeom prst="ellipse">
            <a:avLst/>
          </a:prstGeom>
          <a:solidFill>
            <a:schemeClr val="accent6"/>
          </a:solidFill>
          <a:ln w="12700">
            <a:solidFill>
              <a:schemeClr val="accent6"/>
            </a:solidFill>
            <a:prstDash val="solid"/>
          </a:ln>
        </p:spPr>
      </p:sp>
      <p:sp>
        <p:nvSpPr>
          <p:cNvPr id="72" name="Normal dot 64"/>
          <p:cNvSpPr/>
          <p:nvPr/>
        </p:nvSpPr>
        <p:spPr>
          <a:xfrm>
            <a:off x="8549640" y="4069080"/>
            <a:ext cx="310896" cy="310896"/>
          </a:xfrm>
          <a:prstGeom prst="ellipse">
            <a:avLst/>
          </a:prstGeom>
          <a:solidFill>
            <a:schemeClr val="accent6"/>
          </a:solidFill>
          <a:ln w="12700">
            <a:solidFill>
              <a:schemeClr val="accent6"/>
            </a:solidFill>
            <a:prstDash val="solid"/>
          </a:ln>
        </p:spPr>
      </p:sp>
      <p:sp>
        <p:nvSpPr>
          <p:cNvPr id="73" name="Normal dot 65"/>
          <p:cNvSpPr/>
          <p:nvPr/>
        </p:nvSpPr>
        <p:spPr>
          <a:xfrm>
            <a:off x="8961120" y="4069080"/>
            <a:ext cx="310896" cy="310896"/>
          </a:xfrm>
          <a:prstGeom prst="ellipse">
            <a:avLst/>
          </a:prstGeom>
          <a:solidFill>
            <a:schemeClr val="accent6"/>
          </a:solidFill>
          <a:ln w="12700">
            <a:solidFill>
              <a:schemeClr val="accent6"/>
            </a:solidFill>
            <a:prstDash val="solid"/>
          </a:ln>
        </p:spPr>
      </p:sp>
      <p:sp>
        <p:nvSpPr>
          <p:cNvPr id="74" name="Normal dot 66"/>
          <p:cNvSpPr/>
          <p:nvPr/>
        </p:nvSpPr>
        <p:spPr>
          <a:xfrm>
            <a:off x="9372600" y="4069080"/>
            <a:ext cx="310896" cy="310896"/>
          </a:xfrm>
          <a:prstGeom prst="ellipse">
            <a:avLst/>
          </a:prstGeom>
          <a:solidFill>
            <a:schemeClr val="accent6"/>
          </a:solidFill>
          <a:ln w="12700">
            <a:solidFill>
              <a:schemeClr val="accent6"/>
            </a:solidFill>
            <a:prstDash val="solid"/>
          </a:ln>
        </p:spPr>
      </p:sp>
      <p:sp>
        <p:nvSpPr>
          <p:cNvPr id="75" name="Normal dot 67"/>
          <p:cNvSpPr/>
          <p:nvPr/>
        </p:nvSpPr>
        <p:spPr>
          <a:xfrm>
            <a:off x="9784080" y="4069080"/>
            <a:ext cx="310896" cy="310896"/>
          </a:xfrm>
          <a:prstGeom prst="ellipse">
            <a:avLst/>
          </a:prstGeom>
          <a:solidFill>
            <a:schemeClr val="accent6"/>
          </a:solidFill>
          <a:ln w="12700">
            <a:solidFill>
              <a:schemeClr val="accent6"/>
            </a:solidFill>
            <a:prstDash val="solid"/>
          </a:ln>
        </p:spPr>
      </p:sp>
      <p:sp>
        <p:nvSpPr>
          <p:cNvPr id="76" name="Normal dot 68"/>
          <p:cNvSpPr/>
          <p:nvPr/>
        </p:nvSpPr>
        <p:spPr>
          <a:xfrm>
            <a:off x="10195560" y="4069080"/>
            <a:ext cx="310896" cy="310896"/>
          </a:xfrm>
          <a:prstGeom prst="ellipse">
            <a:avLst/>
          </a:prstGeom>
          <a:solidFill>
            <a:schemeClr val="accent6"/>
          </a:solidFill>
          <a:ln w="12700">
            <a:solidFill>
              <a:schemeClr val="accent6"/>
            </a:solidFill>
            <a:prstDash val="solid"/>
          </a:ln>
        </p:spPr>
      </p:sp>
      <p:sp>
        <p:nvSpPr>
          <p:cNvPr id="77" name="Normal dot 69"/>
          <p:cNvSpPr/>
          <p:nvPr/>
        </p:nvSpPr>
        <p:spPr>
          <a:xfrm>
            <a:off x="10607040" y="4069080"/>
            <a:ext cx="310896" cy="310896"/>
          </a:xfrm>
          <a:prstGeom prst="ellipse">
            <a:avLst/>
          </a:prstGeom>
          <a:solidFill>
            <a:schemeClr val="accent6"/>
          </a:solidFill>
          <a:ln w="12700">
            <a:solidFill>
              <a:schemeClr val="accent6"/>
            </a:solidFill>
            <a:prstDash val="solid"/>
          </a:ln>
        </p:spPr>
      </p:sp>
      <p:sp>
        <p:nvSpPr>
          <p:cNvPr id="78" name="Normal dot 70"/>
          <p:cNvSpPr/>
          <p:nvPr/>
        </p:nvSpPr>
        <p:spPr>
          <a:xfrm>
            <a:off x="11018520" y="4069080"/>
            <a:ext cx="310896" cy="310896"/>
          </a:xfrm>
          <a:prstGeom prst="ellipse">
            <a:avLst/>
          </a:prstGeom>
          <a:solidFill>
            <a:schemeClr val="accent6"/>
          </a:solidFill>
          <a:ln w="12700">
            <a:solidFill>
              <a:schemeClr val="accent6"/>
            </a:solidFill>
            <a:prstDash val="solid"/>
          </a:ln>
        </p:spPr>
      </p:sp>
      <p:sp>
        <p:nvSpPr>
          <p:cNvPr id="79" name="Normal dot 71"/>
          <p:cNvSpPr/>
          <p:nvPr/>
        </p:nvSpPr>
        <p:spPr>
          <a:xfrm>
            <a:off x="7315200" y="4480560"/>
            <a:ext cx="310896" cy="310896"/>
          </a:xfrm>
          <a:prstGeom prst="ellipse">
            <a:avLst/>
          </a:prstGeom>
          <a:solidFill>
            <a:schemeClr val="accent6"/>
          </a:solidFill>
          <a:ln w="12700">
            <a:solidFill>
              <a:schemeClr val="accent6"/>
            </a:solidFill>
            <a:prstDash val="solid"/>
          </a:ln>
        </p:spPr>
      </p:sp>
      <p:sp>
        <p:nvSpPr>
          <p:cNvPr id="80" name="Normal dot 72"/>
          <p:cNvSpPr/>
          <p:nvPr/>
        </p:nvSpPr>
        <p:spPr>
          <a:xfrm>
            <a:off x="7726680" y="4480560"/>
            <a:ext cx="310896" cy="310896"/>
          </a:xfrm>
          <a:prstGeom prst="ellipse">
            <a:avLst/>
          </a:prstGeom>
          <a:solidFill>
            <a:schemeClr val="accent6"/>
          </a:solidFill>
          <a:ln w="12700">
            <a:solidFill>
              <a:schemeClr val="accent6"/>
            </a:solidFill>
            <a:prstDash val="solid"/>
          </a:ln>
        </p:spPr>
      </p:sp>
      <p:sp>
        <p:nvSpPr>
          <p:cNvPr id="81" name="Normal dot 73"/>
          <p:cNvSpPr/>
          <p:nvPr/>
        </p:nvSpPr>
        <p:spPr>
          <a:xfrm>
            <a:off x="8138160" y="4480560"/>
            <a:ext cx="310896" cy="310896"/>
          </a:xfrm>
          <a:prstGeom prst="ellipse">
            <a:avLst/>
          </a:prstGeom>
          <a:solidFill>
            <a:schemeClr val="accent6"/>
          </a:solidFill>
          <a:ln w="12700">
            <a:solidFill>
              <a:schemeClr val="accent6"/>
            </a:solidFill>
            <a:prstDash val="solid"/>
          </a:ln>
        </p:spPr>
      </p:sp>
      <p:sp>
        <p:nvSpPr>
          <p:cNvPr id="82" name="Normal dot 74"/>
          <p:cNvSpPr/>
          <p:nvPr/>
        </p:nvSpPr>
        <p:spPr>
          <a:xfrm>
            <a:off x="8549640" y="4480560"/>
            <a:ext cx="310896" cy="310896"/>
          </a:xfrm>
          <a:prstGeom prst="ellipse">
            <a:avLst/>
          </a:prstGeom>
          <a:solidFill>
            <a:schemeClr val="accent6"/>
          </a:solidFill>
          <a:ln w="12700">
            <a:solidFill>
              <a:schemeClr val="accent6"/>
            </a:solidFill>
            <a:prstDash val="solid"/>
          </a:ln>
        </p:spPr>
      </p:sp>
      <p:sp>
        <p:nvSpPr>
          <p:cNvPr id="83" name="Normal dot 75"/>
          <p:cNvSpPr/>
          <p:nvPr/>
        </p:nvSpPr>
        <p:spPr>
          <a:xfrm>
            <a:off x="8961120" y="4480560"/>
            <a:ext cx="310896" cy="310896"/>
          </a:xfrm>
          <a:prstGeom prst="ellipse">
            <a:avLst/>
          </a:prstGeom>
          <a:solidFill>
            <a:schemeClr val="accent6"/>
          </a:solidFill>
          <a:ln w="12700">
            <a:solidFill>
              <a:schemeClr val="accent6"/>
            </a:solidFill>
            <a:prstDash val="solid"/>
          </a:ln>
        </p:spPr>
      </p:sp>
      <p:sp>
        <p:nvSpPr>
          <p:cNvPr id="84" name="Normal dot 76"/>
          <p:cNvSpPr/>
          <p:nvPr/>
        </p:nvSpPr>
        <p:spPr>
          <a:xfrm>
            <a:off x="9372600" y="4480560"/>
            <a:ext cx="310896" cy="310896"/>
          </a:xfrm>
          <a:prstGeom prst="ellipse">
            <a:avLst/>
          </a:prstGeom>
          <a:solidFill>
            <a:schemeClr val="accent6"/>
          </a:solidFill>
          <a:ln w="12700">
            <a:solidFill>
              <a:schemeClr val="accent6"/>
            </a:solidFill>
            <a:prstDash val="solid"/>
          </a:ln>
        </p:spPr>
      </p:sp>
      <p:sp>
        <p:nvSpPr>
          <p:cNvPr id="85" name="Normal dot 77"/>
          <p:cNvSpPr/>
          <p:nvPr/>
        </p:nvSpPr>
        <p:spPr>
          <a:xfrm>
            <a:off x="9784080" y="4480560"/>
            <a:ext cx="310896" cy="310896"/>
          </a:xfrm>
          <a:prstGeom prst="ellipse">
            <a:avLst/>
          </a:prstGeom>
          <a:solidFill>
            <a:schemeClr val="accent6"/>
          </a:solidFill>
          <a:ln w="12700">
            <a:solidFill>
              <a:schemeClr val="accent6"/>
            </a:solidFill>
            <a:prstDash val="solid"/>
          </a:ln>
        </p:spPr>
      </p:sp>
      <p:sp>
        <p:nvSpPr>
          <p:cNvPr id="86" name="Normal dot 78"/>
          <p:cNvSpPr/>
          <p:nvPr/>
        </p:nvSpPr>
        <p:spPr>
          <a:xfrm>
            <a:off x="10195560" y="4480560"/>
            <a:ext cx="310896" cy="310896"/>
          </a:xfrm>
          <a:prstGeom prst="ellipse">
            <a:avLst/>
          </a:prstGeom>
          <a:solidFill>
            <a:schemeClr val="accent6"/>
          </a:solidFill>
          <a:ln w="12700">
            <a:solidFill>
              <a:schemeClr val="accent6"/>
            </a:solidFill>
            <a:prstDash val="solid"/>
          </a:ln>
        </p:spPr>
      </p:sp>
      <p:sp>
        <p:nvSpPr>
          <p:cNvPr id="87" name="Normal dot 79"/>
          <p:cNvSpPr/>
          <p:nvPr/>
        </p:nvSpPr>
        <p:spPr>
          <a:xfrm>
            <a:off x="10607040" y="4480560"/>
            <a:ext cx="310896" cy="310896"/>
          </a:xfrm>
          <a:prstGeom prst="ellipse">
            <a:avLst/>
          </a:prstGeom>
          <a:solidFill>
            <a:schemeClr val="accent6"/>
          </a:solidFill>
          <a:ln w="12700">
            <a:solidFill>
              <a:schemeClr val="accent6"/>
            </a:solidFill>
            <a:prstDash val="solid"/>
          </a:ln>
        </p:spPr>
      </p:sp>
      <p:sp>
        <p:nvSpPr>
          <p:cNvPr id="88" name="Normal dot 80"/>
          <p:cNvSpPr/>
          <p:nvPr/>
        </p:nvSpPr>
        <p:spPr>
          <a:xfrm>
            <a:off x="11018520" y="4480560"/>
            <a:ext cx="310896" cy="310896"/>
          </a:xfrm>
          <a:prstGeom prst="ellipse">
            <a:avLst/>
          </a:prstGeom>
          <a:solidFill>
            <a:schemeClr val="accent6"/>
          </a:solidFill>
          <a:ln w="12700">
            <a:solidFill>
              <a:schemeClr val="accent6"/>
            </a:solidFill>
            <a:prstDash val="solid"/>
          </a:ln>
        </p:spPr>
      </p:sp>
      <p:sp>
        <p:nvSpPr>
          <p:cNvPr id="89" name="Normal dot 81"/>
          <p:cNvSpPr/>
          <p:nvPr/>
        </p:nvSpPr>
        <p:spPr>
          <a:xfrm>
            <a:off x="7315200" y="4892040"/>
            <a:ext cx="310896" cy="310896"/>
          </a:xfrm>
          <a:prstGeom prst="ellipse">
            <a:avLst/>
          </a:prstGeom>
          <a:solidFill>
            <a:schemeClr val="accent6"/>
          </a:solidFill>
          <a:ln w="12700">
            <a:solidFill>
              <a:schemeClr val="accent6"/>
            </a:solidFill>
            <a:prstDash val="solid"/>
          </a:ln>
        </p:spPr>
      </p:sp>
      <p:sp>
        <p:nvSpPr>
          <p:cNvPr id="90" name="Normal dot 82"/>
          <p:cNvSpPr/>
          <p:nvPr/>
        </p:nvSpPr>
        <p:spPr>
          <a:xfrm>
            <a:off x="7726680" y="4892040"/>
            <a:ext cx="310896" cy="310896"/>
          </a:xfrm>
          <a:prstGeom prst="ellipse">
            <a:avLst/>
          </a:prstGeom>
          <a:solidFill>
            <a:schemeClr val="accent6"/>
          </a:solidFill>
          <a:ln w="12700">
            <a:solidFill>
              <a:schemeClr val="accent6"/>
            </a:solidFill>
            <a:prstDash val="solid"/>
          </a:ln>
        </p:spPr>
      </p:sp>
      <p:sp>
        <p:nvSpPr>
          <p:cNvPr id="91" name="Normal dot 83"/>
          <p:cNvSpPr/>
          <p:nvPr/>
        </p:nvSpPr>
        <p:spPr>
          <a:xfrm>
            <a:off x="8138160" y="4892040"/>
            <a:ext cx="310896" cy="310896"/>
          </a:xfrm>
          <a:prstGeom prst="ellipse">
            <a:avLst/>
          </a:prstGeom>
          <a:solidFill>
            <a:schemeClr val="accent6"/>
          </a:solidFill>
          <a:ln w="12700">
            <a:solidFill>
              <a:schemeClr val="accent6"/>
            </a:solidFill>
            <a:prstDash val="solid"/>
          </a:ln>
        </p:spPr>
      </p:sp>
      <p:sp>
        <p:nvSpPr>
          <p:cNvPr id="92" name="Normal dot 84"/>
          <p:cNvSpPr/>
          <p:nvPr/>
        </p:nvSpPr>
        <p:spPr>
          <a:xfrm>
            <a:off x="8549640" y="4892040"/>
            <a:ext cx="310896" cy="310896"/>
          </a:xfrm>
          <a:prstGeom prst="ellipse">
            <a:avLst/>
          </a:prstGeom>
          <a:solidFill>
            <a:schemeClr val="accent6"/>
          </a:solidFill>
          <a:ln w="12700">
            <a:solidFill>
              <a:schemeClr val="accent6"/>
            </a:solidFill>
            <a:prstDash val="solid"/>
          </a:ln>
        </p:spPr>
      </p:sp>
      <p:sp>
        <p:nvSpPr>
          <p:cNvPr id="93" name="Normal dot 85"/>
          <p:cNvSpPr/>
          <p:nvPr/>
        </p:nvSpPr>
        <p:spPr>
          <a:xfrm>
            <a:off x="8961120" y="4892040"/>
            <a:ext cx="310896" cy="310896"/>
          </a:xfrm>
          <a:prstGeom prst="ellipse">
            <a:avLst/>
          </a:prstGeom>
          <a:solidFill>
            <a:schemeClr val="accent6"/>
          </a:solidFill>
          <a:ln w="12700">
            <a:solidFill>
              <a:schemeClr val="accent6"/>
            </a:solidFill>
            <a:prstDash val="solid"/>
          </a:ln>
        </p:spPr>
      </p:sp>
      <p:sp>
        <p:nvSpPr>
          <p:cNvPr id="94" name="Normal dot 86"/>
          <p:cNvSpPr/>
          <p:nvPr/>
        </p:nvSpPr>
        <p:spPr>
          <a:xfrm>
            <a:off x="9372600" y="4892040"/>
            <a:ext cx="310896" cy="310896"/>
          </a:xfrm>
          <a:prstGeom prst="ellipse">
            <a:avLst/>
          </a:prstGeom>
          <a:solidFill>
            <a:schemeClr val="accent6"/>
          </a:solidFill>
          <a:ln w="12700">
            <a:solidFill>
              <a:schemeClr val="accent6"/>
            </a:solidFill>
            <a:prstDash val="solid"/>
          </a:ln>
        </p:spPr>
      </p:sp>
      <p:sp>
        <p:nvSpPr>
          <p:cNvPr id="95" name="Normal dot 87"/>
          <p:cNvSpPr/>
          <p:nvPr/>
        </p:nvSpPr>
        <p:spPr>
          <a:xfrm>
            <a:off x="9784080" y="4892040"/>
            <a:ext cx="310896" cy="310896"/>
          </a:xfrm>
          <a:prstGeom prst="ellipse">
            <a:avLst/>
          </a:prstGeom>
          <a:solidFill>
            <a:schemeClr val="accent6"/>
          </a:solidFill>
          <a:ln w="12700">
            <a:solidFill>
              <a:schemeClr val="accent6"/>
            </a:solidFill>
            <a:prstDash val="solid"/>
          </a:ln>
        </p:spPr>
      </p:sp>
      <p:sp>
        <p:nvSpPr>
          <p:cNvPr id="96" name="Normal dot 88"/>
          <p:cNvSpPr/>
          <p:nvPr/>
        </p:nvSpPr>
        <p:spPr>
          <a:xfrm>
            <a:off x="10195560" y="4892040"/>
            <a:ext cx="310896" cy="310896"/>
          </a:xfrm>
          <a:prstGeom prst="ellipse">
            <a:avLst/>
          </a:prstGeom>
          <a:solidFill>
            <a:schemeClr val="accent6"/>
          </a:solidFill>
          <a:ln w="12700">
            <a:solidFill>
              <a:schemeClr val="accent6"/>
            </a:solidFill>
            <a:prstDash val="solid"/>
          </a:ln>
        </p:spPr>
      </p:sp>
      <p:sp>
        <p:nvSpPr>
          <p:cNvPr id="97" name="Normal dot 89"/>
          <p:cNvSpPr/>
          <p:nvPr/>
        </p:nvSpPr>
        <p:spPr>
          <a:xfrm>
            <a:off x="10607040" y="4892040"/>
            <a:ext cx="310896" cy="310896"/>
          </a:xfrm>
          <a:prstGeom prst="ellipse">
            <a:avLst/>
          </a:prstGeom>
          <a:solidFill>
            <a:schemeClr val="accent6"/>
          </a:solidFill>
          <a:ln w="12700">
            <a:solidFill>
              <a:schemeClr val="accent6"/>
            </a:solidFill>
            <a:prstDash val="solid"/>
          </a:ln>
        </p:spPr>
      </p:sp>
      <p:sp>
        <p:nvSpPr>
          <p:cNvPr id="98" name="Normal dot 90"/>
          <p:cNvSpPr/>
          <p:nvPr/>
        </p:nvSpPr>
        <p:spPr>
          <a:xfrm>
            <a:off x="11018520" y="4892040"/>
            <a:ext cx="310896" cy="310896"/>
          </a:xfrm>
          <a:prstGeom prst="ellipse">
            <a:avLst/>
          </a:prstGeom>
          <a:solidFill>
            <a:schemeClr val="accent6"/>
          </a:solidFill>
          <a:ln w="12700">
            <a:solidFill>
              <a:schemeClr val="accent6"/>
            </a:solidFill>
            <a:prstDash val="solid"/>
          </a:ln>
        </p:spPr>
      </p:sp>
      <p:sp>
        <p:nvSpPr>
          <p:cNvPr id="99" name="Normal dot 91"/>
          <p:cNvSpPr/>
          <p:nvPr/>
        </p:nvSpPr>
        <p:spPr>
          <a:xfrm>
            <a:off x="7315200" y="5303520"/>
            <a:ext cx="310896" cy="310896"/>
          </a:xfrm>
          <a:prstGeom prst="ellipse">
            <a:avLst/>
          </a:prstGeom>
          <a:solidFill>
            <a:schemeClr val="accent6"/>
          </a:solidFill>
          <a:ln w="12700">
            <a:solidFill>
              <a:schemeClr val="accent6"/>
            </a:solidFill>
            <a:prstDash val="solid"/>
          </a:ln>
        </p:spPr>
      </p:sp>
      <p:sp>
        <p:nvSpPr>
          <p:cNvPr id="100" name="Normal dot 92"/>
          <p:cNvSpPr/>
          <p:nvPr/>
        </p:nvSpPr>
        <p:spPr>
          <a:xfrm>
            <a:off x="7726680" y="5303520"/>
            <a:ext cx="310896" cy="310896"/>
          </a:xfrm>
          <a:prstGeom prst="ellipse">
            <a:avLst/>
          </a:prstGeom>
          <a:solidFill>
            <a:schemeClr val="accent6"/>
          </a:solidFill>
          <a:ln w="12700">
            <a:solidFill>
              <a:schemeClr val="accent6"/>
            </a:solidFill>
            <a:prstDash val="solid"/>
          </a:ln>
        </p:spPr>
      </p:sp>
      <p:sp>
        <p:nvSpPr>
          <p:cNvPr id="101" name="Normal dot 93"/>
          <p:cNvSpPr/>
          <p:nvPr/>
        </p:nvSpPr>
        <p:spPr>
          <a:xfrm>
            <a:off x="8138160" y="5303520"/>
            <a:ext cx="310896" cy="310896"/>
          </a:xfrm>
          <a:prstGeom prst="ellipse">
            <a:avLst/>
          </a:prstGeom>
          <a:solidFill>
            <a:schemeClr val="accent6"/>
          </a:solidFill>
          <a:ln w="12700">
            <a:solidFill>
              <a:schemeClr val="accent6"/>
            </a:solidFill>
            <a:prstDash val="solid"/>
          </a:ln>
        </p:spPr>
      </p:sp>
      <p:sp>
        <p:nvSpPr>
          <p:cNvPr id="102" name="Normal dot 94"/>
          <p:cNvSpPr/>
          <p:nvPr/>
        </p:nvSpPr>
        <p:spPr>
          <a:xfrm>
            <a:off x="8549640" y="5303520"/>
            <a:ext cx="310896" cy="310896"/>
          </a:xfrm>
          <a:prstGeom prst="ellipse">
            <a:avLst/>
          </a:prstGeom>
          <a:solidFill>
            <a:schemeClr val="accent6"/>
          </a:solidFill>
          <a:ln w="12700">
            <a:solidFill>
              <a:schemeClr val="accent6"/>
            </a:solidFill>
            <a:prstDash val="solid"/>
          </a:ln>
        </p:spPr>
      </p:sp>
      <p:sp>
        <p:nvSpPr>
          <p:cNvPr id="103" name="Normal dot 95"/>
          <p:cNvSpPr/>
          <p:nvPr/>
        </p:nvSpPr>
        <p:spPr>
          <a:xfrm>
            <a:off x="8961120" y="5303520"/>
            <a:ext cx="310896" cy="310896"/>
          </a:xfrm>
          <a:prstGeom prst="ellipse">
            <a:avLst/>
          </a:prstGeom>
          <a:solidFill>
            <a:schemeClr val="accent6"/>
          </a:solidFill>
          <a:ln w="12700">
            <a:solidFill>
              <a:schemeClr val="accent6"/>
            </a:solidFill>
            <a:prstDash val="solid"/>
          </a:ln>
        </p:spPr>
      </p:sp>
      <p:sp>
        <p:nvSpPr>
          <p:cNvPr id="104" name="Normal dot 96"/>
          <p:cNvSpPr/>
          <p:nvPr/>
        </p:nvSpPr>
        <p:spPr>
          <a:xfrm>
            <a:off x="9372600" y="5303520"/>
            <a:ext cx="310896" cy="310896"/>
          </a:xfrm>
          <a:prstGeom prst="ellipse">
            <a:avLst/>
          </a:prstGeom>
          <a:solidFill>
            <a:schemeClr val="accent6"/>
          </a:solidFill>
          <a:ln w="12700">
            <a:solidFill>
              <a:schemeClr val="accent6"/>
            </a:solidFill>
            <a:prstDash val="solid"/>
          </a:ln>
        </p:spPr>
      </p:sp>
      <p:sp>
        <p:nvSpPr>
          <p:cNvPr id="105" name="Normal dot 97"/>
          <p:cNvSpPr/>
          <p:nvPr/>
        </p:nvSpPr>
        <p:spPr>
          <a:xfrm>
            <a:off x="9784080" y="5303520"/>
            <a:ext cx="310896" cy="310896"/>
          </a:xfrm>
          <a:prstGeom prst="ellipse">
            <a:avLst/>
          </a:prstGeom>
          <a:solidFill>
            <a:schemeClr val="accent6"/>
          </a:solidFill>
          <a:ln w="12700">
            <a:solidFill>
              <a:schemeClr val="accent6"/>
            </a:solidFill>
            <a:prstDash val="solid"/>
          </a:ln>
        </p:spPr>
      </p:sp>
      <p:sp>
        <p:nvSpPr>
          <p:cNvPr id="106" name="Normal dot 98"/>
          <p:cNvSpPr/>
          <p:nvPr/>
        </p:nvSpPr>
        <p:spPr>
          <a:xfrm>
            <a:off x="10195560" y="5303520"/>
            <a:ext cx="310896" cy="310896"/>
          </a:xfrm>
          <a:prstGeom prst="ellipse">
            <a:avLst/>
          </a:prstGeom>
          <a:solidFill>
            <a:schemeClr val="accent6"/>
          </a:solidFill>
          <a:ln w="12700">
            <a:solidFill>
              <a:schemeClr val="accent6"/>
            </a:solidFill>
            <a:prstDash val="solid"/>
          </a:ln>
        </p:spPr>
      </p:sp>
      <p:sp>
        <p:nvSpPr>
          <p:cNvPr id="107" name="Normal dot 99"/>
          <p:cNvSpPr/>
          <p:nvPr/>
        </p:nvSpPr>
        <p:spPr>
          <a:xfrm>
            <a:off x="10607040" y="5303520"/>
            <a:ext cx="310896" cy="310896"/>
          </a:xfrm>
          <a:prstGeom prst="ellipse">
            <a:avLst/>
          </a:prstGeom>
          <a:solidFill>
            <a:schemeClr val="accent6"/>
          </a:solidFill>
          <a:ln w="12700">
            <a:solidFill>
              <a:schemeClr val="accent6"/>
            </a:solidFill>
            <a:prstDash val="solid"/>
          </a:ln>
        </p:spPr>
      </p:sp>
      <p:sp>
        <p:nvSpPr>
          <p:cNvPr id="108" name="Normal dot 100"/>
          <p:cNvSpPr/>
          <p:nvPr/>
        </p:nvSpPr>
        <p:spPr>
          <a:xfrm>
            <a:off x="11018520" y="5303520"/>
            <a:ext cx="310896" cy="310896"/>
          </a:xfrm>
          <a:prstGeom prst="ellipse">
            <a:avLst/>
          </a:prstGeom>
          <a:solidFill>
            <a:schemeClr val="accent6"/>
          </a:solidFill>
          <a:ln w="12700">
            <a:solidFill>
              <a:schemeClr val="accent6"/>
            </a:solidFill>
            <a:prstDash val="solid"/>
          </a:ln>
        </p:spPr>
      </p:sp>
      <p:sp>
        <p:nvSpPr>
          <p:cNvPr id="109" name="Dot caption"/>
          <p:cNvSpPr txBox="1"/>
          <p:nvPr/>
        </p:nvSpPr>
        <p:spPr>
          <a:xfrm>
            <a:off x="7315200" y="5760720"/>
            <a:ext cx="4297680" cy="320040"/>
          </a:xfrm>
          <a:prstGeom prst="rect">
            <a:avLst/>
          </a:prstGeom>
          <a:noFill/>
          <a:ln/>
        </p:spPr>
        <p:txBody>
          <a:bodyPr wrap="square" lIns="0" tIns="0" rIns="0" bIns="0" rtlCol="0" anchor="t"/>
          <a:lstStyle/>
          <a:p>
            <a:pPr indent="0" marL="0">
              <a:buNone/>
            </a:pPr>
            <a:r>
              <a:rPr lang="en-US" sz="1200" dirty="0">
                <a:solidFill>
                  <a:schemeClr val="accent5"/>
                </a:solidFill>
              </a:rPr>
              <a:t>Illustration: 1 fraud in every 100 transactions</a:t>
            </a:r>
            <a:endParaRPr lang="en-US" sz="12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A public dataset we generate ourselves</a:t>
            </a:r>
            <a:endParaRPr lang="en-US" sz="3600" dirty="0"/>
          </a:p>
        </p:txBody>
      </p:sp>
      <p:sp>
        <p:nvSpPr>
          <p:cNvPr id="3" name="Data card 1"/>
          <p:cNvSpPr/>
          <p:nvPr/>
        </p:nvSpPr>
        <p:spPr>
          <a:xfrm>
            <a:off x="640080" y="1645920"/>
            <a:ext cx="3429000" cy="3749040"/>
          </a:xfrm>
          <a:prstGeom prst="roundRect">
            <a:avLst>
              <a:gd name="adj" fmla="val 3200"/>
            </a:avLst>
          </a:prstGeom>
          <a:solidFill>
            <a:schemeClr val="bg2"/>
          </a:solidFill>
          <a:ln w="12700">
            <a:solidFill>
              <a:schemeClr val="bg2"/>
            </a:solidFill>
            <a:prstDash val="solid"/>
          </a:ln>
        </p:spPr>
      </p:sp>
      <p:sp>
        <p:nvSpPr>
          <p:cNvPr id="4" name="Data Source circle"/>
          <p:cNvSpPr/>
          <p:nvPr/>
        </p:nvSpPr>
        <p:spPr>
          <a:xfrm>
            <a:off x="960120" y="1965960"/>
            <a:ext cx="731520" cy="731520"/>
          </a:xfrm>
          <a:prstGeom prst="ellipse">
            <a:avLst/>
          </a:prstGeom>
          <a:solidFill>
            <a:schemeClr val="accent1"/>
          </a:solidFill>
          <a:ln w="12700">
            <a:solidFill>
              <a:schemeClr val="accent1"/>
            </a:solidFill>
            <a:prstDash val="solid"/>
          </a:ln>
        </p:spPr>
      </p:sp>
      <p:pic>
        <p:nvPicPr>
          <p:cNvPr id="5" name="Data Source icon" descr="Data Source">    </p:cNvPr>
          <p:cNvPicPr>
            <a:picLocks noChangeAspect="1"/>
          </p:cNvPicPr>
          <p:nvPr/>
        </p:nvPicPr>
        <p:blipFill>
          <a:blip r:embed="rId1"/>
          <a:stretch>
            <a:fillRect/>
          </a:stretch>
        </p:blipFill>
        <p:spPr>
          <a:xfrm>
            <a:off x="1121054" y="2126894"/>
            <a:ext cx="409651" cy="409651"/>
          </a:xfrm>
          <a:prstGeom prst="rect">
            <a:avLst/>
          </a:prstGeom>
        </p:spPr>
      </p:pic>
      <p:sp>
        <p:nvSpPr>
          <p:cNvPr id="6" name="Data header 1"/>
          <p:cNvSpPr txBox="1"/>
          <p:nvPr/>
        </p:nvSpPr>
        <p:spPr>
          <a:xfrm>
            <a:off x="960120"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rPr>
              <a:t>Source</a:t>
            </a:r>
            <a:endParaRPr lang="en-US" sz="2000" dirty="0"/>
          </a:p>
        </p:txBody>
      </p:sp>
      <p:sp>
        <p:nvSpPr>
          <p:cNvPr id="7" name="Data text 1"/>
          <p:cNvSpPr txBox="1"/>
          <p:nvPr/>
        </p:nvSpPr>
        <p:spPr>
          <a:xfrm>
            <a:off x="960120" y="3429000"/>
            <a:ext cx="2788920" cy="1737360"/>
          </a:xfrm>
          <a:prstGeom prst="rect">
            <a:avLst/>
          </a:prstGeom>
          <a:noFill/>
          <a:ln/>
        </p:spPr>
        <p:txBody>
          <a:bodyPr wrap="square" lIns="0" tIns="0" rIns="0" bIns="0" rtlCol="0" anchor="t"/>
          <a:lstStyle/>
          <a:p>
            <a:pPr indent="0" marL="0">
              <a:buNone/>
            </a:pPr>
            <a:r>
              <a:rPr lang="en-US" sz="1500" dirty="0">
                <a:solidFill>
                  <a:schemeClr val="tx1"/>
                </a:solidFill>
              </a:rPr>
              <a:t>Sparkov Data Generation: a public GitHub tool that simulates credit card transactions, including fraud.</a:t>
            </a:r>
            <a:endParaRPr lang="en-US" sz="1500" dirty="0"/>
          </a:p>
        </p:txBody>
      </p:sp>
      <p:sp>
        <p:nvSpPr>
          <p:cNvPr id="8" name="Data link"/>
          <p:cNvSpPr txBox="1"/>
          <p:nvPr/>
        </p:nvSpPr>
        <p:spPr>
          <a:xfrm>
            <a:off x="960120" y="4846320"/>
            <a:ext cx="2788920" cy="365760"/>
          </a:xfrm>
          <a:prstGeom prst="rect">
            <a:avLst/>
          </a:prstGeom>
          <a:noFill/>
          <a:ln/>
        </p:spPr>
        <p:txBody>
          <a:bodyPr wrap="square" lIns="0" tIns="0" rIns="0" bIns="0" rtlCol="0" anchor="t"/>
          <a:lstStyle/>
          <a:p>
            <a:pPr indent="0" marL="0">
              <a:buNone/>
            </a:pPr>
            <a:r>
              <a:rPr lang="en-US" sz="1100" dirty="0">
                <a:solidFill>
                  <a:schemeClr val="accent1"/>
                </a:solidFill>
              </a:rPr>
              <a:t>namebrandon/Sparkov_Data_Generation</a:t>
            </a:r>
            <a:endParaRPr lang="en-US" sz="1100" dirty="0"/>
          </a:p>
        </p:txBody>
      </p:sp>
      <p:sp>
        <p:nvSpPr>
          <p:cNvPr id="9" name="Data card 2"/>
          <p:cNvSpPr/>
          <p:nvPr/>
        </p:nvSpPr>
        <p:spPr>
          <a:xfrm>
            <a:off x="4366260" y="1645920"/>
            <a:ext cx="3429000" cy="3749040"/>
          </a:xfrm>
          <a:prstGeom prst="roundRect">
            <a:avLst>
              <a:gd name="adj" fmla="val 3200"/>
            </a:avLst>
          </a:prstGeom>
          <a:solidFill>
            <a:schemeClr val="bg2"/>
          </a:solidFill>
          <a:ln w="12700">
            <a:solidFill>
              <a:schemeClr val="bg2"/>
            </a:solidFill>
            <a:prstDash val="solid"/>
          </a:ln>
        </p:spPr>
      </p:sp>
      <p:sp>
        <p:nvSpPr>
          <p:cNvPr id="10" name="Data What it contains circle"/>
          <p:cNvSpPr/>
          <p:nvPr/>
        </p:nvSpPr>
        <p:spPr>
          <a:xfrm>
            <a:off x="4686300" y="1965960"/>
            <a:ext cx="731520" cy="731520"/>
          </a:xfrm>
          <a:prstGeom prst="ellipse">
            <a:avLst/>
          </a:prstGeom>
          <a:solidFill>
            <a:schemeClr val="accent1"/>
          </a:solidFill>
          <a:ln w="12700">
            <a:solidFill>
              <a:schemeClr val="accent1"/>
            </a:solidFill>
            <a:prstDash val="solid"/>
          </a:ln>
        </p:spPr>
      </p:sp>
      <p:pic>
        <p:nvPicPr>
          <p:cNvPr id="11" name="Data What it contains icon" descr="Data What it contains">    </p:cNvPr>
          <p:cNvPicPr>
            <a:picLocks noChangeAspect="1"/>
          </p:cNvPicPr>
          <p:nvPr/>
        </p:nvPicPr>
        <p:blipFill>
          <a:blip r:embed="rId2"/>
          <a:stretch>
            <a:fillRect/>
          </a:stretch>
        </p:blipFill>
        <p:spPr>
          <a:xfrm>
            <a:off x="4847234" y="2126894"/>
            <a:ext cx="409651" cy="409651"/>
          </a:xfrm>
          <a:prstGeom prst="rect">
            <a:avLst/>
          </a:prstGeom>
        </p:spPr>
      </p:pic>
      <p:sp>
        <p:nvSpPr>
          <p:cNvPr id="12" name="Data header 2"/>
          <p:cNvSpPr txBox="1"/>
          <p:nvPr/>
        </p:nvSpPr>
        <p:spPr>
          <a:xfrm>
            <a:off x="4686300"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rPr>
              <a:t>What it contains</a:t>
            </a:r>
            <a:endParaRPr lang="en-US" sz="2000" dirty="0"/>
          </a:p>
        </p:txBody>
      </p:sp>
      <p:sp>
        <p:nvSpPr>
          <p:cNvPr id="13" name="Data text 2"/>
          <p:cNvSpPr txBox="1"/>
          <p:nvPr/>
        </p:nvSpPr>
        <p:spPr>
          <a:xfrm>
            <a:off x="4686300" y="3429000"/>
            <a:ext cx="2788920" cy="1737360"/>
          </a:xfrm>
          <a:prstGeom prst="rect">
            <a:avLst/>
          </a:prstGeom>
          <a:noFill/>
          <a:ln/>
        </p:spPr>
        <p:txBody>
          <a:bodyPr wrap="square" lIns="0" tIns="0" rIns="0" bIns="0" rtlCol="0" anchor="t"/>
          <a:lstStyle/>
          <a:p>
            <a:pPr indent="0" marL="0">
              <a:buNone/>
            </a:pPr>
            <a:r>
              <a:rPr lang="en-US" sz="1500" dirty="0">
                <a:solidFill>
                  <a:schemeClr val="tx1"/>
                </a:solidFill>
              </a:rPr>
              <a:t>Customers with a home location, merchants with a category and location, amounts, timestamps, and a fraud label.</a:t>
            </a:r>
            <a:endParaRPr lang="en-US" sz="1500" dirty="0"/>
          </a:p>
        </p:txBody>
      </p:sp>
      <p:sp>
        <p:nvSpPr>
          <p:cNvPr id="14" name="Data card 3"/>
          <p:cNvSpPr/>
          <p:nvPr/>
        </p:nvSpPr>
        <p:spPr>
          <a:xfrm>
            <a:off x="8092440" y="1645920"/>
            <a:ext cx="3429000" cy="3749040"/>
          </a:xfrm>
          <a:prstGeom prst="roundRect">
            <a:avLst>
              <a:gd name="adj" fmla="val 3200"/>
            </a:avLst>
          </a:prstGeom>
          <a:solidFill>
            <a:schemeClr val="bg2"/>
          </a:solidFill>
          <a:ln w="12700">
            <a:solidFill>
              <a:schemeClr val="bg2"/>
            </a:solidFill>
            <a:prstDash val="solid"/>
          </a:ln>
        </p:spPr>
      </p:sp>
      <p:sp>
        <p:nvSpPr>
          <p:cNvPr id="15" name="Data Why this dataset circle"/>
          <p:cNvSpPr/>
          <p:nvPr/>
        </p:nvSpPr>
        <p:spPr>
          <a:xfrm>
            <a:off x="8412480" y="1965960"/>
            <a:ext cx="731520" cy="731520"/>
          </a:xfrm>
          <a:prstGeom prst="ellipse">
            <a:avLst/>
          </a:prstGeom>
          <a:solidFill>
            <a:schemeClr val="accent1"/>
          </a:solidFill>
          <a:ln w="12700">
            <a:solidFill>
              <a:schemeClr val="accent1"/>
            </a:solidFill>
            <a:prstDash val="solid"/>
          </a:ln>
        </p:spPr>
      </p:sp>
      <p:pic>
        <p:nvPicPr>
          <p:cNvPr id="16" name="Data Why this dataset icon" descr="Data Why this dataset">    </p:cNvPr>
          <p:cNvPicPr>
            <a:picLocks noChangeAspect="1"/>
          </p:cNvPicPr>
          <p:nvPr/>
        </p:nvPicPr>
        <p:blipFill>
          <a:blip r:embed="rId3"/>
          <a:stretch>
            <a:fillRect/>
          </a:stretch>
        </p:blipFill>
        <p:spPr>
          <a:xfrm>
            <a:off x="8573414" y="2126894"/>
            <a:ext cx="409651" cy="409651"/>
          </a:xfrm>
          <a:prstGeom prst="rect">
            <a:avLst/>
          </a:prstGeom>
        </p:spPr>
      </p:pic>
      <p:sp>
        <p:nvSpPr>
          <p:cNvPr id="17" name="Data header 3"/>
          <p:cNvSpPr txBox="1"/>
          <p:nvPr/>
        </p:nvSpPr>
        <p:spPr>
          <a:xfrm>
            <a:off x="8412480"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rPr>
              <a:t>Why this dataset</a:t>
            </a:r>
            <a:endParaRPr lang="en-US" sz="2000" dirty="0"/>
          </a:p>
        </p:txBody>
      </p:sp>
      <p:sp>
        <p:nvSpPr>
          <p:cNvPr id="18" name="Data text 3"/>
          <p:cNvSpPr txBox="1"/>
          <p:nvPr/>
        </p:nvSpPr>
        <p:spPr>
          <a:xfrm>
            <a:off x="8412480" y="3429000"/>
            <a:ext cx="2788920" cy="1737360"/>
          </a:xfrm>
          <a:prstGeom prst="rect">
            <a:avLst/>
          </a:prstGeom>
          <a:noFill/>
          <a:ln/>
        </p:spPr>
        <p:txBody>
          <a:bodyPr wrap="square" lIns="0" tIns="0" rIns="0" bIns="0" rtlCol="0" anchor="t"/>
          <a:lstStyle/>
          <a:p>
            <a:pPr indent="0" marL="0">
              <a:buNone/>
            </a:pPr>
            <a:r>
              <a:rPr lang="en-US" sz="1500" dirty="0">
                <a:solidFill>
                  <a:schemeClr val="tx1"/>
                </a:solidFill>
              </a:rPr>
              <a:t>No private or personal data. It is public and reproducible, and we can generate as much as we need.</a:t>
            </a:r>
            <a:endParaRPr lang="en-US" sz="15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Features that capture normal card behavior</a:t>
            </a:r>
            <a:endParaRPr lang="en-US" sz="3600" dirty="0"/>
          </a:p>
        </p:txBody>
      </p:sp>
      <p:sp>
        <p:nvSpPr>
          <p:cNvPr id="3" name="Feature card 1"/>
          <p:cNvSpPr/>
          <p:nvPr/>
        </p:nvSpPr>
        <p:spPr>
          <a:xfrm>
            <a:off x="640080" y="1554480"/>
            <a:ext cx="5303520" cy="2011680"/>
          </a:xfrm>
          <a:prstGeom prst="roundRect">
            <a:avLst>
              <a:gd name="adj" fmla="val 5455"/>
            </a:avLst>
          </a:prstGeom>
          <a:solidFill>
            <a:schemeClr val="bg2"/>
          </a:solidFill>
          <a:ln w="12700">
            <a:solidFill>
              <a:schemeClr val="bg2"/>
            </a:solidFill>
            <a:prstDash val="solid"/>
          </a:ln>
        </p:spPr>
      </p:sp>
      <p:sp>
        <p:nvSpPr>
          <p:cNvPr id="4" name="Feature Location circle"/>
          <p:cNvSpPr/>
          <p:nvPr/>
        </p:nvSpPr>
        <p:spPr>
          <a:xfrm>
            <a:off x="960120" y="2194560"/>
            <a:ext cx="731520" cy="731520"/>
          </a:xfrm>
          <a:prstGeom prst="ellipse">
            <a:avLst/>
          </a:prstGeom>
          <a:solidFill>
            <a:schemeClr val="accent1"/>
          </a:solidFill>
          <a:ln w="12700">
            <a:solidFill>
              <a:schemeClr val="accent1"/>
            </a:solidFill>
            <a:prstDash val="solid"/>
          </a:ln>
        </p:spPr>
      </p:sp>
      <p:pic>
        <p:nvPicPr>
          <p:cNvPr id="5" name="Feature Location icon" descr="Feature Location">    </p:cNvPr>
          <p:cNvPicPr>
            <a:picLocks noChangeAspect="1"/>
          </p:cNvPicPr>
          <p:nvPr/>
        </p:nvPicPr>
        <p:blipFill>
          <a:blip r:embed="rId1"/>
          <a:stretch>
            <a:fillRect/>
          </a:stretch>
        </p:blipFill>
        <p:spPr>
          <a:xfrm>
            <a:off x="1121054" y="2355494"/>
            <a:ext cx="409651" cy="409651"/>
          </a:xfrm>
          <a:prstGeom prst="rect">
            <a:avLst/>
          </a:prstGeom>
        </p:spPr>
      </p:pic>
      <p:sp>
        <p:nvSpPr>
          <p:cNvPr id="6" name="Feature header 1"/>
          <p:cNvSpPr txBox="1"/>
          <p:nvPr/>
        </p:nvSpPr>
        <p:spPr>
          <a:xfrm>
            <a:off x="2011680" y="1874520"/>
            <a:ext cx="3657600" cy="411480"/>
          </a:xfrm>
          <a:prstGeom prst="rect">
            <a:avLst/>
          </a:prstGeom>
          <a:noFill/>
          <a:ln/>
        </p:spPr>
        <p:txBody>
          <a:bodyPr wrap="square" lIns="0" tIns="0" rIns="0" bIns="0" rtlCol="0" anchor="t"/>
          <a:lstStyle/>
          <a:p>
            <a:pPr indent="0" marL="0">
              <a:buNone/>
            </a:pPr>
            <a:r>
              <a:rPr lang="en-US" sz="2000" b="1" dirty="0">
                <a:solidFill>
                  <a:schemeClr val="tx1"/>
                </a:solidFill>
              </a:rPr>
              <a:t>Location</a:t>
            </a:r>
            <a:endParaRPr lang="en-US" sz="2000" dirty="0"/>
          </a:p>
        </p:txBody>
      </p:sp>
      <p:sp>
        <p:nvSpPr>
          <p:cNvPr id="7" name="Feature text 1"/>
          <p:cNvSpPr txBox="1"/>
          <p:nvPr/>
        </p:nvSpPr>
        <p:spPr>
          <a:xfrm>
            <a:off x="2011680" y="2377440"/>
            <a:ext cx="3657600" cy="1005840"/>
          </a:xfrm>
          <a:prstGeom prst="rect">
            <a:avLst/>
          </a:prstGeom>
          <a:noFill/>
          <a:ln/>
        </p:spPr>
        <p:txBody>
          <a:bodyPr wrap="square" lIns="0" tIns="0" rIns="0" bIns="0" rtlCol="0" anchor="t"/>
          <a:lstStyle/>
          <a:p>
            <a:pPr indent="0" marL="0">
              <a:buNone/>
            </a:pPr>
            <a:r>
              <a:rPr lang="en-US" sz="1500" dirty="0">
                <a:solidFill>
                  <a:schemeClr val="tx1"/>
                </a:solidFill>
              </a:rPr>
              <a:t>Distance from the customer's home to the merchant, using the haversine formula.</a:t>
            </a:r>
            <a:endParaRPr lang="en-US" sz="1500" dirty="0"/>
          </a:p>
        </p:txBody>
      </p:sp>
      <p:sp>
        <p:nvSpPr>
          <p:cNvPr id="8" name="Feature card 2"/>
          <p:cNvSpPr/>
          <p:nvPr/>
        </p:nvSpPr>
        <p:spPr>
          <a:xfrm>
            <a:off x="6217920" y="1554480"/>
            <a:ext cx="5303520" cy="2011680"/>
          </a:xfrm>
          <a:prstGeom prst="roundRect">
            <a:avLst>
              <a:gd name="adj" fmla="val 5455"/>
            </a:avLst>
          </a:prstGeom>
          <a:solidFill>
            <a:schemeClr val="bg2"/>
          </a:solidFill>
          <a:ln w="12700">
            <a:solidFill>
              <a:schemeClr val="bg2"/>
            </a:solidFill>
            <a:prstDash val="solid"/>
          </a:ln>
        </p:spPr>
      </p:sp>
      <p:sp>
        <p:nvSpPr>
          <p:cNvPr id="9" name="Feature Time circle"/>
          <p:cNvSpPr/>
          <p:nvPr/>
        </p:nvSpPr>
        <p:spPr>
          <a:xfrm>
            <a:off x="6537960" y="2194560"/>
            <a:ext cx="731520" cy="731520"/>
          </a:xfrm>
          <a:prstGeom prst="ellipse">
            <a:avLst/>
          </a:prstGeom>
          <a:solidFill>
            <a:schemeClr val="accent1"/>
          </a:solidFill>
          <a:ln w="12700">
            <a:solidFill>
              <a:schemeClr val="accent1"/>
            </a:solidFill>
            <a:prstDash val="solid"/>
          </a:ln>
        </p:spPr>
      </p:sp>
      <p:pic>
        <p:nvPicPr>
          <p:cNvPr id="10" name="Feature Time icon" descr="Feature Time">    </p:cNvPr>
          <p:cNvPicPr>
            <a:picLocks noChangeAspect="1"/>
          </p:cNvPicPr>
          <p:nvPr/>
        </p:nvPicPr>
        <p:blipFill>
          <a:blip r:embed="rId2"/>
          <a:stretch>
            <a:fillRect/>
          </a:stretch>
        </p:blipFill>
        <p:spPr>
          <a:xfrm>
            <a:off x="6698894" y="2355494"/>
            <a:ext cx="409651" cy="409651"/>
          </a:xfrm>
          <a:prstGeom prst="rect">
            <a:avLst/>
          </a:prstGeom>
        </p:spPr>
      </p:pic>
      <p:sp>
        <p:nvSpPr>
          <p:cNvPr id="11" name="Feature header 2"/>
          <p:cNvSpPr txBox="1"/>
          <p:nvPr/>
        </p:nvSpPr>
        <p:spPr>
          <a:xfrm>
            <a:off x="7589520" y="1874520"/>
            <a:ext cx="3657600" cy="411480"/>
          </a:xfrm>
          <a:prstGeom prst="rect">
            <a:avLst/>
          </a:prstGeom>
          <a:noFill/>
          <a:ln/>
        </p:spPr>
        <p:txBody>
          <a:bodyPr wrap="square" lIns="0" tIns="0" rIns="0" bIns="0" rtlCol="0" anchor="t"/>
          <a:lstStyle/>
          <a:p>
            <a:pPr indent="0" marL="0">
              <a:buNone/>
            </a:pPr>
            <a:r>
              <a:rPr lang="en-US" sz="2000" b="1" dirty="0">
                <a:solidFill>
                  <a:schemeClr val="tx1"/>
                </a:solidFill>
              </a:rPr>
              <a:t>Time</a:t>
            </a:r>
            <a:endParaRPr lang="en-US" sz="2000" dirty="0"/>
          </a:p>
        </p:txBody>
      </p:sp>
      <p:sp>
        <p:nvSpPr>
          <p:cNvPr id="12" name="Feature text 2"/>
          <p:cNvSpPr txBox="1"/>
          <p:nvPr/>
        </p:nvSpPr>
        <p:spPr>
          <a:xfrm>
            <a:off x="7589520" y="2377440"/>
            <a:ext cx="3657600" cy="1005840"/>
          </a:xfrm>
          <a:prstGeom prst="rect">
            <a:avLst/>
          </a:prstGeom>
          <a:noFill/>
          <a:ln/>
        </p:spPr>
        <p:txBody>
          <a:bodyPr wrap="square" lIns="0" tIns="0" rIns="0" bIns="0" rtlCol="0" anchor="t"/>
          <a:lstStyle/>
          <a:p>
            <a:pPr indent="0" marL="0">
              <a:buNone/>
            </a:pPr>
            <a:r>
              <a:rPr lang="en-US" sz="1500" dirty="0">
                <a:solidFill>
                  <a:schemeClr val="tx1"/>
                </a:solidFill>
              </a:rPr>
              <a:t>Hour of day, weekend flag, and customer age at the time of purchase.</a:t>
            </a:r>
            <a:endParaRPr lang="en-US" sz="1500" dirty="0"/>
          </a:p>
        </p:txBody>
      </p:sp>
      <p:sp>
        <p:nvSpPr>
          <p:cNvPr id="13" name="Feature card 3"/>
          <p:cNvSpPr/>
          <p:nvPr/>
        </p:nvSpPr>
        <p:spPr>
          <a:xfrm>
            <a:off x="640080" y="3840480"/>
            <a:ext cx="5303520" cy="2011680"/>
          </a:xfrm>
          <a:prstGeom prst="roundRect">
            <a:avLst>
              <a:gd name="adj" fmla="val 5455"/>
            </a:avLst>
          </a:prstGeom>
          <a:solidFill>
            <a:schemeClr val="bg2"/>
          </a:solidFill>
          <a:ln w="12700">
            <a:solidFill>
              <a:schemeClr val="bg2"/>
            </a:solidFill>
            <a:prstDash val="solid"/>
          </a:ln>
        </p:spPr>
      </p:sp>
      <p:sp>
        <p:nvSpPr>
          <p:cNvPr id="14" name="Feature Customer behavior circle"/>
          <p:cNvSpPr/>
          <p:nvPr/>
        </p:nvSpPr>
        <p:spPr>
          <a:xfrm>
            <a:off x="960120" y="4480560"/>
            <a:ext cx="731520" cy="731520"/>
          </a:xfrm>
          <a:prstGeom prst="ellipse">
            <a:avLst/>
          </a:prstGeom>
          <a:solidFill>
            <a:schemeClr val="accent1"/>
          </a:solidFill>
          <a:ln w="12700">
            <a:solidFill>
              <a:schemeClr val="accent1"/>
            </a:solidFill>
            <a:prstDash val="solid"/>
          </a:ln>
        </p:spPr>
      </p:sp>
      <p:pic>
        <p:nvPicPr>
          <p:cNvPr id="15" name="Feature Customer behavior icon" descr="Feature Customer behavior">    </p:cNvPr>
          <p:cNvPicPr>
            <a:picLocks noChangeAspect="1"/>
          </p:cNvPicPr>
          <p:nvPr/>
        </p:nvPicPr>
        <p:blipFill>
          <a:blip r:embed="rId3"/>
          <a:stretch>
            <a:fillRect/>
          </a:stretch>
        </p:blipFill>
        <p:spPr>
          <a:xfrm>
            <a:off x="1121054" y="4641494"/>
            <a:ext cx="409651" cy="409651"/>
          </a:xfrm>
          <a:prstGeom prst="rect">
            <a:avLst/>
          </a:prstGeom>
        </p:spPr>
      </p:pic>
      <p:sp>
        <p:nvSpPr>
          <p:cNvPr id="16" name="Feature header 3"/>
          <p:cNvSpPr txBox="1"/>
          <p:nvPr/>
        </p:nvSpPr>
        <p:spPr>
          <a:xfrm>
            <a:off x="2011680" y="4160520"/>
            <a:ext cx="3657600" cy="411480"/>
          </a:xfrm>
          <a:prstGeom prst="rect">
            <a:avLst/>
          </a:prstGeom>
          <a:noFill/>
          <a:ln/>
        </p:spPr>
        <p:txBody>
          <a:bodyPr wrap="square" lIns="0" tIns="0" rIns="0" bIns="0" rtlCol="0" anchor="t"/>
          <a:lstStyle/>
          <a:p>
            <a:pPr indent="0" marL="0">
              <a:buNone/>
            </a:pPr>
            <a:r>
              <a:rPr lang="en-US" sz="2000" b="1" dirty="0">
                <a:solidFill>
                  <a:schemeClr val="tx1"/>
                </a:solidFill>
              </a:rPr>
              <a:t>Customer behavior</a:t>
            </a:r>
            <a:endParaRPr lang="en-US" sz="2000" dirty="0"/>
          </a:p>
        </p:txBody>
      </p:sp>
      <p:sp>
        <p:nvSpPr>
          <p:cNvPr id="17" name="Feature text 3"/>
          <p:cNvSpPr txBox="1"/>
          <p:nvPr/>
        </p:nvSpPr>
        <p:spPr>
          <a:xfrm>
            <a:off x="2011680" y="4663440"/>
            <a:ext cx="3657600" cy="1005840"/>
          </a:xfrm>
          <a:prstGeom prst="rect">
            <a:avLst/>
          </a:prstGeom>
          <a:noFill/>
          <a:ln/>
        </p:spPr>
        <p:txBody>
          <a:bodyPr wrap="square" lIns="0" tIns="0" rIns="0" bIns="0" rtlCol="0" anchor="t"/>
          <a:lstStyle/>
          <a:p>
            <a:pPr indent="0" marL="0">
              <a:buNone/>
            </a:pPr>
            <a:r>
              <a:rPr lang="en-US" sz="1500" dirty="0">
                <a:solidFill>
                  <a:schemeClr val="tx1"/>
                </a:solidFill>
              </a:rPr>
              <a:t>Amount compared to the customer's average, and transaction counts in the past hour and day.</a:t>
            </a:r>
            <a:endParaRPr lang="en-US" sz="1500" dirty="0"/>
          </a:p>
        </p:txBody>
      </p:sp>
      <p:sp>
        <p:nvSpPr>
          <p:cNvPr id="18" name="Feature card 4"/>
          <p:cNvSpPr/>
          <p:nvPr/>
        </p:nvSpPr>
        <p:spPr>
          <a:xfrm>
            <a:off x="6217920" y="3840480"/>
            <a:ext cx="5303520" cy="2011680"/>
          </a:xfrm>
          <a:prstGeom prst="roundRect">
            <a:avLst>
              <a:gd name="adj" fmla="val 5455"/>
            </a:avLst>
          </a:prstGeom>
          <a:solidFill>
            <a:schemeClr val="bg2"/>
          </a:solidFill>
          <a:ln w="12700">
            <a:solidFill>
              <a:schemeClr val="bg2"/>
            </a:solidFill>
            <a:prstDash val="solid"/>
          </a:ln>
        </p:spPr>
      </p:sp>
      <p:sp>
        <p:nvSpPr>
          <p:cNvPr id="19" name="Feature Movement circle"/>
          <p:cNvSpPr/>
          <p:nvPr/>
        </p:nvSpPr>
        <p:spPr>
          <a:xfrm>
            <a:off x="6537960" y="4480560"/>
            <a:ext cx="731520" cy="731520"/>
          </a:xfrm>
          <a:prstGeom prst="ellipse">
            <a:avLst/>
          </a:prstGeom>
          <a:solidFill>
            <a:schemeClr val="accent1"/>
          </a:solidFill>
          <a:ln w="12700">
            <a:solidFill>
              <a:schemeClr val="accent1"/>
            </a:solidFill>
            <a:prstDash val="solid"/>
          </a:ln>
        </p:spPr>
      </p:sp>
      <p:pic>
        <p:nvPicPr>
          <p:cNvPr id="20" name="Feature Movement icon" descr="Feature Movement">    </p:cNvPr>
          <p:cNvPicPr>
            <a:picLocks noChangeAspect="1"/>
          </p:cNvPicPr>
          <p:nvPr/>
        </p:nvPicPr>
        <p:blipFill>
          <a:blip r:embed="rId4"/>
          <a:stretch>
            <a:fillRect/>
          </a:stretch>
        </p:blipFill>
        <p:spPr>
          <a:xfrm>
            <a:off x="6698894" y="4641494"/>
            <a:ext cx="409651" cy="409651"/>
          </a:xfrm>
          <a:prstGeom prst="rect">
            <a:avLst/>
          </a:prstGeom>
        </p:spPr>
      </p:pic>
      <p:sp>
        <p:nvSpPr>
          <p:cNvPr id="21" name="Feature header 4"/>
          <p:cNvSpPr txBox="1"/>
          <p:nvPr/>
        </p:nvSpPr>
        <p:spPr>
          <a:xfrm>
            <a:off x="7589520" y="4160520"/>
            <a:ext cx="3657600" cy="411480"/>
          </a:xfrm>
          <a:prstGeom prst="rect">
            <a:avLst/>
          </a:prstGeom>
          <a:noFill/>
          <a:ln/>
        </p:spPr>
        <p:txBody>
          <a:bodyPr wrap="square" lIns="0" tIns="0" rIns="0" bIns="0" rtlCol="0" anchor="t"/>
          <a:lstStyle/>
          <a:p>
            <a:pPr indent="0" marL="0">
              <a:buNone/>
            </a:pPr>
            <a:r>
              <a:rPr lang="en-US" sz="2000" b="1" dirty="0">
                <a:solidFill>
                  <a:schemeClr val="tx1"/>
                </a:solidFill>
              </a:rPr>
              <a:t>Movement</a:t>
            </a:r>
            <a:endParaRPr lang="en-US" sz="2000" dirty="0"/>
          </a:p>
        </p:txBody>
      </p:sp>
      <p:sp>
        <p:nvSpPr>
          <p:cNvPr id="22" name="Feature text 4"/>
          <p:cNvSpPr txBox="1"/>
          <p:nvPr/>
        </p:nvSpPr>
        <p:spPr>
          <a:xfrm>
            <a:off x="7589520" y="4663440"/>
            <a:ext cx="3657600" cy="1005840"/>
          </a:xfrm>
          <a:prstGeom prst="rect">
            <a:avLst/>
          </a:prstGeom>
          <a:noFill/>
          <a:ln/>
        </p:spPr>
        <p:txBody>
          <a:bodyPr wrap="square" lIns="0" tIns="0" rIns="0" bIns="0" rtlCol="0" anchor="t"/>
          <a:lstStyle/>
          <a:p>
            <a:pPr indent="0" marL="0">
              <a:buNone/>
            </a:pPr>
            <a:r>
              <a:rPr lang="en-US" sz="1500" dirty="0">
                <a:solidFill>
                  <a:schemeClr val="tx1"/>
                </a:solidFill>
              </a:rPr>
              <a:t>Time and distance since the customer's previous transaction.</a:t>
            </a:r>
            <a:endParaRPr lang="en-US" sz="15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Four models, compared fairly</a:t>
            </a:r>
            <a:endParaRPr lang="en-US" sz="3600" dirty="0"/>
          </a:p>
        </p:txBody>
      </p:sp>
      <p:sp>
        <p:nvSpPr>
          <p:cNvPr id="3" name="Model card 1"/>
          <p:cNvSpPr/>
          <p:nvPr/>
        </p:nvSpPr>
        <p:spPr>
          <a:xfrm>
            <a:off x="640080" y="1554480"/>
            <a:ext cx="2560320" cy="3017520"/>
          </a:xfrm>
          <a:prstGeom prst="roundRect">
            <a:avLst>
              <a:gd name="adj" fmla="val 4286"/>
            </a:avLst>
          </a:prstGeom>
          <a:solidFill>
            <a:schemeClr val="bg2"/>
          </a:solidFill>
          <a:ln w="12700">
            <a:solidFill>
              <a:schemeClr val="bg2"/>
            </a:solidFill>
            <a:prstDash val="solid"/>
          </a:ln>
        </p:spPr>
      </p:sp>
      <p:sp>
        <p:nvSpPr>
          <p:cNvPr id="4" name="Model Logistic regression circle"/>
          <p:cNvSpPr/>
          <p:nvPr/>
        </p:nvSpPr>
        <p:spPr>
          <a:xfrm>
            <a:off x="914400" y="1828800"/>
            <a:ext cx="640080" cy="640080"/>
          </a:xfrm>
          <a:prstGeom prst="ellipse">
            <a:avLst/>
          </a:prstGeom>
          <a:solidFill>
            <a:schemeClr val="accent1"/>
          </a:solidFill>
          <a:ln w="12700">
            <a:solidFill>
              <a:schemeClr val="accent1"/>
            </a:solidFill>
            <a:prstDash val="solid"/>
          </a:ln>
        </p:spPr>
      </p:sp>
      <p:pic>
        <p:nvPicPr>
          <p:cNvPr id="5" name="Model Logistic regression icon" descr="Model Logistic regression">    </p:cNvPr>
          <p:cNvPicPr>
            <a:picLocks noChangeAspect="1"/>
          </p:cNvPicPr>
          <p:nvPr/>
        </p:nvPicPr>
        <p:blipFill>
          <a:blip r:embed="rId1"/>
          <a:stretch>
            <a:fillRect/>
          </a:stretch>
        </p:blipFill>
        <p:spPr>
          <a:xfrm>
            <a:off x="1055218" y="1969618"/>
            <a:ext cx="358445" cy="358445"/>
          </a:xfrm>
          <a:prstGeom prst="rect">
            <a:avLst/>
          </a:prstGeom>
        </p:spPr>
      </p:pic>
      <p:sp>
        <p:nvSpPr>
          <p:cNvPr id="6" name="Model tag 1"/>
          <p:cNvSpPr/>
          <p:nvPr/>
        </p:nvSpPr>
        <p:spPr>
          <a:xfrm>
            <a:off x="1691640" y="1984248"/>
            <a:ext cx="1280160" cy="329184"/>
          </a:xfrm>
          <a:prstGeom prst="roundRect">
            <a:avLst>
              <a:gd name="adj" fmla="val 50000"/>
            </a:avLst>
          </a:prstGeom>
          <a:solidFill>
            <a:schemeClr val="accent1"/>
          </a:solidFill>
          <a:ln w="12700">
            <a:solidFill>
              <a:schemeClr val="accent1"/>
            </a:solidFill>
            <a:prstDash val="solid"/>
          </a:ln>
        </p:spPr>
      </p:sp>
      <p:sp>
        <p:nvSpPr>
          <p:cNvPr id="7" name="Model tag text 1"/>
          <p:cNvSpPr txBox="1"/>
          <p:nvPr/>
        </p:nvSpPr>
        <p:spPr>
          <a:xfrm>
            <a:off x="1691640" y="1984248"/>
            <a:ext cx="1280160" cy="329184"/>
          </a:xfrm>
          <a:prstGeom prst="rect">
            <a:avLst/>
          </a:prstGeom>
          <a:noFill/>
          <a:ln/>
        </p:spPr>
        <p:txBody>
          <a:bodyPr wrap="square" lIns="0" tIns="0" rIns="0" bIns="0" rtlCol="0" anchor="ctr"/>
          <a:lstStyle/>
          <a:p>
            <a:pPr algn="ctr" indent="0" marL="0">
              <a:buNone/>
            </a:pPr>
            <a:r>
              <a:rPr lang="en-US" sz="1200" b="1" dirty="0">
                <a:solidFill>
                  <a:schemeClr val="bg1"/>
                </a:solidFill>
              </a:rPr>
              <a:t>Baseline</a:t>
            </a:r>
            <a:endParaRPr lang="en-US" sz="1200" dirty="0"/>
          </a:p>
        </p:txBody>
      </p:sp>
      <p:sp>
        <p:nvSpPr>
          <p:cNvPr id="8" name="Model header 1"/>
          <p:cNvSpPr txBox="1"/>
          <p:nvPr/>
        </p:nvSpPr>
        <p:spPr>
          <a:xfrm>
            <a:off x="914400" y="27432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Logistic regression</a:t>
            </a:r>
            <a:endParaRPr lang="en-US" sz="1700" dirty="0"/>
          </a:p>
        </p:txBody>
      </p:sp>
      <p:sp>
        <p:nvSpPr>
          <p:cNvPr id="9" name="Model text 1"/>
          <p:cNvSpPr txBox="1"/>
          <p:nvPr/>
        </p:nvSpPr>
        <p:spPr>
          <a:xfrm>
            <a:off x="914400" y="3200400"/>
            <a:ext cx="2103120" cy="1280160"/>
          </a:xfrm>
          <a:prstGeom prst="rect">
            <a:avLst/>
          </a:prstGeom>
          <a:noFill/>
          <a:ln/>
        </p:spPr>
        <p:txBody>
          <a:bodyPr wrap="square" lIns="0" tIns="0" rIns="0" bIns="0" rtlCol="0" anchor="t"/>
          <a:lstStyle/>
          <a:p>
            <a:pPr indent="0" marL="0">
              <a:buNone/>
            </a:pPr>
            <a:r>
              <a:rPr lang="en-US" sz="1400" dirty="0">
                <a:solidFill>
                  <a:schemeClr val="tx1"/>
                </a:solidFill>
              </a:rPr>
              <a:t>Learns a weight per feature and outputs a fraud probability. Simple and explainable.</a:t>
            </a:r>
            <a:endParaRPr lang="en-US" sz="1400" dirty="0"/>
          </a:p>
        </p:txBody>
      </p:sp>
      <p:sp>
        <p:nvSpPr>
          <p:cNvPr id="10" name="Model card 2"/>
          <p:cNvSpPr/>
          <p:nvPr/>
        </p:nvSpPr>
        <p:spPr>
          <a:xfrm>
            <a:off x="3413455" y="1554480"/>
            <a:ext cx="2560320" cy="3017520"/>
          </a:xfrm>
          <a:prstGeom prst="roundRect">
            <a:avLst>
              <a:gd name="adj" fmla="val 4286"/>
            </a:avLst>
          </a:prstGeom>
          <a:solidFill>
            <a:schemeClr val="bg2"/>
          </a:solidFill>
          <a:ln w="12700">
            <a:solidFill>
              <a:schemeClr val="bg2"/>
            </a:solidFill>
            <a:prstDash val="solid"/>
          </a:ln>
        </p:spPr>
      </p:sp>
      <p:sp>
        <p:nvSpPr>
          <p:cNvPr id="11" name="Model Decision tree circle"/>
          <p:cNvSpPr/>
          <p:nvPr/>
        </p:nvSpPr>
        <p:spPr>
          <a:xfrm>
            <a:off x="3687775" y="1828800"/>
            <a:ext cx="640080" cy="640080"/>
          </a:xfrm>
          <a:prstGeom prst="ellipse">
            <a:avLst/>
          </a:prstGeom>
          <a:solidFill>
            <a:schemeClr val="accent1"/>
          </a:solidFill>
          <a:ln w="12700">
            <a:solidFill>
              <a:schemeClr val="accent1"/>
            </a:solidFill>
            <a:prstDash val="solid"/>
          </a:ln>
        </p:spPr>
      </p:sp>
      <p:pic>
        <p:nvPicPr>
          <p:cNvPr id="12" name="Model Decision tree icon" descr="Model Decision tree">    </p:cNvPr>
          <p:cNvPicPr>
            <a:picLocks noChangeAspect="1"/>
          </p:cNvPicPr>
          <p:nvPr/>
        </p:nvPicPr>
        <p:blipFill>
          <a:blip r:embed="rId2"/>
          <a:stretch>
            <a:fillRect/>
          </a:stretch>
        </p:blipFill>
        <p:spPr>
          <a:xfrm>
            <a:off x="3828593" y="1969618"/>
            <a:ext cx="358445" cy="358445"/>
          </a:xfrm>
          <a:prstGeom prst="rect">
            <a:avLst/>
          </a:prstGeom>
        </p:spPr>
      </p:pic>
      <p:sp>
        <p:nvSpPr>
          <p:cNvPr id="13" name="Model tag 2"/>
          <p:cNvSpPr/>
          <p:nvPr/>
        </p:nvSpPr>
        <p:spPr>
          <a:xfrm>
            <a:off x="4465015" y="1984248"/>
            <a:ext cx="1280160" cy="329184"/>
          </a:xfrm>
          <a:prstGeom prst="roundRect">
            <a:avLst>
              <a:gd name="adj" fmla="val 50000"/>
            </a:avLst>
          </a:prstGeom>
          <a:solidFill>
            <a:schemeClr val="accent1"/>
          </a:solidFill>
          <a:ln w="12700">
            <a:solidFill>
              <a:schemeClr val="accent1"/>
            </a:solidFill>
            <a:prstDash val="solid"/>
          </a:ln>
        </p:spPr>
      </p:sp>
      <p:sp>
        <p:nvSpPr>
          <p:cNvPr id="14" name="Model tag text 2"/>
          <p:cNvSpPr txBox="1"/>
          <p:nvPr/>
        </p:nvSpPr>
        <p:spPr>
          <a:xfrm>
            <a:off x="4465015" y="1984248"/>
            <a:ext cx="1280160" cy="329184"/>
          </a:xfrm>
          <a:prstGeom prst="rect">
            <a:avLst/>
          </a:prstGeom>
          <a:noFill/>
          <a:ln/>
        </p:spPr>
        <p:txBody>
          <a:bodyPr wrap="square" lIns="0" tIns="0" rIns="0" bIns="0" rtlCol="0" anchor="ctr"/>
          <a:lstStyle/>
          <a:p>
            <a:pPr algn="ctr" indent="0" marL="0">
              <a:buNone/>
            </a:pPr>
            <a:r>
              <a:rPr lang="en-US" sz="1200" b="1" dirty="0">
                <a:solidFill>
                  <a:schemeClr val="bg1"/>
                </a:solidFill>
              </a:rPr>
              <a:t>Single tree</a:t>
            </a:r>
            <a:endParaRPr lang="en-US" sz="1200" dirty="0"/>
          </a:p>
        </p:txBody>
      </p:sp>
      <p:sp>
        <p:nvSpPr>
          <p:cNvPr id="15" name="Model header 2"/>
          <p:cNvSpPr txBox="1"/>
          <p:nvPr/>
        </p:nvSpPr>
        <p:spPr>
          <a:xfrm>
            <a:off x="3687775" y="27432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Decision tree</a:t>
            </a:r>
            <a:endParaRPr lang="en-US" sz="1700" dirty="0"/>
          </a:p>
        </p:txBody>
      </p:sp>
      <p:sp>
        <p:nvSpPr>
          <p:cNvPr id="16" name="Model text 2"/>
          <p:cNvSpPr txBox="1"/>
          <p:nvPr/>
        </p:nvSpPr>
        <p:spPr>
          <a:xfrm>
            <a:off x="3687775" y="3200400"/>
            <a:ext cx="2103120" cy="1280160"/>
          </a:xfrm>
          <a:prstGeom prst="rect">
            <a:avLst/>
          </a:prstGeom>
          <a:noFill/>
          <a:ln/>
        </p:spPr>
        <p:txBody>
          <a:bodyPr wrap="square" lIns="0" tIns="0" rIns="0" bIns="0" rtlCol="0" anchor="t"/>
          <a:lstStyle/>
          <a:p>
            <a:pPr indent="0" marL="0">
              <a:buNone/>
            </a:pPr>
            <a:r>
              <a:rPr lang="en-US" sz="1400" dirty="0">
                <a:solidFill>
                  <a:schemeClr val="tx1"/>
                </a:solidFill>
              </a:rPr>
              <a:t>One flowchart of yes/no questions. Easy to read, but can overfit on its own.</a:t>
            </a:r>
            <a:endParaRPr lang="en-US" sz="1400" dirty="0"/>
          </a:p>
        </p:txBody>
      </p:sp>
      <p:sp>
        <p:nvSpPr>
          <p:cNvPr id="17" name="Model card 3"/>
          <p:cNvSpPr/>
          <p:nvPr/>
        </p:nvSpPr>
        <p:spPr>
          <a:xfrm>
            <a:off x="6186830" y="1554480"/>
            <a:ext cx="2560320" cy="3017520"/>
          </a:xfrm>
          <a:prstGeom prst="roundRect">
            <a:avLst>
              <a:gd name="adj" fmla="val 4286"/>
            </a:avLst>
          </a:prstGeom>
          <a:solidFill>
            <a:schemeClr val="bg2"/>
          </a:solidFill>
          <a:ln w="12700">
            <a:solidFill>
              <a:schemeClr val="bg2"/>
            </a:solidFill>
            <a:prstDash val="solid"/>
          </a:ln>
        </p:spPr>
      </p:sp>
      <p:sp>
        <p:nvSpPr>
          <p:cNvPr id="18" name="Model Random forest circle"/>
          <p:cNvSpPr/>
          <p:nvPr/>
        </p:nvSpPr>
        <p:spPr>
          <a:xfrm>
            <a:off x="6461150" y="1828800"/>
            <a:ext cx="640080" cy="640080"/>
          </a:xfrm>
          <a:prstGeom prst="ellipse">
            <a:avLst/>
          </a:prstGeom>
          <a:solidFill>
            <a:schemeClr val="accent1"/>
          </a:solidFill>
          <a:ln w="12700">
            <a:solidFill>
              <a:schemeClr val="accent1"/>
            </a:solidFill>
            <a:prstDash val="solid"/>
          </a:ln>
        </p:spPr>
      </p:sp>
      <p:pic>
        <p:nvPicPr>
          <p:cNvPr id="19" name="Model Random forest icon" descr="Model Random forest">    </p:cNvPr>
          <p:cNvPicPr>
            <a:picLocks noChangeAspect="1"/>
          </p:cNvPicPr>
          <p:nvPr/>
        </p:nvPicPr>
        <p:blipFill>
          <a:blip r:embed="rId3"/>
          <a:stretch>
            <a:fillRect/>
          </a:stretch>
        </p:blipFill>
        <p:spPr>
          <a:xfrm>
            <a:off x="6601968" y="1969618"/>
            <a:ext cx="358445" cy="358445"/>
          </a:xfrm>
          <a:prstGeom prst="rect">
            <a:avLst/>
          </a:prstGeom>
        </p:spPr>
      </p:pic>
      <p:sp>
        <p:nvSpPr>
          <p:cNvPr id="20" name="Model tag 3"/>
          <p:cNvSpPr/>
          <p:nvPr/>
        </p:nvSpPr>
        <p:spPr>
          <a:xfrm>
            <a:off x="7238390" y="1984248"/>
            <a:ext cx="1280160" cy="329184"/>
          </a:xfrm>
          <a:prstGeom prst="roundRect">
            <a:avLst>
              <a:gd name="adj" fmla="val 50000"/>
            </a:avLst>
          </a:prstGeom>
          <a:solidFill>
            <a:schemeClr val="accent1"/>
          </a:solidFill>
          <a:ln w="12700">
            <a:solidFill>
              <a:schemeClr val="accent1"/>
            </a:solidFill>
            <a:prstDash val="solid"/>
          </a:ln>
        </p:spPr>
      </p:sp>
      <p:sp>
        <p:nvSpPr>
          <p:cNvPr id="21" name="Model tag text 3"/>
          <p:cNvSpPr txBox="1"/>
          <p:nvPr/>
        </p:nvSpPr>
        <p:spPr>
          <a:xfrm>
            <a:off x="7238390" y="1984248"/>
            <a:ext cx="1280160" cy="329184"/>
          </a:xfrm>
          <a:prstGeom prst="rect">
            <a:avLst/>
          </a:prstGeom>
          <a:noFill/>
          <a:ln/>
        </p:spPr>
        <p:txBody>
          <a:bodyPr wrap="square" lIns="0" tIns="0" rIns="0" bIns="0" rtlCol="0" anchor="ctr"/>
          <a:lstStyle/>
          <a:p>
            <a:pPr algn="ctr" indent="0" marL="0">
              <a:buNone/>
            </a:pPr>
            <a:r>
              <a:rPr lang="en-US" sz="1200" b="1" dirty="0">
                <a:solidFill>
                  <a:schemeClr val="bg1"/>
                </a:solidFill>
              </a:rPr>
              <a:t>Ensemble</a:t>
            </a:r>
            <a:endParaRPr lang="en-US" sz="1200" dirty="0"/>
          </a:p>
        </p:txBody>
      </p:sp>
      <p:sp>
        <p:nvSpPr>
          <p:cNvPr id="22" name="Model header 3"/>
          <p:cNvSpPr txBox="1"/>
          <p:nvPr/>
        </p:nvSpPr>
        <p:spPr>
          <a:xfrm>
            <a:off x="6461150" y="27432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Random forest</a:t>
            </a:r>
            <a:endParaRPr lang="en-US" sz="1700" dirty="0"/>
          </a:p>
        </p:txBody>
      </p:sp>
      <p:sp>
        <p:nvSpPr>
          <p:cNvPr id="23" name="Model text 3"/>
          <p:cNvSpPr txBox="1"/>
          <p:nvPr/>
        </p:nvSpPr>
        <p:spPr>
          <a:xfrm>
            <a:off x="6461150" y="3200400"/>
            <a:ext cx="2103120" cy="1280160"/>
          </a:xfrm>
          <a:prstGeom prst="rect">
            <a:avLst/>
          </a:prstGeom>
          <a:noFill/>
          <a:ln/>
        </p:spPr>
        <p:txBody>
          <a:bodyPr wrap="square" lIns="0" tIns="0" rIns="0" bIns="0" rtlCol="0" anchor="t"/>
          <a:lstStyle/>
          <a:p>
            <a:pPr indent="0" marL="0">
              <a:buNone/>
            </a:pPr>
            <a:r>
              <a:rPr lang="en-US" sz="1400" dirty="0">
                <a:solidFill>
                  <a:schemeClr val="tx1"/>
                </a:solidFill>
              </a:rPr>
              <a:t>Hundreds of trees vote. Captures non-linear patterns and reports feature importance.</a:t>
            </a:r>
            <a:endParaRPr lang="en-US" sz="1400" dirty="0"/>
          </a:p>
        </p:txBody>
      </p:sp>
      <p:sp>
        <p:nvSpPr>
          <p:cNvPr id="24" name="Model card 4"/>
          <p:cNvSpPr/>
          <p:nvPr/>
        </p:nvSpPr>
        <p:spPr>
          <a:xfrm>
            <a:off x="8960206" y="1554480"/>
            <a:ext cx="2560320" cy="3017520"/>
          </a:xfrm>
          <a:prstGeom prst="roundRect">
            <a:avLst>
              <a:gd name="adj" fmla="val 4286"/>
            </a:avLst>
          </a:prstGeom>
          <a:solidFill>
            <a:schemeClr val="bg2"/>
          </a:solidFill>
          <a:ln w="12700">
            <a:solidFill>
              <a:schemeClr val="bg2"/>
            </a:solidFill>
            <a:prstDash val="solid"/>
          </a:ln>
        </p:spPr>
      </p:sp>
      <p:sp>
        <p:nvSpPr>
          <p:cNvPr id="25" name="Model Gradient boosting circle"/>
          <p:cNvSpPr/>
          <p:nvPr/>
        </p:nvSpPr>
        <p:spPr>
          <a:xfrm>
            <a:off x="9234526" y="1828800"/>
            <a:ext cx="640080" cy="640080"/>
          </a:xfrm>
          <a:prstGeom prst="ellipse">
            <a:avLst/>
          </a:prstGeom>
          <a:solidFill>
            <a:schemeClr val="accent1"/>
          </a:solidFill>
          <a:ln w="12700">
            <a:solidFill>
              <a:schemeClr val="accent1"/>
            </a:solidFill>
            <a:prstDash val="solid"/>
          </a:ln>
        </p:spPr>
      </p:sp>
      <p:pic>
        <p:nvPicPr>
          <p:cNvPr id="26" name="Model Gradient boosting icon" descr="Model Gradient boosting">    </p:cNvPr>
          <p:cNvPicPr>
            <a:picLocks noChangeAspect="1"/>
          </p:cNvPicPr>
          <p:nvPr/>
        </p:nvPicPr>
        <p:blipFill>
          <a:blip r:embed="rId4"/>
          <a:stretch>
            <a:fillRect/>
          </a:stretch>
        </p:blipFill>
        <p:spPr>
          <a:xfrm>
            <a:off x="9375343" y="1969618"/>
            <a:ext cx="358445" cy="358445"/>
          </a:xfrm>
          <a:prstGeom prst="rect">
            <a:avLst/>
          </a:prstGeom>
        </p:spPr>
      </p:pic>
      <p:sp>
        <p:nvSpPr>
          <p:cNvPr id="27" name="Model tag 4"/>
          <p:cNvSpPr/>
          <p:nvPr/>
        </p:nvSpPr>
        <p:spPr>
          <a:xfrm>
            <a:off x="10011766" y="1984248"/>
            <a:ext cx="1280160" cy="329184"/>
          </a:xfrm>
          <a:prstGeom prst="roundRect">
            <a:avLst>
              <a:gd name="adj" fmla="val 50000"/>
            </a:avLst>
          </a:prstGeom>
          <a:solidFill>
            <a:schemeClr val="accent1"/>
          </a:solidFill>
          <a:ln w="12700">
            <a:solidFill>
              <a:schemeClr val="accent1"/>
            </a:solidFill>
            <a:prstDash val="solid"/>
          </a:ln>
        </p:spPr>
      </p:sp>
      <p:sp>
        <p:nvSpPr>
          <p:cNvPr id="28" name="Model tag text 4"/>
          <p:cNvSpPr txBox="1"/>
          <p:nvPr/>
        </p:nvSpPr>
        <p:spPr>
          <a:xfrm>
            <a:off x="10011766" y="1984248"/>
            <a:ext cx="1280160" cy="329184"/>
          </a:xfrm>
          <a:prstGeom prst="rect">
            <a:avLst/>
          </a:prstGeom>
          <a:noFill/>
          <a:ln/>
        </p:spPr>
        <p:txBody>
          <a:bodyPr wrap="square" lIns="0" tIns="0" rIns="0" bIns="0" rtlCol="0" anchor="ctr"/>
          <a:lstStyle/>
          <a:p>
            <a:pPr algn="ctr" indent="0" marL="0">
              <a:buNone/>
            </a:pPr>
            <a:r>
              <a:rPr lang="en-US" sz="1200" b="1" dirty="0">
                <a:solidFill>
                  <a:schemeClr val="bg1"/>
                </a:solidFill>
              </a:rPr>
              <a:t>Boosting</a:t>
            </a:r>
            <a:endParaRPr lang="en-US" sz="1200" dirty="0"/>
          </a:p>
        </p:txBody>
      </p:sp>
      <p:sp>
        <p:nvSpPr>
          <p:cNvPr id="29" name="Model header 4"/>
          <p:cNvSpPr txBox="1"/>
          <p:nvPr/>
        </p:nvSpPr>
        <p:spPr>
          <a:xfrm>
            <a:off x="9234526" y="2743200"/>
            <a:ext cx="2103120" cy="365760"/>
          </a:xfrm>
          <a:prstGeom prst="rect">
            <a:avLst/>
          </a:prstGeom>
          <a:noFill/>
          <a:ln/>
        </p:spPr>
        <p:txBody>
          <a:bodyPr wrap="square" lIns="0" tIns="0" rIns="0" bIns="0" rtlCol="0" anchor="t"/>
          <a:lstStyle/>
          <a:p>
            <a:pPr indent="0" marL="0">
              <a:buNone/>
            </a:pPr>
            <a:r>
              <a:rPr lang="en-US" sz="1700" b="1" dirty="0">
                <a:solidFill>
                  <a:schemeClr val="tx1"/>
                </a:solidFill>
              </a:rPr>
              <a:t>Gradient boosting</a:t>
            </a:r>
            <a:endParaRPr lang="en-US" sz="1700" dirty="0"/>
          </a:p>
        </p:txBody>
      </p:sp>
      <p:sp>
        <p:nvSpPr>
          <p:cNvPr id="30" name="Model text 4"/>
          <p:cNvSpPr txBox="1"/>
          <p:nvPr/>
        </p:nvSpPr>
        <p:spPr>
          <a:xfrm>
            <a:off x="9234526" y="3200400"/>
            <a:ext cx="2103120" cy="1280160"/>
          </a:xfrm>
          <a:prstGeom prst="rect">
            <a:avLst/>
          </a:prstGeom>
          <a:noFill/>
          <a:ln/>
        </p:spPr>
        <p:txBody>
          <a:bodyPr wrap="square" lIns="0" tIns="0" rIns="0" bIns="0" rtlCol="0" anchor="t"/>
          <a:lstStyle/>
          <a:p>
            <a:pPr indent="0" marL="0">
              <a:buNone/>
            </a:pPr>
            <a:r>
              <a:rPr lang="en-US" sz="1400" dirty="0">
                <a:solidFill>
                  <a:schemeClr val="tx1"/>
                </a:solidFill>
              </a:rPr>
              <a:t>Trees built in sequence, each fixing the last one's mistakes. Often strongest on tables.</a:t>
            </a:r>
            <a:endParaRPr lang="en-US" sz="1400" dirty="0"/>
          </a:p>
        </p:txBody>
      </p:sp>
      <p:sp>
        <p:nvSpPr>
          <p:cNvPr id="31" name="Imbalance strip"/>
          <p:cNvSpPr/>
          <p:nvPr/>
        </p:nvSpPr>
        <p:spPr>
          <a:xfrm>
            <a:off x="640080" y="4846320"/>
            <a:ext cx="10881360" cy="1188720"/>
          </a:xfrm>
          <a:prstGeom prst="roundRect">
            <a:avLst>
              <a:gd name="adj" fmla="val 9231"/>
            </a:avLst>
          </a:prstGeom>
          <a:solidFill>
            <a:schemeClr val="bg2"/>
          </a:solidFill>
          <a:ln w="12700">
            <a:solidFill>
              <a:schemeClr val="bg2"/>
            </a:solidFill>
            <a:prstDash val="solid"/>
          </a:ln>
        </p:spPr>
      </p:sp>
      <p:sp>
        <p:nvSpPr>
          <p:cNvPr id="32" name="Imbalance circle"/>
          <p:cNvSpPr/>
          <p:nvPr/>
        </p:nvSpPr>
        <p:spPr>
          <a:xfrm>
            <a:off x="914400" y="5074920"/>
            <a:ext cx="731520" cy="731520"/>
          </a:xfrm>
          <a:prstGeom prst="ellipse">
            <a:avLst/>
          </a:prstGeom>
          <a:solidFill>
            <a:schemeClr val="accent3"/>
          </a:solidFill>
          <a:ln w="12700">
            <a:solidFill>
              <a:schemeClr val="accent3"/>
            </a:solidFill>
            <a:prstDash val="solid"/>
          </a:ln>
        </p:spPr>
      </p:sp>
      <p:pic>
        <p:nvPicPr>
          <p:cNvPr id="33" name="Imbalance icon" descr="Imbalance">    </p:cNvPr>
          <p:cNvPicPr>
            <a:picLocks noChangeAspect="1"/>
          </p:cNvPicPr>
          <p:nvPr/>
        </p:nvPicPr>
        <p:blipFill>
          <a:blip r:embed="rId5"/>
          <a:stretch>
            <a:fillRect/>
          </a:stretch>
        </p:blipFill>
        <p:spPr>
          <a:xfrm>
            <a:off x="1075334" y="5235854"/>
            <a:ext cx="409651" cy="409651"/>
          </a:xfrm>
          <a:prstGeom prst="rect">
            <a:avLst/>
          </a:prstGeom>
        </p:spPr>
      </p:pic>
      <p:sp>
        <p:nvSpPr>
          <p:cNvPr id="34" name="Imbalance text"/>
          <p:cNvSpPr txBox="1"/>
          <p:nvPr/>
        </p:nvSpPr>
        <p:spPr>
          <a:xfrm>
            <a:off x="1920240" y="507492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Handling imbalance: </a:t>
            </a:r>
            <a:pPr indent="0" marL="0">
              <a:buNone/>
            </a:pPr>
            <a:r>
              <a:rPr lang="en-US" sz="1600" dirty="0">
                <a:solidFill>
                  <a:schemeClr val="tx1"/>
                </a:solidFill>
              </a:rPr>
              <a:t>class weights tell every model that missing a fraud costs more than a false alarm. Built with Python, pandas, scikit-learn, and XGBoost or LightGBM.</a:t>
            </a:r>
            <a:endParaRPr lang="en-US" sz="16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Accuracy would mislead us</a:t>
            </a:r>
            <a:endParaRPr lang="en-US" sz="3600" dirty="0"/>
          </a:p>
        </p:txBody>
      </p:sp>
      <p:sp>
        <p:nvSpPr>
          <p:cNvPr id="3" name="Accuracy trap card"/>
          <p:cNvSpPr/>
          <p:nvPr/>
        </p:nvSpPr>
        <p:spPr>
          <a:xfrm>
            <a:off x="640080" y="1554480"/>
            <a:ext cx="4206240" cy="4206240"/>
          </a:xfrm>
          <a:prstGeom prst="roundRect">
            <a:avLst>
              <a:gd name="adj" fmla="val 2609"/>
            </a:avLst>
          </a:prstGeom>
          <a:solidFill>
            <a:schemeClr val="tx1"/>
          </a:solidFill>
          <a:ln w="12700">
            <a:solidFill>
              <a:schemeClr val="tx1"/>
            </a:solidFill>
            <a:prstDash val="solid"/>
          </a:ln>
        </p:spPr>
      </p:sp>
      <p:sp>
        <p:nvSpPr>
          <p:cNvPr id="4" name="Accuracy stat"/>
          <p:cNvSpPr txBox="1"/>
          <p:nvPr/>
        </p:nvSpPr>
        <p:spPr>
          <a:xfrm>
            <a:off x="1005840" y="2011680"/>
            <a:ext cx="3474720" cy="1188720"/>
          </a:xfrm>
          <a:prstGeom prst="rect">
            <a:avLst/>
          </a:prstGeom>
          <a:noFill/>
          <a:ln/>
        </p:spPr>
        <p:txBody>
          <a:bodyPr wrap="square" lIns="0" tIns="0" rIns="0" bIns="0" rtlCol="0" anchor="t"/>
          <a:lstStyle/>
          <a:p>
            <a:pPr indent="0" marL="0">
              <a:buNone/>
            </a:pPr>
            <a:r>
              <a:rPr lang="en-US" sz="6600" b="1" dirty="0">
                <a:solidFill>
                  <a:schemeClr val="accent3"/>
                </a:solidFill>
              </a:rPr>
              <a:t>98.8%</a:t>
            </a:r>
            <a:endParaRPr lang="en-US" sz="6600" dirty="0"/>
          </a:p>
        </p:txBody>
      </p:sp>
      <p:sp>
        <p:nvSpPr>
          <p:cNvPr id="5" name="Accuracy caption"/>
          <p:cNvSpPr txBox="1"/>
          <p:nvPr/>
        </p:nvSpPr>
        <p:spPr>
          <a:xfrm>
            <a:off x="1005840" y="3383280"/>
            <a:ext cx="3474720" cy="2011680"/>
          </a:xfrm>
          <a:prstGeom prst="rect">
            <a:avLst/>
          </a:prstGeom>
          <a:noFill/>
          <a:ln/>
        </p:spPr>
        <p:txBody>
          <a:bodyPr wrap="square" lIns="0" tIns="0" rIns="0" bIns="0" rtlCol="0" anchor="t"/>
          <a:lstStyle/>
          <a:p>
            <a:pPr indent="0" marL="0">
              <a:buNone/>
            </a:pPr>
            <a:r>
              <a:rPr lang="en-US" sz="1600" dirty="0">
                <a:solidFill>
                  <a:schemeClr val="bg1"/>
                </a:solidFill>
              </a:rPr>
              <a:t>accuracy from predicting "not fraud" every time, when fraud is about 1.2% of transactions. It catches zero fraud.</a:t>
            </a:r>
            <a:endParaRPr lang="en-US" sz="1600" dirty="0"/>
          </a:p>
        </p:txBody>
      </p:sp>
      <p:sp>
        <p:nvSpPr>
          <p:cNvPr id="6" name="Metric card 1"/>
          <p:cNvSpPr/>
          <p:nvPr/>
        </p:nvSpPr>
        <p:spPr>
          <a:xfrm>
            <a:off x="5120640" y="1554480"/>
            <a:ext cx="6400800" cy="1280160"/>
          </a:xfrm>
          <a:prstGeom prst="roundRect">
            <a:avLst>
              <a:gd name="adj" fmla="val 8571"/>
            </a:avLst>
          </a:prstGeom>
          <a:solidFill>
            <a:schemeClr val="bg2"/>
          </a:solidFill>
          <a:ln w="12700">
            <a:solidFill>
              <a:schemeClr val="bg2"/>
            </a:solidFill>
            <a:prstDash val="solid"/>
          </a:ln>
        </p:spPr>
      </p:sp>
      <p:sp>
        <p:nvSpPr>
          <p:cNvPr id="7" name="Metric header 1"/>
          <p:cNvSpPr txBox="1"/>
          <p:nvPr/>
        </p:nvSpPr>
        <p:spPr>
          <a:xfrm>
            <a:off x="5486400" y="1783080"/>
            <a:ext cx="5669280" cy="365760"/>
          </a:xfrm>
          <a:prstGeom prst="rect">
            <a:avLst/>
          </a:prstGeom>
          <a:noFill/>
          <a:ln/>
        </p:spPr>
        <p:txBody>
          <a:bodyPr wrap="square" lIns="0" tIns="0" rIns="0" bIns="0" rtlCol="0" anchor="t"/>
          <a:lstStyle/>
          <a:p>
            <a:pPr indent="0" marL="0">
              <a:buNone/>
            </a:pPr>
            <a:r>
              <a:rPr lang="en-US" sz="2000" b="1" dirty="0">
                <a:solidFill>
                  <a:schemeClr val="accent1"/>
                </a:solidFill>
              </a:rPr>
              <a:t>Precision</a:t>
            </a:r>
            <a:endParaRPr lang="en-US" sz="2000" dirty="0"/>
          </a:p>
        </p:txBody>
      </p:sp>
      <p:sp>
        <p:nvSpPr>
          <p:cNvPr id="8" name="Metric text 1"/>
          <p:cNvSpPr txBox="1"/>
          <p:nvPr/>
        </p:nvSpPr>
        <p:spPr>
          <a:xfrm>
            <a:off x="5486400" y="2194560"/>
            <a:ext cx="5669280" cy="548640"/>
          </a:xfrm>
          <a:prstGeom prst="rect">
            <a:avLst/>
          </a:prstGeom>
          <a:noFill/>
          <a:ln/>
        </p:spPr>
        <p:txBody>
          <a:bodyPr wrap="square" lIns="0" tIns="0" rIns="0" bIns="0" rtlCol="0" anchor="t"/>
          <a:lstStyle/>
          <a:p>
            <a:pPr indent="0" marL="0">
              <a:buNone/>
            </a:pPr>
            <a:r>
              <a:rPr lang="en-US" sz="1600" dirty="0">
                <a:solidFill>
                  <a:schemeClr val="tx1"/>
                </a:solidFill>
              </a:rPr>
              <a:t>Of the transactions we flag, how many are really fraud.</a:t>
            </a:r>
            <a:endParaRPr lang="en-US" sz="1600" dirty="0"/>
          </a:p>
        </p:txBody>
      </p:sp>
      <p:sp>
        <p:nvSpPr>
          <p:cNvPr id="9" name="Metric card 2"/>
          <p:cNvSpPr/>
          <p:nvPr/>
        </p:nvSpPr>
        <p:spPr>
          <a:xfrm>
            <a:off x="5120640" y="3017520"/>
            <a:ext cx="6400800" cy="1280160"/>
          </a:xfrm>
          <a:prstGeom prst="roundRect">
            <a:avLst>
              <a:gd name="adj" fmla="val 8571"/>
            </a:avLst>
          </a:prstGeom>
          <a:solidFill>
            <a:schemeClr val="bg2"/>
          </a:solidFill>
          <a:ln w="12700">
            <a:solidFill>
              <a:schemeClr val="bg2"/>
            </a:solidFill>
            <a:prstDash val="solid"/>
          </a:ln>
        </p:spPr>
      </p:sp>
      <p:sp>
        <p:nvSpPr>
          <p:cNvPr id="10" name="Metric header 2"/>
          <p:cNvSpPr txBox="1"/>
          <p:nvPr/>
        </p:nvSpPr>
        <p:spPr>
          <a:xfrm>
            <a:off x="5486400" y="3246120"/>
            <a:ext cx="5669280" cy="365760"/>
          </a:xfrm>
          <a:prstGeom prst="rect">
            <a:avLst/>
          </a:prstGeom>
          <a:noFill/>
          <a:ln/>
        </p:spPr>
        <p:txBody>
          <a:bodyPr wrap="square" lIns="0" tIns="0" rIns="0" bIns="0" rtlCol="0" anchor="t"/>
          <a:lstStyle/>
          <a:p>
            <a:pPr indent="0" marL="0">
              <a:buNone/>
            </a:pPr>
            <a:r>
              <a:rPr lang="en-US" sz="2000" b="1" dirty="0">
                <a:solidFill>
                  <a:schemeClr val="accent1"/>
                </a:solidFill>
              </a:rPr>
              <a:t>Recall</a:t>
            </a:r>
            <a:endParaRPr lang="en-US" sz="2000" dirty="0"/>
          </a:p>
        </p:txBody>
      </p:sp>
      <p:sp>
        <p:nvSpPr>
          <p:cNvPr id="11" name="Metric text 2"/>
          <p:cNvSpPr txBox="1"/>
          <p:nvPr/>
        </p:nvSpPr>
        <p:spPr>
          <a:xfrm>
            <a:off x="5486400" y="3657600"/>
            <a:ext cx="5669280" cy="548640"/>
          </a:xfrm>
          <a:prstGeom prst="rect">
            <a:avLst/>
          </a:prstGeom>
          <a:noFill/>
          <a:ln/>
        </p:spPr>
        <p:txBody>
          <a:bodyPr wrap="square" lIns="0" tIns="0" rIns="0" bIns="0" rtlCol="0" anchor="t"/>
          <a:lstStyle/>
          <a:p>
            <a:pPr indent="0" marL="0">
              <a:buNone/>
            </a:pPr>
            <a:r>
              <a:rPr lang="en-US" sz="1600" dirty="0">
                <a:solidFill>
                  <a:schemeClr val="tx1"/>
                </a:solidFill>
              </a:rPr>
              <a:t>Of all real fraud, how much we catch.</a:t>
            </a:r>
            <a:endParaRPr lang="en-US" sz="1600" dirty="0"/>
          </a:p>
        </p:txBody>
      </p:sp>
      <p:sp>
        <p:nvSpPr>
          <p:cNvPr id="12" name="Metric card 3"/>
          <p:cNvSpPr/>
          <p:nvPr/>
        </p:nvSpPr>
        <p:spPr>
          <a:xfrm>
            <a:off x="5120640" y="4480560"/>
            <a:ext cx="6400800" cy="1280160"/>
          </a:xfrm>
          <a:prstGeom prst="roundRect">
            <a:avLst>
              <a:gd name="adj" fmla="val 8571"/>
            </a:avLst>
          </a:prstGeom>
          <a:solidFill>
            <a:schemeClr val="bg2"/>
          </a:solidFill>
          <a:ln w="12700">
            <a:solidFill>
              <a:schemeClr val="bg2"/>
            </a:solidFill>
            <a:prstDash val="solid"/>
          </a:ln>
        </p:spPr>
      </p:sp>
      <p:sp>
        <p:nvSpPr>
          <p:cNvPr id="13" name="Metric header 3"/>
          <p:cNvSpPr txBox="1"/>
          <p:nvPr/>
        </p:nvSpPr>
        <p:spPr>
          <a:xfrm>
            <a:off x="5486400" y="4709160"/>
            <a:ext cx="5669280" cy="365760"/>
          </a:xfrm>
          <a:prstGeom prst="rect">
            <a:avLst/>
          </a:prstGeom>
          <a:noFill/>
          <a:ln/>
        </p:spPr>
        <p:txBody>
          <a:bodyPr wrap="square" lIns="0" tIns="0" rIns="0" bIns="0" rtlCol="0" anchor="t"/>
          <a:lstStyle/>
          <a:p>
            <a:pPr indent="0" marL="0">
              <a:buNone/>
            </a:pPr>
            <a:r>
              <a:rPr lang="en-US" sz="2000" b="1" dirty="0">
                <a:solidFill>
                  <a:schemeClr val="accent1"/>
                </a:solidFill>
              </a:rPr>
              <a:t>F1 score</a:t>
            </a:r>
            <a:endParaRPr lang="en-US" sz="2000" dirty="0"/>
          </a:p>
        </p:txBody>
      </p:sp>
      <p:sp>
        <p:nvSpPr>
          <p:cNvPr id="14" name="Metric text 3"/>
          <p:cNvSpPr txBox="1"/>
          <p:nvPr/>
        </p:nvSpPr>
        <p:spPr>
          <a:xfrm>
            <a:off x="5486400" y="5120640"/>
            <a:ext cx="5669280" cy="548640"/>
          </a:xfrm>
          <a:prstGeom prst="rect">
            <a:avLst/>
          </a:prstGeom>
          <a:noFill/>
          <a:ln/>
        </p:spPr>
        <p:txBody>
          <a:bodyPr wrap="square" lIns="0" tIns="0" rIns="0" bIns="0" rtlCol="0" anchor="t"/>
          <a:lstStyle/>
          <a:p>
            <a:pPr indent="0" marL="0">
              <a:buNone/>
            </a:pPr>
            <a:r>
              <a:rPr lang="en-US" sz="1600" dirty="0">
                <a:solidFill>
                  <a:schemeClr val="tx1"/>
                </a:solidFill>
              </a:rPr>
              <a:t>One number balancing precision and recall. Our main comparison metric.</a:t>
            </a:r>
            <a:endParaRPr lang="en-US" sz="16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Plan: from raw data to a scored demo</a:t>
            </a:r>
            <a:endParaRPr lang="en-US" sz="3600" dirty="0"/>
          </a:p>
        </p:txBody>
      </p:sp>
      <p:sp>
        <p:nvSpPr>
          <p:cNvPr id="3" name="Step row 1"/>
          <p:cNvSpPr/>
          <p:nvPr/>
        </p:nvSpPr>
        <p:spPr>
          <a:xfrm>
            <a:off x="640080" y="1463040"/>
            <a:ext cx="10881360" cy="658368"/>
          </a:xfrm>
          <a:prstGeom prst="roundRect">
            <a:avLst>
              <a:gd name="adj" fmla="val 16667"/>
            </a:avLst>
          </a:prstGeom>
          <a:solidFill>
            <a:schemeClr val="bg2"/>
          </a:solidFill>
          <a:ln w="12700">
            <a:solidFill>
              <a:schemeClr val="bg2"/>
            </a:solidFill>
            <a:prstDash val="solid"/>
          </a:ln>
        </p:spPr>
      </p:sp>
      <p:sp>
        <p:nvSpPr>
          <p:cNvPr id="4" name="Step number circle 1"/>
          <p:cNvSpPr/>
          <p:nvPr/>
        </p:nvSpPr>
        <p:spPr>
          <a:xfrm>
            <a:off x="749808" y="1527048"/>
            <a:ext cx="530352" cy="530352"/>
          </a:xfrm>
          <a:prstGeom prst="ellipse">
            <a:avLst/>
          </a:prstGeom>
          <a:solidFill>
            <a:schemeClr val="accent1"/>
          </a:solidFill>
          <a:ln w="12700">
            <a:solidFill>
              <a:schemeClr val="accent1"/>
            </a:solidFill>
            <a:prstDash val="solid"/>
          </a:ln>
        </p:spPr>
      </p:sp>
      <p:sp>
        <p:nvSpPr>
          <p:cNvPr id="5" name="Step number 1"/>
          <p:cNvSpPr txBox="1"/>
          <p:nvPr/>
        </p:nvSpPr>
        <p:spPr>
          <a:xfrm>
            <a:off x="749808" y="1527048"/>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Step title 1"/>
          <p:cNvSpPr txBox="1"/>
          <p:nvPr/>
        </p:nvSpPr>
        <p:spPr>
          <a:xfrm>
            <a:off x="1554480" y="1463040"/>
            <a:ext cx="2560320" cy="658368"/>
          </a:xfrm>
          <a:prstGeom prst="rect">
            <a:avLst/>
          </a:prstGeom>
          <a:noFill/>
          <a:ln/>
        </p:spPr>
        <p:txBody>
          <a:bodyPr wrap="square" lIns="0" tIns="0" rIns="0" bIns="0" rtlCol="0" anchor="ctr"/>
          <a:lstStyle/>
          <a:p>
            <a:pPr indent="0" marL="0">
              <a:buNone/>
            </a:pPr>
            <a:r>
              <a:rPr lang="en-US" sz="1800" b="1" dirty="0">
                <a:solidFill>
                  <a:schemeClr val="tx1"/>
                </a:solidFill>
              </a:rPr>
              <a:t>Generate data</a:t>
            </a:r>
            <a:endParaRPr lang="en-US" sz="1800" dirty="0"/>
          </a:p>
        </p:txBody>
      </p:sp>
      <p:sp>
        <p:nvSpPr>
          <p:cNvPr id="7" name="Step text 1"/>
          <p:cNvSpPr txBox="1"/>
          <p:nvPr/>
        </p:nvSpPr>
        <p:spPr>
          <a:xfrm>
            <a:off x="4206240" y="1463040"/>
            <a:ext cx="7132320" cy="658368"/>
          </a:xfrm>
          <a:prstGeom prst="rect">
            <a:avLst/>
          </a:prstGeom>
          <a:noFill/>
          <a:ln/>
        </p:spPr>
        <p:txBody>
          <a:bodyPr wrap="square" lIns="0" tIns="0" rIns="0" bIns="0" rtlCol="0" anchor="ctr"/>
          <a:lstStyle/>
          <a:p>
            <a:pPr indent="0" marL="0">
              <a:buNone/>
            </a:pPr>
            <a:r>
              <a:rPr lang="en-US" sz="1400" dirty="0">
                <a:solidFill>
                  <a:schemeClr val="tx1"/>
                </a:solidFill>
              </a:rPr>
              <a:t>Run the Sparkov generator for customers, merchants, and a date range, then load it into pandas.</a:t>
            </a:r>
            <a:endParaRPr lang="en-US" sz="1400" dirty="0"/>
          </a:p>
        </p:txBody>
      </p:sp>
      <p:sp>
        <p:nvSpPr>
          <p:cNvPr id="8" name="Step row 2"/>
          <p:cNvSpPr/>
          <p:nvPr/>
        </p:nvSpPr>
        <p:spPr>
          <a:xfrm>
            <a:off x="640080" y="2249424"/>
            <a:ext cx="10881360" cy="658368"/>
          </a:xfrm>
          <a:prstGeom prst="roundRect">
            <a:avLst>
              <a:gd name="adj" fmla="val 16667"/>
            </a:avLst>
          </a:prstGeom>
          <a:solidFill>
            <a:schemeClr val="bg2"/>
          </a:solidFill>
          <a:ln w="12700">
            <a:solidFill>
              <a:schemeClr val="bg2"/>
            </a:solidFill>
            <a:prstDash val="solid"/>
          </a:ln>
        </p:spPr>
      </p:sp>
      <p:sp>
        <p:nvSpPr>
          <p:cNvPr id="9" name="Step number circle 2"/>
          <p:cNvSpPr/>
          <p:nvPr/>
        </p:nvSpPr>
        <p:spPr>
          <a:xfrm>
            <a:off x="749808" y="2313432"/>
            <a:ext cx="530352" cy="530352"/>
          </a:xfrm>
          <a:prstGeom prst="ellipse">
            <a:avLst/>
          </a:prstGeom>
          <a:solidFill>
            <a:schemeClr val="accent1"/>
          </a:solidFill>
          <a:ln w="12700">
            <a:solidFill>
              <a:schemeClr val="accent1"/>
            </a:solidFill>
            <a:prstDash val="solid"/>
          </a:ln>
        </p:spPr>
      </p:sp>
      <p:sp>
        <p:nvSpPr>
          <p:cNvPr id="10" name="Step number 2"/>
          <p:cNvSpPr txBox="1"/>
          <p:nvPr/>
        </p:nvSpPr>
        <p:spPr>
          <a:xfrm>
            <a:off x="749808" y="2313432"/>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Step title 2"/>
          <p:cNvSpPr txBox="1"/>
          <p:nvPr/>
        </p:nvSpPr>
        <p:spPr>
          <a:xfrm>
            <a:off x="1554480" y="2249424"/>
            <a:ext cx="2560320" cy="658368"/>
          </a:xfrm>
          <a:prstGeom prst="rect">
            <a:avLst/>
          </a:prstGeom>
          <a:noFill/>
          <a:ln/>
        </p:spPr>
        <p:txBody>
          <a:bodyPr wrap="square" lIns="0" tIns="0" rIns="0" bIns="0" rtlCol="0" anchor="ctr"/>
          <a:lstStyle/>
          <a:p>
            <a:pPr indent="0" marL="0">
              <a:buNone/>
            </a:pPr>
            <a:r>
              <a:rPr lang="en-US" sz="1800" b="1" dirty="0">
                <a:solidFill>
                  <a:schemeClr val="tx1"/>
                </a:solidFill>
              </a:rPr>
              <a:t>Preprocess</a:t>
            </a:r>
            <a:endParaRPr lang="en-US" sz="1800" dirty="0"/>
          </a:p>
        </p:txBody>
      </p:sp>
      <p:sp>
        <p:nvSpPr>
          <p:cNvPr id="12" name="Step text 2"/>
          <p:cNvSpPr txBox="1"/>
          <p:nvPr/>
        </p:nvSpPr>
        <p:spPr>
          <a:xfrm>
            <a:off x="4206240" y="2249424"/>
            <a:ext cx="7132320" cy="658368"/>
          </a:xfrm>
          <a:prstGeom prst="rect">
            <a:avLst/>
          </a:prstGeom>
          <a:noFill/>
          <a:ln/>
        </p:spPr>
        <p:txBody>
          <a:bodyPr wrap="square" lIns="0" tIns="0" rIns="0" bIns="0" rtlCol="0" anchor="ctr"/>
          <a:lstStyle/>
          <a:p>
            <a:pPr indent="0" marL="0">
              <a:buNone/>
            </a:pPr>
            <a:r>
              <a:rPr lang="en-US" sz="1400" dirty="0">
                <a:solidFill>
                  <a:schemeClr val="tx1"/>
                </a:solidFill>
              </a:rPr>
              <a:t>Drop identifiers (name, street, card number), parse timestamps, one-hot encode categories, and scale inputs for logistic regression.</a:t>
            </a:r>
            <a:endParaRPr lang="en-US" sz="1400" dirty="0"/>
          </a:p>
        </p:txBody>
      </p:sp>
      <p:sp>
        <p:nvSpPr>
          <p:cNvPr id="13" name="Step row 3"/>
          <p:cNvSpPr/>
          <p:nvPr/>
        </p:nvSpPr>
        <p:spPr>
          <a:xfrm>
            <a:off x="640080" y="3035808"/>
            <a:ext cx="10881360" cy="658368"/>
          </a:xfrm>
          <a:prstGeom prst="roundRect">
            <a:avLst>
              <a:gd name="adj" fmla="val 16667"/>
            </a:avLst>
          </a:prstGeom>
          <a:solidFill>
            <a:schemeClr val="bg2"/>
          </a:solidFill>
          <a:ln w="12700">
            <a:solidFill>
              <a:schemeClr val="bg2"/>
            </a:solidFill>
            <a:prstDash val="solid"/>
          </a:ln>
        </p:spPr>
      </p:sp>
      <p:sp>
        <p:nvSpPr>
          <p:cNvPr id="14" name="Step number circle 3"/>
          <p:cNvSpPr/>
          <p:nvPr/>
        </p:nvSpPr>
        <p:spPr>
          <a:xfrm>
            <a:off x="749808" y="3099816"/>
            <a:ext cx="530352" cy="530352"/>
          </a:xfrm>
          <a:prstGeom prst="ellipse">
            <a:avLst/>
          </a:prstGeom>
          <a:solidFill>
            <a:schemeClr val="accent1"/>
          </a:solidFill>
          <a:ln w="12700">
            <a:solidFill>
              <a:schemeClr val="accent1"/>
            </a:solidFill>
            <a:prstDash val="solid"/>
          </a:ln>
        </p:spPr>
      </p:sp>
      <p:sp>
        <p:nvSpPr>
          <p:cNvPr id="15" name="Step number 3"/>
          <p:cNvSpPr txBox="1"/>
          <p:nvPr/>
        </p:nvSpPr>
        <p:spPr>
          <a:xfrm>
            <a:off x="749808" y="3099816"/>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Step title 3"/>
          <p:cNvSpPr txBox="1"/>
          <p:nvPr/>
        </p:nvSpPr>
        <p:spPr>
          <a:xfrm>
            <a:off x="1554480" y="3035808"/>
            <a:ext cx="2560320" cy="658368"/>
          </a:xfrm>
          <a:prstGeom prst="rect">
            <a:avLst/>
          </a:prstGeom>
          <a:noFill/>
          <a:ln/>
        </p:spPr>
        <p:txBody>
          <a:bodyPr wrap="square" lIns="0" tIns="0" rIns="0" bIns="0" rtlCol="0" anchor="ctr"/>
          <a:lstStyle/>
          <a:p>
            <a:pPr indent="0" marL="0">
              <a:buNone/>
            </a:pPr>
            <a:r>
              <a:rPr lang="en-US" sz="1800" b="1" dirty="0">
                <a:solidFill>
                  <a:schemeClr val="tx1"/>
                </a:solidFill>
              </a:rPr>
              <a:t>Engineer features</a:t>
            </a:r>
            <a:endParaRPr lang="en-US" sz="1800" dirty="0"/>
          </a:p>
        </p:txBody>
      </p:sp>
      <p:sp>
        <p:nvSpPr>
          <p:cNvPr id="17" name="Step text 3"/>
          <p:cNvSpPr txBox="1"/>
          <p:nvPr/>
        </p:nvSpPr>
        <p:spPr>
          <a:xfrm>
            <a:off x="4206240" y="3035808"/>
            <a:ext cx="7132320" cy="658368"/>
          </a:xfrm>
          <a:prstGeom prst="rect">
            <a:avLst/>
          </a:prstGeom>
          <a:noFill/>
          <a:ln/>
        </p:spPr>
        <p:txBody>
          <a:bodyPr wrap="square" lIns="0" tIns="0" rIns="0" bIns="0" rtlCol="0" anchor="ctr"/>
          <a:lstStyle/>
          <a:p>
            <a:pPr indent="0" marL="0">
              <a:buNone/>
            </a:pPr>
            <a:r>
              <a:rPr lang="en-US" sz="1400" dirty="0">
                <a:solidFill>
                  <a:schemeClr val="tx1"/>
                </a:solidFill>
              </a:rPr>
              <a:t>Build distance, time, and per-customer history features using only past transactions.</a:t>
            </a:r>
            <a:endParaRPr lang="en-US" sz="1400" dirty="0"/>
          </a:p>
        </p:txBody>
      </p:sp>
      <p:sp>
        <p:nvSpPr>
          <p:cNvPr id="18" name="Step row 4"/>
          <p:cNvSpPr/>
          <p:nvPr/>
        </p:nvSpPr>
        <p:spPr>
          <a:xfrm>
            <a:off x="640080" y="3822192"/>
            <a:ext cx="10881360" cy="658368"/>
          </a:xfrm>
          <a:prstGeom prst="roundRect">
            <a:avLst>
              <a:gd name="adj" fmla="val 16667"/>
            </a:avLst>
          </a:prstGeom>
          <a:solidFill>
            <a:schemeClr val="bg2"/>
          </a:solidFill>
          <a:ln w="12700">
            <a:solidFill>
              <a:schemeClr val="bg2"/>
            </a:solidFill>
            <a:prstDash val="solid"/>
          </a:ln>
        </p:spPr>
      </p:sp>
      <p:sp>
        <p:nvSpPr>
          <p:cNvPr id="19" name="Step number circle 4"/>
          <p:cNvSpPr/>
          <p:nvPr/>
        </p:nvSpPr>
        <p:spPr>
          <a:xfrm>
            <a:off x="749808" y="3886200"/>
            <a:ext cx="530352" cy="530352"/>
          </a:xfrm>
          <a:prstGeom prst="ellipse">
            <a:avLst/>
          </a:prstGeom>
          <a:solidFill>
            <a:schemeClr val="accent1"/>
          </a:solidFill>
          <a:ln w="12700">
            <a:solidFill>
              <a:schemeClr val="accent1"/>
            </a:solidFill>
            <a:prstDash val="solid"/>
          </a:ln>
        </p:spPr>
      </p:sp>
      <p:sp>
        <p:nvSpPr>
          <p:cNvPr id="20" name="Step number 4"/>
          <p:cNvSpPr txBox="1"/>
          <p:nvPr/>
        </p:nvSpPr>
        <p:spPr>
          <a:xfrm>
            <a:off x="749808" y="3886200"/>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Step title 4"/>
          <p:cNvSpPr txBox="1"/>
          <p:nvPr/>
        </p:nvSpPr>
        <p:spPr>
          <a:xfrm>
            <a:off x="1554480" y="3822192"/>
            <a:ext cx="2560320" cy="658368"/>
          </a:xfrm>
          <a:prstGeom prst="rect">
            <a:avLst/>
          </a:prstGeom>
          <a:noFill/>
          <a:ln/>
        </p:spPr>
        <p:txBody>
          <a:bodyPr wrap="square" lIns="0" tIns="0" rIns="0" bIns="0" rtlCol="0" anchor="ctr"/>
          <a:lstStyle/>
          <a:p>
            <a:pPr indent="0" marL="0">
              <a:buNone/>
            </a:pPr>
            <a:r>
              <a:rPr lang="en-US" sz="1800" b="1" dirty="0">
                <a:solidFill>
                  <a:schemeClr val="tx1"/>
                </a:solidFill>
              </a:rPr>
              <a:t>Split by time</a:t>
            </a:r>
            <a:endParaRPr lang="en-US" sz="1800" dirty="0"/>
          </a:p>
        </p:txBody>
      </p:sp>
      <p:sp>
        <p:nvSpPr>
          <p:cNvPr id="22" name="Step text 4"/>
          <p:cNvSpPr txBox="1"/>
          <p:nvPr/>
        </p:nvSpPr>
        <p:spPr>
          <a:xfrm>
            <a:off x="4206240" y="3822192"/>
            <a:ext cx="7132320" cy="658368"/>
          </a:xfrm>
          <a:prstGeom prst="rect">
            <a:avLst/>
          </a:prstGeom>
          <a:noFill/>
          <a:ln/>
        </p:spPr>
        <p:txBody>
          <a:bodyPr wrap="square" lIns="0" tIns="0" rIns="0" bIns="0" rtlCol="0" anchor="ctr"/>
          <a:lstStyle/>
          <a:p>
            <a:pPr indent="0" marL="0">
              <a:buNone/>
            </a:pPr>
            <a:r>
              <a:rPr lang="en-US" sz="1400" dirty="0">
                <a:solidFill>
                  <a:schemeClr val="tx1"/>
                </a:solidFill>
              </a:rPr>
              <a:t>Train on earlier transactions and test on later ones, as a real fraud system would.</a:t>
            </a:r>
            <a:endParaRPr lang="en-US" sz="1400" dirty="0"/>
          </a:p>
        </p:txBody>
      </p:sp>
      <p:sp>
        <p:nvSpPr>
          <p:cNvPr id="23" name="Step row 5"/>
          <p:cNvSpPr/>
          <p:nvPr/>
        </p:nvSpPr>
        <p:spPr>
          <a:xfrm>
            <a:off x="640080" y="4608576"/>
            <a:ext cx="10881360" cy="658368"/>
          </a:xfrm>
          <a:prstGeom prst="roundRect">
            <a:avLst>
              <a:gd name="adj" fmla="val 16667"/>
            </a:avLst>
          </a:prstGeom>
          <a:solidFill>
            <a:schemeClr val="bg2"/>
          </a:solidFill>
          <a:ln w="12700">
            <a:solidFill>
              <a:schemeClr val="bg2"/>
            </a:solidFill>
            <a:prstDash val="solid"/>
          </a:ln>
        </p:spPr>
      </p:sp>
      <p:sp>
        <p:nvSpPr>
          <p:cNvPr id="24" name="Step number circle 5"/>
          <p:cNvSpPr/>
          <p:nvPr/>
        </p:nvSpPr>
        <p:spPr>
          <a:xfrm>
            <a:off x="749808" y="4672584"/>
            <a:ext cx="530352" cy="530352"/>
          </a:xfrm>
          <a:prstGeom prst="ellipse">
            <a:avLst/>
          </a:prstGeom>
          <a:solidFill>
            <a:schemeClr val="accent1"/>
          </a:solidFill>
          <a:ln w="12700">
            <a:solidFill>
              <a:schemeClr val="accent1"/>
            </a:solidFill>
            <a:prstDash val="solid"/>
          </a:ln>
        </p:spPr>
      </p:sp>
      <p:sp>
        <p:nvSpPr>
          <p:cNvPr id="25" name="Step number 5"/>
          <p:cNvSpPr txBox="1"/>
          <p:nvPr/>
        </p:nvSpPr>
        <p:spPr>
          <a:xfrm>
            <a:off x="749808" y="4672584"/>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6" name="Step title 5"/>
          <p:cNvSpPr txBox="1"/>
          <p:nvPr/>
        </p:nvSpPr>
        <p:spPr>
          <a:xfrm>
            <a:off x="1554480" y="4608576"/>
            <a:ext cx="2560320" cy="658368"/>
          </a:xfrm>
          <a:prstGeom prst="rect">
            <a:avLst/>
          </a:prstGeom>
          <a:noFill/>
          <a:ln/>
        </p:spPr>
        <p:txBody>
          <a:bodyPr wrap="square" lIns="0" tIns="0" rIns="0" bIns="0" rtlCol="0" anchor="ctr"/>
          <a:lstStyle/>
          <a:p>
            <a:pPr indent="0" marL="0">
              <a:buNone/>
            </a:pPr>
            <a:r>
              <a:rPr lang="en-US" sz="1800" b="1" dirty="0">
                <a:solidFill>
                  <a:schemeClr val="tx1"/>
                </a:solidFill>
              </a:rPr>
              <a:t>Train and compare</a:t>
            </a:r>
            <a:endParaRPr lang="en-US" sz="1800" dirty="0"/>
          </a:p>
        </p:txBody>
      </p:sp>
      <p:sp>
        <p:nvSpPr>
          <p:cNvPr id="27" name="Step text 5"/>
          <p:cNvSpPr txBox="1"/>
          <p:nvPr/>
        </p:nvSpPr>
        <p:spPr>
          <a:xfrm>
            <a:off x="4206240" y="4608576"/>
            <a:ext cx="7132320" cy="658368"/>
          </a:xfrm>
          <a:prstGeom prst="rect">
            <a:avLst/>
          </a:prstGeom>
          <a:noFill/>
          <a:ln/>
        </p:spPr>
        <p:txBody>
          <a:bodyPr wrap="square" lIns="0" tIns="0" rIns="0" bIns="0" rtlCol="0" anchor="ctr"/>
          <a:lstStyle/>
          <a:p>
            <a:pPr indent="0" marL="0">
              <a:buNone/>
            </a:pPr>
            <a:r>
              <a:rPr lang="en-US" sz="1400" dirty="0">
                <a:solidFill>
                  <a:schemeClr val="tx1"/>
                </a:solidFill>
              </a:rPr>
              <a:t>Logistic regression baseline versus decision tree, random forest, and gradient boosting, all with class weights, tuned on a validation set.</a:t>
            </a:r>
            <a:endParaRPr lang="en-US" sz="1400" dirty="0"/>
          </a:p>
        </p:txBody>
      </p:sp>
      <p:sp>
        <p:nvSpPr>
          <p:cNvPr id="28" name="Step row 6"/>
          <p:cNvSpPr/>
          <p:nvPr/>
        </p:nvSpPr>
        <p:spPr>
          <a:xfrm>
            <a:off x="640080" y="5394960"/>
            <a:ext cx="10881360" cy="658368"/>
          </a:xfrm>
          <a:prstGeom prst="roundRect">
            <a:avLst>
              <a:gd name="adj" fmla="val 16667"/>
            </a:avLst>
          </a:prstGeom>
          <a:solidFill>
            <a:schemeClr val="bg2"/>
          </a:solidFill>
          <a:ln w="12700">
            <a:solidFill>
              <a:schemeClr val="bg2"/>
            </a:solidFill>
            <a:prstDash val="solid"/>
          </a:ln>
        </p:spPr>
      </p:sp>
      <p:sp>
        <p:nvSpPr>
          <p:cNvPr id="29" name="Step number circle 6"/>
          <p:cNvSpPr/>
          <p:nvPr/>
        </p:nvSpPr>
        <p:spPr>
          <a:xfrm>
            <a:off x="749808" y="5458968"/>
            <a:ext cx="530352" cy="530352"/>
          </a:xfrm>
          <a:prstGeom prst="ellipse">
            <a:avLst/>
          </a:prstGeom>
          <a:solidFill>
            <a:schemeClr val="accent1"/>
          </a:solidFill>
          <a:ln w="12700">
            <a:solidFill>
              <a:schemeClr val="accent1"/>
            </a:solidFill>
            <a:prstDash val="solid"/>
          </a:ln>
        </p:spPr>
      </p:sp>
      <p:sp>
        <p:nvSpPr>
          <p:cNvPr id="30" name="Step number 6"/>
          <p:cNvSpPr txBox="1"/>
          <p:nvPr/>
        </p:nvSpPr>
        <p:spPr>
          <a:xfrm>
            <a:off x="749808" y="5458968"/>
            <a:ext cx="530352" cy="530352"/>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1" name="Step title 6"/>
          <p:cNvSpPr txBox="1"/>
          <p:nvPr/>
        </p:nvSpPr>
        <p:spPr>
          <a:xfrm>
            <a:off x="1554480" y="5394960"/>
            <a:ext cx="2560320" cy="658368"/>
          </a:xfrm>
          <a:prstGeom prst="rect">
            <a:avLst/>
          </a:prstGeom>
          <a:noFill/>
          <a:ln/>
        </p:spPr>
        <p:txBody>
          <a:bodyPr wrap="square" lIns="0" tIns="0" rIns="0" bIns="0" rtlCol="0" anchor="ctr"/>
          <a:lstStyle/>
          <a:p>
            <a:pPr indent="0" marL="0">
              <a:buNone/>
            </a:pPr>
            <a:r>
              <a:rPr lang="en-US" sz="1800" b="1" dirty="0">
                <a:solidFill>
                  <a:schemeClr val="tx1"/>
                </a:solidFill>
              </a:rPr>
              <a:t>Evaluate and demo</a:t>
            </a:r>
            <a:endParaRPr lang="en-US" sz="1800" dirty="0"/>
          </a:p>
        </p:txBody>
      </p:sp>
      <p:sp>
        <p:nvSpPr>
          <p:cNvPr id="32" name="Step text 6"/>
          <p:cNvSpPr txBox="1"/>
          <p:nvPr/>
        </p:nvSpPr>
        <p:spPr>
          <a:xfrm>
            <a:off x="4206240" y="5394960"/>
            <a:ext cx="7132320" cy="658368"/>
          </a:xfrm>
          <a:prstGeom prst="rect">
            <a:avLst/>
          </a:prstGeom>
          <a:noFill/>
          <a:ln/>
        </p:spPr>
        <p:txBody>
          <a:bodyPr wrap="square" lIns="0" tIns="0" rIns="0" bIns="0" rtlCol="0" anchor="ctr"/>
          <a:lstStyle/>
          <a:p>
            <a:pPr indent="0" marL="0">
              <a:buNone/>
            </a:pPr>
            <a:r>
              <a:rPr lang="en-US" sz="1400" dirty="0">
                <a:solidFill>
                  <a:schemeClr val="tx1"/>
                </a:solidFill>
              </a:rPr>
              <a:t>Report precision, recall, and F1, plus feature importance, then score hand-built normal and suspicious transactions.</a:t>
            </a:r>
            <a:endParaRPr lang="en-US" sz="14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Related work on the same data</a:t>
            </a:r>
            <a:endParaRPr lang="en-US" sz="3600" dirty="0"/>
          </a:p>
        </p:txBody>
      </p:sp>
      <p:sp>
        <p:nvSpPr>
          <p:cNvPr id="3" name="Existing project card"/>
          <p:cNvSpPr/>
          <p:nvPr/>
        </p:nvSpPr>
        <p:spPr>
          <a:xfrm>
            <a:off x="640080" y="1554480"/>
            <a:ext cx="5303520" cy="4206240"/>
          </a:xfrm>
          <a:prstGeom prst="roundRect">
            <a:avLst>
              <a:gd name="adj" fmla="val 2609"/>
            </a:avLst>
          </a:prstGeom>
          <a:solidFill>
            <a:schemeClr val="bg2"/>
          </a:solidFill>
          <a:ln w="12700">
            <a:solidFill>
              <a:schemeClr val="bg2"/>
            </a:solidFill>
            <a:prstDash val="solid"/>
          </a:ln>
        </p:spPr>
      </p:sp>
      <p:sp>
        <p:nvSpPr>
          <p:cNvPr id="4" name="Existing label"/>
          <p:cNvSpPr txBox="1"/>
          <p:nvPr/>
        </p:nvSpPr>
        <p:spPr>
          <a:xfrm>
            <a:off x="1005840" y="1920240"/>
            <a:ext cx="4572000" cy="320040"/>
          </a:xfrm>
          <a:prstGeom prst="rect">
            <a:avLst/>
          </a:prstGeom>
          <a:noFill/>
          <a:ln/>
        </p:spPr>
        <p:txBody>
          <a:bodyPr wrap="square" lIns="0" tIns="0" rIns="0" bIns="0" rtlCol="0" anchor="t"/>
          <a:lstStyle/>
          <a:p>
            <a:pPr indent="0" marL="0">
              <a:buNone/>
            </a:pPr>
            <a:r>
              <a:rPr lang="en-US" sz="1200" b="1" dirty="0">
                <a:solidFill>
                  <a:schemeClr val="accent5"/>
                </a:solidFill>
              </a:rPr>
              <a:t>EXISTING PROJECT</a:t>
            </a:r>
            <a:endParaRPr lang="en-US" sz="1200" dirty="0"/>
          </a:p>
        </p:txBody>
      </p:sp>
      <p:sp>
        <p:nvSpPr>
          <p:cNvPr id="5" name="Existing title"/>
          <p:cNvSpPr txBox="1"/>
          <p:nvPr/>
        </p:nvSpPr>
        <p:spPr>
          <a:xfrm>
            <a:off x="1005840" y="2286000"/>
            <a:ext cx="4572000" cy="457200"/>
          </a:xfrm>
          <a:prstGeom prst="rect">
            <a:avLst/>
          </a:prstGeom>
          <a:noFill/>
          <a:ln/>
        </p:spPr>
        <p:txBody>
          <a:bodyPr wrap="square" lIns="0" tIns="0" rIns="0" bIns="0" rtlCol="0" anchor="t"/>
          <a:lstStyle/>
          <a:p>
            <a:pPr indent="0" marL="0">
              <a:buNone/>
            </a:pPr>
            <a:r>
              <a:rPr lang="en-US" sz="2400" b="1" dirty="0">
                <a:solidFill>
                  <a:schemeClr val="tx1"/>
                </a:solidFill>
              </a:rPr>
              <a:t>Credit Card Fraud Detection</a:t>
            </a:r>
            <a:endParaRPr lang="en-US" sz="2400" dirty="0"/>
          </a:p>
        </p:txBody>
      </p:sp>
      <p:sp>
        <p:nvSpPr>
          <p:cNvPr id="6" name="Existing author"/>
          <p:cNvSpPr txBox="1"/>
          <p:nvPr/>
        </p:nvSpPr>
        <p:spPr>
          <a:xfrm>
            <a:off x="1005840" y="2788920"/>
            <a:ext cx="4572000" cy="365760"/>
          </a:xfrm>
          <a:prstGeom prst="rect">
            <a:avLst/>
          </a:prstGeom>
          <a:noFill/>
          <a:ln/>
        </p:spPr>
        <p:txBody>
          <a:bodyPr wrap="square" lIns="0" tIns="0" rIns="0" bIns="0" rtlCol="0" anchor="t"/>
          <a:lstStyle/>
          <a:p>
            <a:pPr indent="0" marL="0">
              <a:buNone/>
            </a:pPr>
            <a:r>
              <a:rPr lang="en-US" sz="1600" dirty="0">
                <a:solidFill>
                  <a:schemeClr val="accent1"/>
                </a:solidFill>
              </a:rPr>
              <a:t>by sharmasapna on GitHub</a:t>
            </a:r>
            <a:endParaRPr lang="en-US" sz="1600" dirty="0"/>
          </a:p>
        </p:txBody>
      </p:sp>
      <p:sp>
        <p:nvSpPr>
          <p:cNvPr id="7" name="Existing text"/>
          <p:cNvSpPr txBox="1"/>
          <p:nvPr/>
        </p:nvSpPr>
        <p:spPr>
          <a:xfrm>
            <a:off x="1005840" y="3383280"/>
            <a:ext cx="4572000" cy="1280160"/>
          </a:xfrm>
          <a:prstGeom prst="rect">
            <a:avLst/>
          </a:prstGeom>
          <a:noFill/>
          <a:ln/>
        </p:spPr>
        <p:txBody>
          <a:bodyPr wrap="square" lIns="0" tIns="0" rIns="0" bIns="0" rtlCol="0" anchor="t"/>
          <a:lstStyle/>
          <a:p>
            <a:pPr indent="0" marL="0">
              <a:buNone/>
            </a:pPr>
            <a:r>
              <a:rPr lang="en-US" sz="1600" dirty="0">
                <a:solidFill>
                  <a:schemeClr val="tx1"/>
                </a:solidFill>
              </a:rPr>
              <a:t>Classifies fraud on Sparkov-generated transactions: about 1.3 million transactions across 1,000 customers and 800 merchants.</a:t>
            </a:r>
            <a:endParaRPr lang="en-US" sz="1600" dirty="0"/>
          </a:p>
        </p:txBody>
      </p:sp>
      <p:sp>
        <p:nvSpPr>
          <p:cNvPr id="8" name="Existing link"/>
          <p:cNvSpPr txBox="1"/>
          <p:nvPr/>
        </p:nvSpPr>
        <p:spPr>
          <a:xfrm>
            <a:off x="1005840" y="5074920"/>
            <a:ext cx="4572000" cy="365760"/>
          </a:xfrm>
          <a:prstGeom prst="rect">
            <a:avLst/>
          </a:prstGeom>
          <a:noFill/>
          <a:ln/>
        </p:spPr>
        <p:txBody>
          <a:bodyPr wrap="square" lIns="0" tIns="0" rIns="0" bIns="0" rtlCol="0" anchor="t"/>
          <a:lstStyle/>
          <a:p>
            <a:pPr indent="0" marL="0">
              <a:buNone/>
            </a:pPr>
            <a:r>
              <a:rPr lang="en-US" sz="1100" dirty="0">
                <a:solidFill>
                  <a:schemeClr val="accent1"/>
                </a:solidFill>
              </a:rPr>
              <a:t>github.com/sharmasapna/credit-card-fraud-detection</a:t>
            </a:r>
            <a:endParaRPr lang="en-US" sz="1100" dirty="0"/>
          </a:p>
        </p:txBody>
      </p:sp>
      <p:sp>
        <p:nvSpPr>
          <p:cNvPr id="9" name="Our focus card"/>
          <p:cNvSpPr/>
          <p:nvPr/>
        </p:nvSpPr>
        <p:spPr>
          <a:xfrm>
            <a:off x="6217920" y="1554480"/>
            <a:ext cx="5303520" cy="4206240"/>
          </a:xfrm>
          <a:prstGeom prst="roundRect">
            <a:avLst>
              <a:gd name="adj" fmla="val 2609"/>
            </a:avLst>
          </a:prstGeom>
          <a:solidFill>
            <a:schemeClr val="accent1"/>
          </a:solidFill>
          <a:ln w="12700">
            <a:solidFill>
              <a:schemeClr val="accent1"/>
            </a:solidFill>
            <a:prstDash val="solid"/>
          </a:ln>
        </p:spPr>
      </p:sp>
      <p:sp>
        <p:nvSpPr>
          <p:cNvPr id="10" name="Focus title"/>
          <p:cNvSpPr txBox="1"/>
          <p:nvPr/>
        </p:nvSpPr>
        <p:spPr>
          <a:xfrm>
            <a:off x="6583680" y="1920240"/>
            <a:ext cx="4572000" cy="457200"/>
          </a:xfrm>
          <a:prstGeom prst="rect">
            <a:avLst/>
          </a:prstGeom>
          <a:noFill/>
          <a:ln/>
        </p:spPr>
        <p:txBody>
          <a:bodyPr wrap="square" lIns="0" tIns="0" rIns="0" bIns="0" rtlCol="0" anchor="t"/>
          <a:lstStyle/>
          <a:p>
            <a:pPr indent="0" marL="0">
              <a:buNone/>
            </a:pPr>
            <a:r>
              <a:rPr lang="en-US" sz="2400" b="1" dirty="0">
                <a:solidFill>
                  <a:schemeClr val="bg1"/>
                </a:solidFill>
              </a:rPr>
              <a:t>Our focus</a:t>
            </a:r>
            <a:endParaRPr lang="en-US" sz="2400" dirty="0"/>
          </a:p>
        </p:txBody>
      </p:sp>
      <p:sp>
        <p:nvSpPr>
          <p:cNvPr id="11" name="Focus list"/>
          <p:cNvSpPr txBox="1"/>
          <p:nvPr/>
        </p:nvSpPr>
        <p:spPr>
          <a:xfrm>
            <a:off x="6583680" y="26517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Distance-from-home feature</a:t>
            </a:r>
            <a:endParaRPr lang="en-US" sz="1600" dirty="0"/>
          </a:p>
          <a:p>
            <a:pPr marL="342900" indent="-342900">
              <a:spcAft>
                <a:spcPts val="1000"/>
              </a:spcAft>
              <a:buSzPct val="100000"/>
              <a:buChar char="•"/>
            </a:pPr>
            <a:r>
              <a:rPr lang="en-US" sz="1600" dirty="0">
                <a:solidFill>
                  <a:schemeClr val="bg1"/>
                </a:solidFill>
              </a:rPr>
              <a:t>Per-customer behavior features</a:t>
            </a:r>
            <a:endParaRPr lang="en-US" sz="1600" dirty="0"/>
          </a:p>
          <a:p>
            <a:pPr marL="342900" indent="-342900">
              <a:spcAft>
                <a:spcPts val="1000"/>
              </a:spcAft>
              <a:buSzPct val="100000"/>
              <a:buChar char="•"/>
            </a:pPr>
            <a:r>
              <a:rPr lang="en-US" sz="1600" dirty="0">
                <a:solidFill>
                  <a:schemeClr val="bg1"/>
                </a:solidFill>
              </a:rPr>
              <a:t>Time-based train and test split</a:t>
            </a:r>
            <a:endParaRPr lang="en-US" sz="1600" dirty="0"/>
          </a:p>
          <a:p>
            <a:pPr marL="342900" indent="-342900">
              <a:spcAft>
                <a:spcPts val="1000"/>
              </a:spcAft>
              <a:buSzPct val="100000"/>
              <a:buChar char="•"/>
            </a:pPr>
            <a:r>
              <a:rPr lang="en-US" sz="1600" dirty="0">
                <a:solidFill>
                  <a:schemeClr val="bg1"/>
                </a:solidFill>
              </a:rPr>
              <a:t>Precision, recall, and F1 for four models</a:t>
            </a:r>
            <a:endParaRPr lang="en-US" sz="1600" dirty="0"/>
          </a:p>
          <a:p>
            <a:pPr marL="342900" indent="-342900">
              <a:spcAft>
                <a:spcPts val="1000"/>
              </a:spcAft>
              <a:buSzPct val="100000"/>
              <a:buChar char="•"/>
            </a:pPr>
            <a:r>
              <a:rPr lang="en-US" sz="1600" dirty="0">
                <a:solidFill>
                  <a:schemeClr val="bg1"/>
                </a:solidFill>
              </a:rPr>
              <a:t>A scoring demo on hand-built transactions</a:t>
            </a:r>
            <a:endParaRPr lang="en-US" sz="16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What we expect to deliver</a:t>
            </a:r>
            <a:endParaRPr lang="en-US" sz="3600" dirty="0"/>
          </a:p>
        </p:txBody>
      </p:sp>
      <p:sp>
        <p:nvSpPr>
          <p:cNvPr id="3" name="Outcome card 1"/>
          <p:cNvSpPr/>
          <p:nvPr/>
        </p:nvSpPr>
        <p:spPr>
          <a:xfrm>
            <a:off x="640080" y="1554480"/>
            <a:ext cx="3429000" cy="2743200"/>
          </a:xfrm>
          <a:prstGeom prst="roundRect">
            <a:avLst>
              <a:gd name="adj" fmla="val 4000"/>
            </a:avLst>
          </a:prstGeom>
          <a:solidFill>
            <a:schemeClr val="bg2"/>
          </a:solidFill>
          <a:ln w="12700">
            <a:solidFill>
              <a:schemeClr val="bg2"/>
            </a:solidFill>
            <a:prstDash val="solid"/>
          </a:ln>
        </p:spPr>
      </p:sp>
      <p:sp>
        <p:nvSpPr>
          <p:cNvPr id="4" name="Outcome Beat the baseline circle"/>
          <p:cNvSpPr/>
          <p:nvPr/>
        </p:nvSpPr>
        <p:spPr>
          <a:xfrm>
            <a:off x="960120" y="1874520"/>
            <a:ext cx="731520" cy="731520"/>
          </a:xfrm>
          <a:prstGeom prst="ellipse">
            <a:avLst/>
          </a:prstGeom>
          <a:solidFill>
            <a:schemeClr val="accent1"/>
          </a:solidFill>
          <a:ln w="12700">
            <a:solidFill>
              <a:schemeClr val="accent1"/>
            </a:solidFill>
            <a:prstDash val="solid"/>
          </a:ln>
        </p:spPr>
      </p:sp>
      <p:pic>
        <p:nvPicPr>
          <p:cNvPr id="5" name="Outcome Beat the baseline icon" descr="Outcome Beat the baseline">    </p:cNvPr>
          <p:cNvPicPr>
            <a:picLocks noChangeAspect="1"/>
          </p:cNvPicPr>
          <p:nvPr/>
        </p:nvPicPr>
        <p:blipFill>
          <a:blip r:embed="rId1"/>
          <a:stretch>
            <a:fillRect/>
          </a:stretch>
        </p:blipFill>
        <p:spPr>
          <a:xfrm>
            <a:off x="1121054" y="2035454"/>
            <a:ext cx="409651" cy="409651"/>
          </a:xfrm>
          <a:prstGeom prst="rect">
            <a:avLst/>
          </a:prstGeom>
        </p:spPr>
      </p:pic>
      <p:sp>
        <p:nvSpPr>
          <p:cNvPr id="6" name="Outcome header 1"/>
          <p:cNvSpPr txBox="1"/>
          <p:nvPr/>
        </p:nvSpPr>
        <p:spPr>
          <a:xfrm>
            <a:off x="960120" y="2834640"/>
            <a:ext cx="2788920" cy="411480"/>
          </a:xfrm>
          <a:prstGeom prst="rect">
            <a:avLst/>
          </a:prstGeom>
          <a:noFill/>
          <a:ln/>
        </p:spPr>
        <p:txBody>
          <a:bodyPr wrap="square" lIns="0" tIns="0" rIns="0" bIns="0" rtlCol="0" anchor="t"/>
          <a:lstStyle/>
          <a:p>
            <a:pPr indent="0" marL="0">
              <a:buNone/>
            </a:pPr>
            <a:r>
              <a:rPr lang="en-US" sz="2000" b="1" dirty="0">
                <a:solidFill>
                  <a:schemeClr val="tx1"/>
                </a:solidFill>
              </a:rPr>
              <a:t>Beat the baseline</a:t>
            </a:r>
            <a:endParaRPr lang="en-US" sz="2000" dirty="0"/>
          </a:p>
        </p:txBody>
      </p:sp>
      <p:sp>
        <p:nvSpPr>
          <p:cNvPr id="7" name="Outcome text 1"/>
          <p:cNvSpPr txBox="1"/>
          <p:nvPr/>
        </p:nvSpPr>
        <p:spPr>
          <a:xfrm>
            <a:off x="960120" y="3337560"/>
            <a:ext cx="2788920" cy="1097280"/>
          </a:xfrm>
          <a:prstGeom prst="rect">
            <a:avLst/>
          </a:prstGeom>
          <a:noFill/>
          <a:ln/>
        </p:spPr>
        <p:txBody>
          <a:bodyPr wrap="square" lIns="0" tIns="0" rIns="0" bIns="0" rtlCol="0" anchor="t"/>
          <a:lstStyle/>
          <a:p>
            <a:pPr indent="0" marL="0">
              <a:buNone/>
            </a:pPr>
            <a:r>
              <a:rPr lang="en-US" sz="1500" dirty="0">
                <a:solidFill>
                  <a:schemeClr val="tx1"/>
                </a:solidFill>
              </a:rPr>
              <a:t>Random forest and gradient boosting improve recall and F1 over logistic regression.</a:t>
            </a:r>
            <a:endParaRPr lang="en-US" sz="1500" dirty="0"/>
          </a:p>
        </p:txBody>
      </p:sp>
      <p:sp>
        <p:nvSpPr>
          <p:cNvPr id="8" name="Outcome card 2"/>
          <p:cNvSpPr/>
          <p:nvPr/>
        </p:nvSpPr>
        <p:spPr>
          <a:xfrm>
            <a:off x="4366260" y="1554480"/>
            <a:ext cx="3429000" cy="2743200"/>
          </a:xfrm>
          <a:prstGeom prst="roundRect">
            <a:avLst>
              <a:gd name="adj" fmla="val 4000"/>
            </a:avLst>
          </a:prstGeom>
          <a:solidFill>
            <a:schemeClr val="bg2"/>
          </a:solidFill>
          <a:ln w="12700">
            <a:solidFill>
              <a:schemeClr val="bg2"/>
            </a:solidFill>
            <a:prstDash val="solid"/>
          </a:ln>
        </p:spPr>
      </p:sp>
      <p:sp>
        <p:nvSpPr>
          <p:cNvPr id="9" name="Outcome Useful features circle"/>
          <p:cNvSpPr/>
          <p:nvPr/>
        </p:nvSpPr>
        <p:spPr>
          <a:xfrm>
            <a:off x="4686300" y="1874520"/>
            <a:ext cx="731520" cy="731520"/>
          </a:xfrm>
          <a:prstGeom prst="ellipse">
            <a:avLst/>
          </a:prstGeom>
          <a:solidFill>
            <a:schemeClr val="accent1"/>
          </a:solidFill>
          <a:ln w="12700">
            <a:solidFill>
              <a:schemeClr val="accent1"/>
            </a:solidFill>
            <a:prstDash val="solid"/>
          </a:ln>
        </p:spPr>
      </p:sp>
      <p:pic>
        <p:nvPicPr>
          <p:cNvPr id="10" name="Outcome Useful features icon" descr="Outcome Useful features">    </p:cNvPr>
          <p:cNvPicPr>
            <a:picLocks noChangeAspect="1"/>
          </p:cNvPicPr>
          <p:nvPr/>
        </p:nvPicPr>
        <p:blipFill>
          <a:blip r:embed="rId2"/>
          <a:stretch>
            <a:fillRect/>
          </a:stretch>
        </p:blipFill>
        <p:spPr>
          <a:xfrm>
            <a:off x="4847234" y="2035454"/>
            <a:ext cx="409651" cy="409651"/>
          </a:xfrm>
          <a:prstGeom prst="rect">
            <a:avLst/>
          </a:prstGeom>
        </p:spPr>
      </p:pic>
      <p:sp>
        <p:nvSpPr>
          <p:cNvPr id="11" name="Outcome header 2"/>
          <p:cNvSpPr txBox="1"/>
          <p:nvPr/>
        </p:nvSpPr>
        <p:spPr>
          <a:xfrm>
            <a:off x="4686300" y="2834640"/>
            <a:ext cx="2788920" cy="411480"/>
          </a:xfrm>
          <a:prstGeom prst="rect">
            <a:avLst/>
          </a:prstGeom>
          <a:noFill/>
          <a:ln/>
        </p:spPr>
        <p:txBody>
          <a:bodyPr wrap="square" lIns="0" tIns="0" rIns="0" bIns="0" rtlCol="0" anchor="t"/>
          <a:lstStyle/>
          <a:p>
            <a:pPr indent="0" marL="0">
              <a:buNone/>
            </a:pPr>
            <a:r>
              <a:rPr lang="en-US" sz="2000" b="1" dirty="0">
                <a:solidFill>
                  <a:schemeClr val="tx1"/>
                </a:solidFill>
              </a:rPr>
              <a:t>Useful features</a:t>
            </a:r>
            <a:endParaRPr lang="en-US" sz="2000" dirty="0"/>
          </a:p>
        </p:txBody>
      </p:sp>
      <p:sp>
        <p:nvSpPr>
          <p:cNvPr id="12" name="Outcome text 2"/>
          <p:cNvSpPr txBox="1"/>
          <p:nvPr/>
        </p:nvSpPr>
        <p:spPr>
          <a:xfrm>
            <a:off x="4686300" y="3337560"/>
            <a:ext cx="2788920" cy="1097280"/>
          </a:xfrm>
          <a:prstGeom prst="rect">
            <a:avLst/>
          </a:prstGeom>
          <a:noFill/>
          <a:ln/>
        </p:spPr>
        <p:txBody>
          <a:bodyPr wrap="square" lIns="0" tIns="0" rIns="0" bIns="0" rtlCol="0" anchor="t"/>
          <a:lstStyle/>
          <a:p>
            <a:pPr indent="0" marL="0">
              <a:buNone/>
            </a:pPr>
            <a:r>
              <a:rPr lang="en-US" sz="1500" dirty="0">
                <a:solidFill>
                  <a:schemeClr val="tx1"/>
                </a:solidFill>
              </a:rPr>
              <a:t>Distance and behavior features rank high in feature importance.</a:t>
            </a:r>
            <a:endParaRPr lang="en-US" sz="1500" dirty="0"/>
          </a:p>
        </p:txBody>
      </p:sp>
      <p:sp>
        <p:nvSpPr>
          <p:cNvPr id="13" name="Outcome card 3"/>
          <p:cNvSpPr/>
          <p:nvPr/>
        </p:nvSpPr>
        <p:spPr>
          <a:xfrm>
            <a:off x="8092440" y="1554480"/>
            <a:ext cx="3429000" cy="2743200"/>
          </a:xfrm>
          <a:prstGeom prst="roundRect">
            <a:avLst>
              <a:gd name="adj" fmla="val 4000"/>
            </a:avLst>
          </a:prstGeom>
          <a:solidFill>
            <a:schemeClr val="bg2"/>
          </a:solidFill>
          <a:ln w="12700">
            <a:solidFill>
              <a:schemeClr val="bg2"/>
            </a:solidFill>
            <a:prstDash val="solid"/>
          </a:ln>
        </p:spPr>
      </p:sp>
      <p:sp>
        <p:nvSpPr>
          <p:cNvPr id="14" name="Outcome A working demo circle"/>
          <p:cNvSpPr/>
          <p:nvPr/>
        </p:nvSpPr>
        <p:spPr>
          <a:xfrm>
            <a:off x="8412480" y="1874520"/>
            <a:ext cx="731520" cy="731520"/>
          </a:xfrm>
          <a:prstGeom prst="ellipse">
            <a:avLst/>
          </a:prstGeom>
          <a:solidFill>
            <a:schemeClr val="accent1"/>
          </a:solidFill>
          <a:ln w="12700">
            <a:solidFill>
              <a:schemeClr val="accent1"/>
            </a:solidFill>
            <a:prstDash val="solid"/>
          </a:ln>
        </p:spPr>
      </p:sp>
      <p:pic>
        <p:nvPicPr>
          <p:cNvPr id="15" name="Outcome A working demo icon" descr="Outcome A working demo">    </p:cNvPr>
          <p:cNvPicPr>
            <a:picLocks noChangeAspect="1"/>
          </p:cNvPicPr>
          <p:nvPr/>
        </p:nvPicPr>
        <p:blipFill>
          <a:blip r:embed="rId3"/>
          <a:stretch>
            <a:fillRect/>
          </a:stretch>
        </p:blipFill>
        <p:spPr>
          <a:xfrm>
            <a:off x="8573414" y="2035454"/>
            <a:ext cx="409651" cy="409651"/>
          </a:xfrm>
          <a:prstGeom prst="rect">
            <a:avLst/>
          </a:prstGeom>
        </p:spPr>
      </p:pic>
      <p:sp>
        <p:nvSpPr>
          <p:cNvPr id="16" name="Outcome header 3"/>
          <p:cNvSpPr txBox="1"/>
          <p:nvPr/>
        </p:nvSpPr>
        <p:spPr>
          <a:xfrm>
            <a:off x="8412480" y="2834640"/>
            <a:ext cx="2788920" cy="411480"/>
          </a:xfrm>
          <a:prstGeom prst="rect">
            <a:avLst/>
          </a:prstGeom>
          <a:noFill/>
          <a:ln/>
        </p:spPr>
        <p:txBody>
          <a:bodyPr wrap="square" lIns="0" tIns="0" rIns="0" bIns="0" rtlCol="0" anchor="t"/>
          <a:lstStyle/>
          <a:p>
            <a:pPr indent="0" marL="0">
              <a:buNone/>
            </a:pPr>
            <a:r>
              <a:rPr lang="en-US" sz="2000" b="1" dirty="0">
                <a:solidFill>
                  <a:schemeClr val="tx1"/>
                </a:solidFill>
              </a:rPr>
              <a:t>A working demo</a:t>
            </a:r>
            <a:endParaRPr lang="en-US" sz="2000" dirty="0"/>
          </a:p>
        </p:txBody>
      </p:sp>
      <p:sp>
        <p:nvSpPr>
          <p:cNvPr id="17" name="Outcome text 3"/>
          <p:cNvSpPr txBox="1"/>
          <p:nvPr/>
        </p:nvSpPr>
        <p:spPr>
          <a:xfrm>
            <a:off x="8412480" y="3337560"/>
            <a:ext cx="2788920" cy="1097280"/>
          </a:xfrm>
          <a:prstGeom prst="rect">
            <a:avLst/>
          </a:prstGeom>
          <a:noFill/>
          <a:ln/>
        </p:spPr>
        <p:txBody>
          <a:bodyPr wrap="square" lIns="0" tIns="0" rIns="0" bIns="0" rtlCol="0" anchor="t"/>
          <a:lstStyle/>
          <a:p>
            <a:pPr indent="0" marL="0">
              <a:buNone/>
            </a:pPr>
            <a:r>
              <a:rPr lang="en-US" sz="1500" dirty="0">
                <a:solidFill>
                  <a:schemeClr val="tx1"/>
                </a:solidFill>
              </a:rPr>
              <a:t>A trained model that scores hand-built normal and suspicious transactions.</a:t>
            </a:r>
            <a:endParaRPr lang="en-US" sz="1500" dirty="0"/>
          </a:p>
        </p:txBody>
      </p:sp>
      <p:sp>
        <p:nvSpPr>
          <p:cNvPr id="18" name="Limitation strip"/>
          <p:cNvSpPr/>
          <p:nvPr/>
        </p:nvSpPr>
        <p:spPr>
          <a:xfrm>
            <a:off x="640080" y="4572000"/>
            <a:ext cx="10881360" cy="1188720"/>
          </a:xfrm>
          <a:prstGeom prst="roundRect">
            <a:avLst>
              <a:gd name="adj" fmla="val 9231"/>
            </a:avLst>
          </a:prstGeom>
          <a:solidFill>
            <a:schemeClr val="bg2"/>
          </a:solidFill>
          <a:ln w="12700">
            <a:solidFill>
              <a:schemeClr val="bg2"/>
            </a:solidFill>
            <a:prstDash val="solid"/>
          </a:ln>
        </p:spPr>
      </p:sp>
      <p:sp>
        <p:nvSpPr>
          <p:cNvPr id="19" name="Limitation circle"/>
          <p:cNvSpPr/>
          <p:nvPr/>
        </p:nvSpPr>
        <p:spPr>
          <a:xfrm>
            <a:off x="914400" y="4800600"/>
            <a:ext cx="731520" cy="731520"/>
          </a:xfrm>
          <a:prstGeom prst="ellipse">
            <a:avLst/>
          </a:prstGeom>
          <a:solidFill>
            <a:schemeClr val="accent3"/>
          </a:solidFill>
          <a:ln w="12700">
            <a:solidFill>
              <a:schemeClr val="accent3"/>
            </a:solidFill>
            <a:prstDash val="solid"/>
          </a:ln>
        </p:spPr>
      </p:sp>
      <p:pic>
        <p:nvPicPr>
          <p:cNvPr id="20" name="Limitation icon" descr="Limitation">    </p:cNvPr>
          <p:cNvPicPr>
            <a:picLocks noChangeAspect="1"/>
          </p:cNvPicPr>
          <p:nvPr/>
        </p:nvPicPr>
        <p:blipFill>
          <a:blip r:embed="rId4"/>
          <a:stretch>
            <a:fillRect/>
          </a:stretch>
        </p:blipFill>
        <p:spPr>
          <a:xfrm>
            <a:off x="1075334" y="4961534"/>
            <a:ext cx="409651" cy="409651"/>
          </a:xfrm>
          <a:prstGeom prst="rect">
            <a:avLst/>
          </a:prstGeom>
        </p:spPr>
      </p:pic>
      <p:sp>
        <p:nvSpPr>
          <p:cNvPr id="21" name="Limitation text"/>
          <p:cNvSpPr txBox="1"/>
          <p:nvPr/>
        </p:nvSpPr>
        <p:spPr>
          <a:xfrm>
            <a:off x="1920240" y="4800600"/>
            <a:ext cx="9326880" cy="731520"/>
          </a:xfrm>
          <a:prstGeom prst="rect">
            <a:avLst/>
          </a:prstGeom>
          <a:noFill/>
          <a:ln/>
        </p:spPr>
        <p:txBody>
          <a:bodyPr wrap="square" lIns="0" tIns="0" rIns="0" bIns="0" rtlCol="0" anchor="ctr"/>
          <a:lstStyle/>
          <a:p>
            <a:pPr indent="0" marL="0">
              <a:buNone/>
            </a:pPr>
            <a:r>
              <a:rPr lang="en-US" sz="1600" b="1" dirty="0">
                <a:solidFill>
                  <a:schemeClr val="tx1"/>
                </a:solidFill>
              </a:rPr>
              <a:t>Known limitation: </a:t>
            </a:r>
            <a:pPr indent="0" marL="0">
              <a:buNone/>
            </a:pPr>
            <a:r>
              <a:rPr lang="en-US" sz="1600" dirty="0">
                <a:solidFill>
                  <a:schemeClr val="tx1"/>
                </a:solidFill>
              </a:rPr>
              <a:t>the data is simulated, so results may not transfer directly to real-world spending.</a:t>
            </a:r>
            <a:endParaRPr lang="en-US" sz="16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65760"/>
            <a:ext cx="10881360" cy="914400"/>
          </a:xfrm>
          <a:prstGeom prst="rect">
            <a:avLst/>
          </a:prstGeom>
          <a:noFill/>
          <a:ln/>
        </p:spPr>
        <p:txBody>
          <a:bodyPr wrap="square" lIns="0" tIns="0" rIns="0" bIns="0" rtlCol="0" anchor="ctr"/>
          <a:lstStyle/>
          <a:p>
            <a:pPr algn="l" indent="0" marL="0">
              <a:buNone/>
            </a:pPr>
            <a:r>
              <a:rPr lang="en-US" sz="3600" b="1" dirty="0">
                <a:solidFill>
                  <a:schemeClr val="tx1"/>
                </a:solidFill>
              </a:rPr>
              <a:t>Timeline and milestones</a:t>
            </a:r>
            <a:endParaRPr lang="en-US" sz="3600" dirty="0"/>
          </a:p>
        </p:txBody>
      </p:sp>
      <p:sp>
        <p:nvSpPr>
          <p:cNvPr id="3" name="Timeline line"/>
          <p:cNvSpPr/>
          <p:nvPr/>
        </p:nvSpPr>
        <p:spPr>
          <a:xfrm>
            <a:off x="1280160" y="2880360"/>
            <a:ext cx="9601200" cy="0"/>
          </a:xfrm>
          <a:prstGeom prst="line">
            <a:avLst/>
          </a:prstGeom>
          <a:noFill/>
          <a:ln w="38100">
            <a:solidFill>
              <a:schemeClr val="accent6"/>
            </a:solidFill>
            <a:prstDash val="solid"/>
          </a:ln>
        </p:spPr>
      </p:sp>
      <p:sp>
        <p:nvSpPr>
          <p:cNvPr id="4" name="Milestone date 1"/>
          <p:cNvSpPr txBox="1"/>
          <p:nvPr/>
        </p:nvSpPr>
        <p:spPr>
          <a:xfrm>
            <a:off x="640080" y="1920240"/>
            <a:ext cx="2468880" cy="457200"/>
          </a:xfrm>
          <a:prstGeom prst="rect">
            <a:avLst/>
          </a:prstGeom>
          <a:noFill/>
          <a:ln/>
        </p:spPr>
        <p:txBody>
          <a:bodyPr wrap="square" lIns="0" tIns="0" rIns="0" bIns="0" rtlCol="0" anchor="t"/>
          <a:lstStyle/>
          <a:p>
            <a:pPr algn="ctr" indent="0" marL="0">
              <a:buNone/>
            </a:pPr>
            <a:r>
              <a:rPr lang="en-US" sz="2200" b="1" dirty="0">
                <a:solidFill>
                  <a:schemeClr val="accent1"/>
                </a:solidFill>
              </a:rPr>
              <a:t>Oct 20 &amp; 22</a:t>
            </a:r>
            <a:endParaRPr lang="en-US" sz="2200" dirty="0"/>
          </a:p>
        </p:txBody>
      </p:sp>
      <p:sp>
        <p:nvSpPr>
          <p:cNvPr id="5" name="Milestone dot 1"/>
          <p:cNvSpPr/>
          <p:nvPr/>
        </p:nvSpPr>
        <p:spPr>
          <a:xfrm>
            <a:off x="1645920" y="2651760"/>
            <a:ext cx="457200" cy="457200"/>
          </a:xfrm>
          <a:prstGeom prst="ellipse">
            <a:avLst/>
          </a:prstGeom>
          <a:solidFill>
            <a:schemeClr val="accent2"/>
          </a:solidFill>
          <a:ln w="38100">
            <a:solidFill>
              <a:schemeClr val="bg1"/>
            </a:solidFill>
            <a:prstDash val="solid"/>
          </a:ln>
        </p:spPr>
      </p:sp>
      <p:sp>
        <p:nvSpPr>
          <p:cNvPr id="6" name="Milestone card 1"/>
          <p:cNvSpPr/>
          <p:nvPr/>
        </p:nvSpPr>
        <p:spPr>
          <a:xfrm>
            <a:off x="640080" y="3474720"/>
            <a:ext cx="2468880" cy="1828800"/>
          </a:xfrm>
          <a:prstGeom prst="roundRect">
            <a:avLst>
              <a:gd name="adj" fmla="val 6000"/>
            </a:avLst>
          </a:prstGeom>
          <a:solidFill>
            <a:schemeClr val="bg2"/>
          </a:solidFill>
          <a:ln w="12700">
            <a:solidFill>
              <a:schemeClr val="bg2"/>
            </a:solidFill>
            <a:prstDash val="solid"/>
          </a:ln>
        </p:spPr>
      </p:sp>
      <p:sp>
        <p:nvSpPr>
          <p:cNvPr id="7" name="Milestone header 1"/>
          <p:cNvSpPr txBox="1"/>
          <p:nvPr/>
        </p:nvSpPr>
        <p:spPr>
          <a:xfrm>
            <a:off x="868680" y="37033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Proposal</a:t>
            </a:r>
            <a:endParaRPr lang="en-US" sz="1800" dirty="0"/>
          </a:p>
        </p:txBody>
      </p:sp>
      <p:sp>
        <p:nvSpPr>
          <p:cNvPr id="8" name="Milestone text 1"/>
          <p:cNvSpPr txBox="1"/>
          <p:nvPr/>
        </p:nvSpPr>
        <p:spPr>
          <a:xfrm>
            <a:off x="868680" y="4160520"/>
            <a:ext cx="2011680" cy="1371600"/>
          </a:xfrm>
          <a:prstGeom prst="rect">
            <a:avLst/>
          </a:prstGeom>
          <a:noFill/>
          <a:ln/>
        </p:spPr>
        <p:txBody>
          <a:bodyPr wrap="square" lIns="0" tIns="0" rIns="0" bIns="0" rtlCol="0" anchor="t"/>
          <a:lstStyle/>
          <a:p>
            <a:pPr indent="0" marL="0">
              <a:buNone/>
            </a:pPr>
            <a:r>
              <a:rPr lang="en-US" sz="1400" dirty="0">
                <a:solidFill>
                  <a:schemeClr val="tx1"/>
                </a:solidFill>
              </a:rPr>
              <a:t>Idea, methods, metrics, and plan.</a:t>
            </a:r>
            <a:endParaRPr lang="en-US" sz="1400" dirty="0"/>
          </a:p>
        </p:txBody>
      </p:sp>
      <p:sp>
        <p:nvSpPr>
          <p:cNvPr id="9" name="Milestone date 2"/>
          <p:cNvSpPr txBox="1"/>
          <p:nvPr/>
        </p:nvSpPr>
        <p:spPr>
          <a:xfrm>
            <a:off x="3447288" y="1920240"/>
            <a:ext cx="2468880" cy="457200"/>
          </a:xfrm>
          <a:prstGeom prst="rect">
            <a:avLst/>
          </a:prstGeom>
          <a:noFill/>
          <a:ln/>
        </p:spPr>
        <p:txBody>
          <a:bodyPr wrap="square" lIns="0" tIns="0" rIns="0" bIns="0" rtlCol="0" anchor="t"/>
          <a:lstStyle/>
          <a:p>
            <a:pPr algn="ctr" indent="0" marL="0">
              <a:buNone/>
            </a:pPr>
            <a:r>
              <a:rPr lang="en-US" sz="2200" b="1" dirty="0">
                <a:solidFill>
                  <a:schemeClr val="accent1"/>
                </a:solidFill>
              </a:rPr>
              <a:t>Nov 10 &amp; 12</a:t>
            </a:r>
            <a:endParaRPr lang="en-US" sz="2200" dirty="0"/>
          </a:p>
        </p:txBody>
      </p:sp>
      <p:sp>
        <p:nvSpPr>
          <p:cNvPr id="10" name="Milestone dot 2"/>
          <p:cNvSpPr/>
          <p:nvPr/>
        </p:nvSpPr>
        <p:spPr>
          <a:xfrm>
            <a:off x="4453128" y="2651760"/>
            <a:ext cx="457200" cy="457200"/>
          </a:xfrm>
          <a:prstGeom prst="ellipse">
            <a:avLst/>
          </a:prstGeom>
          <a:solidFill>
            <a:schemeClr val="accent1"/>
          </a:solidFill>
          <a:ln w="38100">
            <a:solidFill>
              <a:schemeClr val="bg1"/>
            </a:solidFill>
            <a:prstDash val="solid"/>
          </a:ln>
        </p:spPr>
      </p:sp>
      <p:sp>
        <p:nvSpPr>
          <p:cNvPr id="11" name="Milestone card 2"/>
          <p:cNvSpPr/>
          <p:nvPr/>
        </p:nvSpPr>
        <p:spPr>
          <a:xfrm>
            <a:off x="3447288" y="3474720"/>
            <a:ext cx="2468880" cy="1828800"/>
          </a:xfrm>
          <a:prstGeom prst="roundRect">
            <a:avLst>
              <a:gd name="adj" fmla="val 6000"/>
            </a:avLst>
          </a:prstGeom>
          <a:solidFill>
            <a:schemeClr val="bg2"/>
          </a:solidFill>
          <a:ln w="12700">
            <a:solidFill>
              <a:schemeClr val="bg2"/>
            </a:solidFill>
            <a:prstDash val="solid"/>
          </a:ln>
        </p:spPr>
      </p:sp>
      <p:sp>
        <p:nvSpPr>
          <p:cNvPr id="12" name="Milestone header 2"/>
          <p:cNvSpPr txBox="1"/>
          <p:nvPr/>
        </p:nvSpPr>
        <p:spPr>
          <a:xfrm>
            <a:off x="3675888" y="37033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Intermediate</a:t>
            </a:r>
            <a:endParaRPr lang="en-US" sz="1800" dirty="0"/>
          </a:p>
        </p:txBody>
      </p:sp>
      <p:sp>
        <p:nvSpPr>
          <p:cNvPr id="13" name="Milestone text 2"/>
          <p:cNvSpPr txBox="1"/>
          <p:nvPr/>
        </p:nvSpPr>
        <p:spPr>
          <a:xfrm>
            <a:off x="3675888" y="4160520"/>
            <a:ext cx="2011680" cy="1371600"/>
          </a:xfrm>
          <a:prstGeom prst="rect">
            <a:avLst/>
          </a:prstGeom>
          <a:noFill/>
          <a:ln/>
        </p:spPr>
        <p:txBody>
          <a:bodyPr wrap="square" lIns="0" tIns="0" rIns="0" bIns="0" rtlCol="0" anchor="t"/>
          <a:lstStyle/>
          <a:p>
            <a:pPr indent="0" marL="0">
              <a:buNone/>
            </a:pPr>
            <a:r>
              <a:rPr lang="en-US" sz="1400" dirty="0">
                <a:solidFill>
                  <a:schemeClr val="tx1"/>
                </a:solidFill>
              </a:rPr>
              <a:t>Data generated, features built, baseline results, and limitations.</a:t>
            </a:r>
            <a:endParaRPr lang="en-US" sz="1400" dirty="0"/>
          </a:p>
        </p:txBody>
      </p:sp>
      <p:sp>
        <p:nvSpPr>
          <p:cNvPr id="14" name="Milestone date 3"/>
          <p:cNvSpPr txBox="1"/>
          <p:nvPr/>
        </p:nvSpPr>
        <p:spPr>
          <a:xfrm>
            <a:off x="6254496" y="1920240"/>
            <a:ext cx="2468880" cy="457200"/>
          </a:xfrm>
          <a:prstGeom prst="rect">
            <a:avLst/>
          </a:prstGeom>
          <a:noFill/>
          <a:ln/>
        </p:spPr>
        <p:txBody>
          <a:bodyPr wrap="square" lIns="0" tIns="0" rIns="0" bIns="0" rtlCol="0" anchor="t"/>
          <a:lstStyle/>
          <a:p>
            <a:pPr algn="ctr" indent="0" marL="0">
              <a:buNone/>
            </a:pPr>
            <a:r>
              <a:rPr lang="en-US" sz="2200" b="1" dirty="0">
                <a:solidFill>
                  <a:schemeClr val="accent1"/>
                </a:solidFill>
              </a:rPr>
              <a:t>Nov 24 &amp; 26</a:t>
            </a:r>
            <a:endParaRPr lang="en-US" sz="2200" dirty="0"/>
          </a:p>
        </p:txBody>
      </p:sp>
      <p:sp>
        <p:nvSpPr>
          <p:cNvPr id="15" name="Milestone dot 3"/>
          <p:cNvSpPr/>
          <p:nvPr/>
        </p:nvSpPr>
        <p:spPr>
          <a:xfrm>
            <a:off x="7260336" y="2651760"/>
            <a:ext cx="457200" cy="457200"/>
          </a:xfrm>
          <a:prstGeom prst="ellipse">
            <a:avLst/>
          </a:prstGeom>
          <a:solidFill>
            <a:schemeClr val="accent1"/>
          </a:solidFill>
          <a:ln w="38100">
            <a:solidFill>
              <a:schemeClr val="bg1"/>
            </a:solidFill>
            <a:prstDash val="solid"/>
          </a:ln>
        </p:spPr>
      </p:sp>
      <p:sp>
        <p:nvSpPr>
          <p:cNvPr id="16" name="Milestone card 3"/>
          <p:cNvSpPr/>
          <p:nvPr/>
        </p:nvSpPr>
        <p:spPr>
          <a:xfrm>
            <a:off x="6254496" y="3474720"/>
            <a:ext cx="2468880" cy="1828800"/>
          </a:xfrm>
          <a:prstGeom prst="roundRect">
            <a:avLst>
              <a:gd name="adj" fmla="val 6000"/>
            </a:avLst>
          </a:prstGeom>
          <a:solidFill>
            <a:schemeClr val="bg2"/>
          </a:solidFill>
          <a:ln w="12700">
            <a:solidFill>
              <a:schemeClr val="bg2"/>
            </a:solidFill>
            <a:prstDash val="solid"/>
          </a:ln>
        </p:spPr>
      </p:sp>
      <p:sp>
        <p:nvSpPr>
          <p:cNvPr id="17" name="Milestone header 3"/>
          <p:cNvSpPr txBox="1"/>
          <p:nvPr/>
        </p:nvSpPr>
        <p:spPr>
          <a:xfrm>
            <a:off x="6483096" y="37033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Final presentation</a:t>
            </a:r>
            <a:endParaRPr lang="en-US" sz="1800" dirty="0"/>
          </a:p>
        </p:txBody>
      </p:sp>
      <p:sp>
        <p:nvSpPr>
          <p:cNvPr id="18" name="Milestone text 3"/>
          <p:cNvSpPr txBox="1"/>
          <p:nvPr/>
        </p:nvSpPr>
        <p:spPr>
          <a:xfrm>
            <a:off x="6483096" y="4160520"/>
            <a:ext cx="2011680" cy="1371600"/>
          </a:xfrm>
          <a:prstGeom prst="rect">
            <a:avLst/>
          </a:prstGeom>
          <a:noFill/>
          <a:ln/>
        </p:spPr>
        <p:txBody>
          <a:bodyPr wrap="square" lIns="0" tIns="0" rIns="0" bIns="0" rtlCol="0" anchor="t"/>
          <a:lstStyle/>
          <a:p>
            <a:pPr indent="0" marL="0">
              <a:buNone/>
            </a:pPr>
            <a:r>
              <a:rPr lang="en-US" sz="1400" dirty="0">
                <a:solidFill>
                  <a:schemeClr val="tx1"/>
                </a:solidFill>
              </a:rPr>
              <a:t>All four models tuned and compared, demo working.</a:t>
            </a:r>
            <a:endParaRPr lang="en-US" sz="1400" dirty="0"/>
          </a:p>
        </p:txBody>
      </p:sp>
      <p:sp>
        <p:nvSpPr>
          <p:cNvPr id="19" name="Milestone date 4"/>
          <p:cNvSpPr txBox="1"/>
          <p:nvPr/>
        </p:nvSpPr>
        <p:spPr>
          <a:xfrm>
            <a:off x="9061704" y="1920240"/>
            <a:ext cx="2468880" cy="457200"/>
          </a:xfrm>
          <a:prstGeom prst="rect">
            <a:avLst/>
          </a:prstGeom>
          <a:noFill/>
          <a:ln/>
        </p:spPr>
        <p:txBody>
          <a:bodyPr wrap="square" lIns="0" tIns="0" rIns="0" bIns="0" rtlCol="0" anchor="t"/>
          <a:lstStyle/>
          <a:p>
            <a:pPr algn="ctr" indent="0" marL="0">
              <a:buNone/>
            </a:pPr>
            <a:r>
              <a:rPr lang="en-US" sz="2200" b="1" dirty="0">
                <a:solidFill>
                  <a:schemeClr val="accent1"/>
                </a:solidFill>
              </a:rPr>
              <a:t>Dec 6</a:t>
            </a:r>
            <a:endParaRPr lang="en-US" sz="2200" dirty="0"/>
          </a:p>
        </p:txBody>
      </p:sp>
      <p:sp>
        <p:nvSpPr>
          <p:cNvPr id="20" name="Milestone dot 4"/>
          <p:cNvSpPr/>
          <p:nvPr/>
        </p:nvSpPr>
        <p:spPr>
          <a:xfrm>
            <a:off x="10067544" y="2651760"/>
            <a:ext cx="457200" cy="457200"/>
          </a:xfrm>
          <a:prstGeom prst="ellipse">
            <a:avLst/>
          </a:prstGeom>
          <a:solidFill>
            <a:schemeClr val="accent1"/>
          </a:solidFill>
          <a:ln w="38100">
            <a:solidFill>
              <a:schemeClr val="bg1"/>
            </a:solidFill>
            <a:prstDash val="solid"/>
          </a:ln>
        </p:spPr>
      </p:sp>
      <p:sp>
        <p:nvSpPr>
          <p:cNvPr id="21" name="Milestone card 4"/>
          <p:cNvSpPr/>
          <p:nvPr/>
        </p:nvSpPr>
        <p:spPr>
          <a:xfrm>
            <a:off x="9061704" y="3474720"/>
            <a:ext cx="2468880" cy="1828800"/>
          </a:xfrm>
          <a:prstGeom prst="roundRect">
            <a:avLst>
              <a:gd name="adj" fmla="val 6000"/>
            </a:avLst>
          </a:prstGeom>
          <a:solidFill>
            <a:schemeClr val="bg2"/>
          </a:solidFill>
          <a:ln w="12700">
            <a:solidFill>
              <a:schemeClr val="bg2"/>
            </a:solidFill>
            <a:prstDash val="solid"/>
          </a:ln>
        </p:spPr>
      </p:sp>
      <p:sp>
        <p:nvSpPr>
          <p:cNvPr id="22" name="Milestone header 4"/>
          <p:cNvSpPr txBox="1"/>
          <p:nvPr/>
        </p:nvSpPr>
        <p:spPr>
          <a:xfrm>
            <a:off x="9290304" y="37033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Final report</a:t>
            </a:r>
            <a:endParaRPr lang="en-US" sz="1800" dirty="0"/>
          </a:p>
        </p:txBody>
      </p:sp>
      <p:sp>
        <p:nvSpPr>
          <p:cNvPr id="23" name="Milestone text 4"/>
          <p:cNvSpPr txBox="1"/>
          <p:nvPr/>
        </p:nvSpPr>
        <p:spPr>
          <a:xfrm>
            <a:off x="9290304" y="4160520"/>
            <a:ext cx="2011680" cy="1371600"/>
          </a:xfrm>
          <a:prstGeom prst="rect">
            <a:avLst/>
          </a:prstGeom>
          <a:noFill/>
          <a:ln/>
        </p:spPr>
        <p:txBody>
          <a:bodyPr wrap="square" lIns="0" tIns="0" rIns="0" bIns="0" rtlCol="0" anchor="t"/>
          <a:lstStyle/>
          <a:p>
            <a:pPr indent="0" marL="0">
              <a:buNone/>
            </a:pPr>
            <a:r>
              <a:rPr lang="en-US" sz="1400" dirty="0">
                <a:solidFill>
                  <a:schemeClr val="tx1"/>
                </a:solidFill>
              </a:rPr>
              <a:t>Write-up submitted and code on GitHub.</a:t>
            </a:r>
            <a:endParaRPr lang="en-US" sz="14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Fraud Signal">
  <a:themeElements>
    <a:clrScheme name="Fraud Signal">
      <a:dk1>
        <a:srgbClr val="17252A"/>
      </a:dk1>
      <a:lt1>
        <a:srgbClr val="FFFFFF"/>
      </a:lt1>
      <a:dk2>
        <a:srgbClr val="2B7A78"/>
      </a:dk2>
      <a:lt2>
        <a:srgbClr val="E3F4F2"/>
      </a:lt2>
      <a:accent1>
        <a:srgbClr val="2B7A78"/>
      </a:accent1>
      <a:accent2>
        <a:srgbClr val="E4572E"/>
      </a:accent2>
      <a:accent3>
        <a:srgbClr val="F2B134"/>
      </a:accent3>
      <a:accent4>
        <a:srgbClr val="3AAFA9"/>
      </a:accent4>
      <a:accent5>
        <a:srgbClr val="5C6B73"/>
      </a:accent5>
      <a:accent6>
        <a:srgbClr val="9BC1BC"/>
      </a:accent6>
      <a:hlink>
        <a:srgbClr val="2B7A78"/>
      </a:hlink>
      <a:folHlink>
        <a:srgbClr val="5C6B73"/>
      </a:folHlink>
    </a:clrScheme>
    <a:fontScheme name="Fraud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 ML Project Proposal</dc:title>
  <dc:subject>PptxGenJS Presentation</dc:subject>
  <dc:creator>PptxGenJS</dc:creator>
  <cp:lastModifiedBy>PptxGenJS</cp:lastModifiedBy>
  <cp:revision>1</cp:revision>
  <dcterms:created xsi:type="dcterms:W3CDTF">2026-10-21T03:47:13Z</dcterms:created>
  <dcterms:modified xsi:type="dcterms:W3CDTF">2026-10-21T03:47:13Z</dcterms:modified>
</cp:coreProperties>
</file>