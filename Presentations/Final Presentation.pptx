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posal" id="{e00d3691-fd3b-e03f-0ff6-f582e56dc6f7}">
          <p14:sldIdLst>
            <p14:sldId id="256"/>
            <p14:sldId id="257"/>
            <p14:sldId id="258"/>
            <p14:sldId id="259"/>
            <p14:sldId id="260"/>
            <p14:sldId id="261"/>
            <p14:sldId id="262"/>
            <p14:sldId id="263"/>
            <p14:sldId id="264"/>
            <p14:sldId id="265"/>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Variance explained</c:v>
                </c:pt>
              </c:strCache>
            </c:strRef>
          </c:tx>
          <c:spPr>
            <a:solidFill>
              <a:srgbClr val="2B7A7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PC1</c:v>
                  </c:pt>
                  <c:pt idx="1">
                    <c:v>PC2</c:v>
                  </c:pt>
                  <c:pt idx="2">
                    <c:v>PC3</c:v>
                  </c:pt>
                  <c:pt idx="3">
                    <c:v>PC4</c:v>
                  </c:pt>
                  <c:pt idx="4">
                    <c:v>PC5</c:v>
                  </c:pt>
                  <c:pt idx="5">
                    <c:v>PC6</c:v>
                  </c:pt>
                  <c:pt idx="6">
                    <c:v>PC7</c:v>
                  </c:pt>
                  <c:pt idx="7">
                    <c:v>PC8</c:v>
                  </c:pt>
                  <c:pt idx="8">
                    <c:v>PC9</c:v>
                  </c:pt>
                  <c:pt idx="9">
                    <c:v>PC10</c:v>
                  </c:pt>
                  <c:pt idx="10">
                    <c:v>PC11</c:v>
                  </c:pt>
                  <c:pt idx="11">
                    <c:v>PC12</c:v>
                  </c:pt>
                </c:lvl>
              </c:multiLvlStrCache>
            </c:multiLvlStrRef>
          </c:cat>
          <c:val>
            <c:numRef>
              <c:f>Sheet1!$B$2:$B$13</c:f>
              <c:numCache>
                <c:formatCode>General</c:formatCode>
                <c:ptCount val="12"/>
                <c:pt idx="0">
                  <c:v>0.0865</c:v>
                </c:pt>
                <c:pt idx="1">
                  <c:v>0.0839</c:v>
                </c:pt>
                <c:pt idx="2">
                  <c:v>0.0619</c:v>
                </c:pt>
                <c:pt idx="3">
                  <c:v>0.0506</c:v>
                </c:pt>
                <c:pt idx="4">
                  <c:v>0.0439</c:v>
                </c:pt>
                <c:pt idx="5">
                  <c:v>0.0407</c:v>
                </c:pt>
                <c:pt idx="6">
                  <c:v>0.0375</c:v>
                </c:pt>
                <c:pt idx="7">
                  <c:v>0.0364</c:v>
                </c:pt>
                <c:pt idx="8">
                  <c:v>0.0359</c:v>
                </c:pt>
                <c:pt idx="9">
                  <c:v>0.0355</c:v>
                </c:pt>
                <c:pt idx="10">
                  <c:v>0.0353</c:v>
                </c:pt>
                <c:pt idx="11">
                  <c:v>0.0352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Original features</c:v>
                </c:pt>
              </c:strCache>
            </c:strRef>
          </c:tx>
          <c:spPr>
            <a:solidFill>
              <a:srgbClr val="2B7A78"/>
            </a:solidFill>
            <a:effectLst/>
          </c:spPr>
          <c:invertIfNegative val="0"/>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Logistic regression</c:v>
                  </c:pt>
                  <c:pt idx="1">
                    <c:v>Decision tree</c:v>
                  </c:pt>
                  <c:pt idx="2">
                    <c:v>Random forest</c:v>
                  </c:pt>
                  <c:pt idx="3">
                    <c:v>Gradient boosting</c:v>
                  </c:pt>
                </c:lvl>
              </c:multiLvlStrCache>
            </c:multiLvlStrRef>
          </c:cat>
          <c:val>
            <c:numRef>
              <c:f>Sheet1!$B$2:$B$5</c:f>
              <c:numCache>
                <c:formatCode>General</c:formatCode>
                <c:ptCount val="4"/>
                <c:pt idx="0">
                  <c:v>0.006</c:v>
                </c:pt>
                <c:pt idx="1">
                  <c:v>0.689</c:v>
                </c:pt>
                <c:pt idx="2">
                  <c:v>0.764</c:v>
                </c:pt>
                <c:pt idx="3">
                  <c:v>0.66</c:v>
                </c:pt>
              </c:numCache>
            </c:numRef>
          </c:val>
        </c:ser>
        <c:ser>
          <c:idx val="1"/>
          <c:order val="1"/>
          <c:tx>
            <c:strRef>
              <c:f>Sheet1!$C$1</c:f>
              <c:strCache>
                <c:ptCount val="1"/>
                <c:pt idx="0">
                  <c:v>PCA on continuous features</c:v>
                </c:pt>
              </c:strCache>
            </c:strRef>
          </c:tx>
          <c:spPr>
            <a:solidFill>
              <a:srgbClr val="F2B134"/>
            </a:solidFill>
            <a:effectLst/>
          </c:spPr>
          <c:invertIfNegative val="0"/>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Logistic regression</c:v>
                  </c:pt>
                  <c:pt idx="1">
                    <c:v>Decision tree</c:v>
                  </c:pt>
                  <c:pt idx="2">
                    <c:v>Random forest</c:v>
                  </c:pt>
                  <c:pt idx="3">
                    <c:v>Gradient boosting</c:v>
                  </c:pt>
                </c:lvl>
              </c:multiLvlStrCache>
            </c:multiLvlStrRef>
          </c:cat>
          <c:val>
            <c:numRef>
              <c:f>Sheet1!$C$2:$C$5</c:f>
              <c:numCache>
                <c:formatCode>General</c:formatCode>
                <c:ptCount val="4"/>
                <c:pt idx="0">
                  <c:v>0.004</c:v>
                </c:pt>
                <c:pt idx="1">
                  <c:v>0.641</c:v>
                </c:pt>
                <c:pt idx="2">
                  <c:v>0.7</c:v>
                </c:pt>
                <c:pt idx="3">
                  <c:v>0.506</c:v>
                </c:pt>
              </c:numCache>
            </c:numRef>
          </c:val>
        </c:ser>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Test PR-AUC</c:v>
                </c:pt>
              </c:strCache>
            </c:strRef>
          </c:tx>
          <c:spPr>
            <a:solidFill>
              <a:srgbClr val="2B7A78"/>
            </a:solidFill>
            <a:effectLst/>
          </c:spPr>
          <c:invertIfNegative val="0"/>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Logistic reg.</c:v>
                  </c:pt>
                  <c:pt idx="1">
                    <c:v>Decision tree</c:v>
                  </c:pt>
                  <c:pt idx="2">
                    <c:v>Random forest</c:v>
                  </c:pt>
                  <c:pt idx="3">
                    <c:v>Gradient boosting</c:v>
                  </c:pt>
                </c:lvl>
              </c:multiLvlStrCache>
            </c:multiLvlStrRef>
          </c:cat>
          <c:val>
            <c:numRef>
              <c:f>Sheet1!$B$2:$B$5</c:f>
              <c:numCache>
                <c:formatCode>General</c:formatCode>
                <c:ptCount val="4"/>
                <c:pt idx="0">
                  <c:v>0.006</c:v>
                </c:pt>
                <c:pt idx="1">
                  <c:v>0.689</c:v>
                </c:pt>
                <c:pt idx="2">
                  <c:v>0.764</c:v>
                </c:pt>
                <c:pt idx="3">
                  <c:v>0.66</c:v>
                </c:pt>
              </c:numCache>
            </c:numRef>
          </c:val>
        </c:ser>
        <c:ser>
          <c:idx val="1"/>
          <c:order val="1"/>
          <c:tx>
            <c:strRef>
              <c:f>Sheet1!$C$1</c:f>
              <c:strCache>
                <c:ptCount val="1"/>
                <c:pt idx="0">
                  <c:v>Test F1</c:v>
                </c:pt>
              </c:strCache>
            </c:strRef>
          </c:tx>
          <c:spPr>
            <a:solidFill>
              <a:srgbClr val="E4572E"/>
            </a:solidFill>
            <a:effectLst/>
          </c:spPr>
          <c:invertIfNegative val="0"/>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Logistic reg.</c:v>
                  </c:pt>
                  <c:pt idx="1">
                    <c:v>Decision tree</c:v>
                  </c:pt>
                  <c:pt idx="2">
                    <c:v>Random forest</c:v>
                  </c:pt>
                  <c:pt idx="3">
                    <c:v>Gradient boosting</c:v>
                  </c:pt>
                </c:lvl>
              </c:multiLvlStrCache>
            </c:multiLvlStrRef>
          </c:cat>
          <c:val>
            <c:numRef>
              <c:f>Sheet1!$C$2:$C$5</c:f>
              <c:numCache>
                <c:formatCode>General</c:formatCode>
                <c:ptCount val="4"/>
                <c:pt idx="0">
                  <c:v>0.037</c:v>
                </c:pt>
                <c:pt idx="1">
                  <c:v>0.662</c:v>
                </c:pt>
                <c:pt idx="2">
                  <c:v>0.725</c:v>
                </c:pt>
                <c:pt idx="3">
                  <c:v>0.296</c:v>
                </c:pt>
              </c:numCache>
            </c:numRef>
          </c:val>
        </c:ser>
        <c:ser>
          <c:idx val="2"/>
          <c:order val="2"/>
          <c:tx>
            <c:strRef>
              <c:f>Sheet1!$D$1</c:f>
              <c:strCache>
                <c:ptCount val="1"/>
                <c:pt idx="0">
                  <c:v>CV PR-AUC (mean)</c:v>
                </c:pt>
              </c:strCache>
            </c:strRef>
          </c:tx>
          <c:spPr>
            <a:solidFill>
              <a:srgbClr val="5C6B73"/>
            </a:solidFill>
            <a:effectLst/>
          </c:spPr>
          <c:invertIfNegative val="0"/>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Logistic reg.</c:v>
                  </c:pt>
                  <c:pt idx="1">
                    <c:v>Decision tree</c:v>
                  </c:pt>
                  <c:pt idx="2">
                    <c:v>Random forest</c:v>
                  </c:pt>
                  <c:pt idx="3">
                    <c:v>Gradient boosting</c:v>
                  </c:pt>
                </c:lvl>
              </c:multiLvlStrCache>
            </c:multiLvlStrRef>
          </c:cat>
          <c:val>
            <c:numRef>
              <c:f>Sheet1!$D$2:$D$5</c:f>
              <c:numCache>
                <c:formatCode>General</c:formatCode>
                <c:ptCount val="4"/>
                <c:pt idx="0">
                  <c:v>0.128</c:v>
                </c:pt>
                <c:pt idx="1">
                  <c:v>0.479</c:v>
                </c:pt>
                <c:pt idx="2">
                  <c:v>0.735</c:v>
                </c:pt>
                <c:pt idx="3">
                  <c:v>0.556</c:v>
                </c:pt>
              </c:numCache>
            </c:numRef>
          </c:val>
        </c:ser>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Precision</c:v>
                </c:pt>
              </c:strCache>
            </c:strRef>
          </c:tx>
          <c:spPr>
            <a:solidFill>
              <a:srgbClr val="2B7A78"/>
            </a:solidFill>
            <a:ln w="25400" cap="flat">
              <a:solidFill>
                <a:srgbClr val="2B7A78"/>
              </a:solidFill>
              <a:prstDash val="solid"/>
              <a:round/>
            </a:ln>
            <a:effectLst/>
          </c:spPr>
          <c:marker>
            <c:symbol val="none"/>
            <c:size val="6"/>
            <c:spPr>
              <a:solidFill>
                <a:srgbClr val="2B7A78"/>
              </a:solidFill>
              <a:ln w="9525" cap="flat">
                <a:solidFill>
                  <a:srgbClr val="2B7A78"/>
                </a:solidFill>
                <a:prstDash val="solid"/>
                <a:round/>
              </a:ln>
              <a:effectLst/>
            </c:spPr>
          </c:marker>
          <c:xVal>
            <c:numRef>
              <c:f>Sheet1!$A$2:$A$102</c:f>
              <c:numCache>
                <c:formatCode>General</c:formatCode>
                <c:ptCount val="101"/>
                <c:pt idx="0">
                  <c:v>0</c:v>
                </c:pt>
                <c:pt idx="1">
                  <c:v>0.01</c:v>
                </c:pt>
                <c:pt idx="2">
                  <c:v>0.02</c:v>
                </c:pt>
                <c:pt idx="3">
                  <c:v>0.03</c:v>
                </c:pt>
                <c:pt idx="4">
                  <c:v>0.04</c:v>
                </c:pt>
                <c:pt idx="5">
                  <c:v>0.05</c:v>
                </c:pt>
                <c:pt idx="6">
                  <c:v>0.06</c:v>
                </c:pt>
                <c:pt idx="7">
                  <c:v>0.07</c:v>
                </c:pt>
                <c:pt idx="8">
                  <c:v>0.08</c:v>
                </c:pt>
                <c:pt idx="9">
                  <c:v>0.09</c:v>
                </c:pt>
                <c:pt idx="10">
                  <c:v>0.1</c:v>
                </c:pt>
                <c:pt idx="11">
                  <c:v>0.11</c:v>
                </c:pt>
                <c:pt idx="12">
                  <c:v>0.12</c:v>
                </c:pt>
                <c:pt idx="13">
                  <c:v>0.13</c:v>
                </c:pt>
                <c:pt idx="14">
                  <c:v>0.14</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c:v>
                </c:pt>
                <c:pt idx="29">
                  <c:v>0.29</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c:v>
                </c:pt>
                <c:pt idx="56">
                  <c:v>0.56</c:v>
                </c:pt>
                <c:pt idx="57">
                  <c:v>0.57</c:v>
                </c:pt>
                <c:pt idx="58">
                  <c:v>0.58</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numCache>
            </c:numRef>
          </c:xVal>
          <c:yVal>
            <c:numRef>
              <c:f>Sheet1!$B$2:$B$102</c:f>
              <c:numCache>
                <c:formatCode>General</c:formatCode>
                <c:ptCount val="10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0.9925</c:v>
                </c:pt>
                <c:pt idx="18">
                  <c:v>0.9925</c:v>
                </c:pt>
                <c:pt idx="19">
                  <c:v>0.9925</c:v>
                </c:pt>
                <c:pt idx="20">
                  <c:v>0.9925</c:v>
                </c:pt>
                <c:pt idx="21">
                  <c:v>0.9925</c:v>
                </c:pt>
                <c:pt idx="22">
                  <c:v>0.9925</c:v>
                </c:pt>
                <c:pt idx="23">
                  <c:v>0.9925</c:v>
                </c:pt>
                <c:pt idx="24">
                  <c:v>0.9869</c:v>
                </c:pt>
                <c:pt idx="25">
                  <c:v>0.9869</c:v>
                </c:pt>
                <c:pt idx="26">
                  <c:v>0.9869</c:v>
                </c:pt>
                <c:pt idx="27">
                  <c:v>0.9814</c:v>
                </c:pt>
                <c:pt idx="28">
                  <c:v>0.9773</c:v>
                </c:pt>
                <c:pt idx="29">
                  <c:v>0.9773</c:v>
                </c:pt>
                <c:pt idx="30">
                  <c:v>0.9773</c:v>
                </c:pt>
                <c:pt idx="31">
                  <c:v>0.9761</c:v>
                </c:pt>
                <c:pt idx="32">
                  <c:v>0.9761</c:v>
                </c:pt>
                <c:pt idx="33">
                  <c:v>0.9761</c:v>
                </c:pt>
                <c:pt idx="34">
                  <c:v>0.9761</c:v>
                </c:pt>
                <c:pt idx="35">
                  <c:v>0.9761</c:v>
                </c:pt>
                <c:pt idx="36">
                  <c:v>0.9727</c:v>
                </c:pt>
                <c:pt idx="37">
                  <c:v>0.9727</c:v>
                </c:pt>
                <c:pt idx="38">
                  <c:v>0.9708</c:v>
                </c:pt>
                <c:pt idx="39">
                  <c:v>0.9708</c:v>
                </c:pt>
                <c:pt idx="40">
                  <c:v>0.9708</c:v>
                </c:pt>
                <c:pt idx="41">
                  <c:v>0.9691</c:v>
                </c:pt>
                <c:pt idx="42">
                  <c:v>0.9691</c:v>
                </c:pt>
                <c:pt idx="43">
                  <c:v>0.9691</c:v>
                </c:pt>
                <c:pt idx="44">
                  <c:v>0.9655</c:v>
                </c:pt>
                <c:pt idx="45">
                  <c:v>0.9559</c:v>
                </c:pt>
                <c:pt idx="46">
                  <c:v>0.9555</c:v>
                </c:pt>
                <c:pt idx="47">
                  <c:v>0.9555</c:v>
                </c:pt>
                <c:pt idx="48">
                  <c:v>0.9555</c:v>
                </c:pt>
                <c:pt idx="49">
                  <c:v>0.9533</c:v>
                </c:pt>
                <c:pt idx="50">
                  <c:v>0.9533</c:v>
                </c:pt>
                <c:pt idx="51">
                  <c:v>0.9421</c:v>
                </c:pt>
                <c:pt idx="52">
                  <c:v>0.9403</c:v>
                </c:pt>
                <c:pt idx="53">
                  <c:v>0.9329</c:v>
                </c:pt>
                <c:pt idx="54">
                  <c:v>0.9318</c:v>
                </c:pt>
                <c:pt idx="55">
                  <c:v>0.9292</c:v>
                </c:pt>
                <c:pt idx="56">
                  <c:v>0.9222</c:v>
                </c:pt>
                <c:pt idx="57">
                  <c:v>0.9106</c:v>
                </c:pt>
                <c:pt idx="58">
                  <c:v>0.9074</c:v>
                </c:pt>
                <c:pt idx="59">
                  <c:v>0.9062</c:v>
                </c:pt>
                <c:pt idx="60">
                  <c:v>0.8941</c:v>
                </c:pt>
                <c:pt idx="61">
                  <c:v>0.8838</c:v>
                </c:pt>
                <c:pt idx="62">
                  <c:v>0.8768</c:v>
                </c:pt>
                <c:pt idx="63">
                  <c:v>0.8612</c:v>
                </c:pt>
                <c:pt idx="64">
                  <c:v>0.8394</c:v>
                </c:pt>
                <c:pt idx="65">
                  <c:v>0.8216</c:v>
                </c:pt>
                <c:pt idx="66">
                  <c:v>0.8038</c:v>
                </c:pt>
                <c:pt idx="67">
                  <c:v>0.7785</c:v>
                </c:pt>
                <c:pt idx="68">
                  <c:v>0.7613</c:v>
                </c:pt>
                <c:pt idx="69">
                  <c:v>0.7311</c:v>
                </c:pt>
                <c:pt idx="70">
                  <c:v>0.6969</c:v>
                </c:pt>
                <c:pt idx="71">
                  <c:v>0.6881</c:v>
                </c:pt>
                <c:pt idx="72">
                  <c:v>0.6509</c:v>
                </c:pt>
                <c:pt idx="73">
                  <c:v>0.6187</c:v>
                </c:pt>
                <c:pt idx="74">
                  <c:v>0.5883</c:v>
                </c:pt>
                <c:pt idx="75">
                  <c:v>0.5697</c:v>
                </c:pt>
                <c:pt idx="76">
                  <c:v>0.5622</c:v>
                </c:pt>
                <c:pt idx="77">
                  <c:v>0.5069</c:v>
                </c:pt>
                <c:pt idx="78">
                  <c:v>0.4912</c:v>
                </c:pt>
                <c:pt idx="79">
                  <c:v>0.4713</c:v>
                </c:pt>
                <c:pt idx="80">
                  <c:v>0.446</c:v>
                </c:pt>
                <c:pt idx="81">
                  <c:v>0.4234</c:v>
                </c:pt>
                <c:pt idx="82">
                  <c:v>0.3988</c:v>
                </c:pt>
                <c:pt idx="83">
                  <c:v>0.3816</c:v>
                </c:pt>
                <c:pt idx="84">
                  <c:v>0.3645</c:v>
                </c:pt>
                <c:pt idx="85">
                  <c:v>0.3607</c:v>
                </c:pt>
                <c:pt idx="86">
                  <c:v>0.3106</c:v>
                </c:pt>
                <c:pt idx="87">
                  <c:v>0.2929</c:v>
                </c:pt>
                <c:pt idx="88">
                  <c:v>0.2426</c:v>
                </c:pt>
                <c:pt idx="89">
                  <c:v>0.2203</c:v>
                </c:pt>
                <c:pt idx="90">
                  <c:v>0.2083</c:v>
                </c:pt>
                <c:pt idx="91">
                  <c:v>0.171</c:v>
                </c:pt>
                <c:pt idx="92">
                  <c:v>0.1322</c:v>
                </c:pt>
                <c:pt idx="93">
                  <c:v>0.1132</c:v>
                </c:pt>
                <c:pt idx="94">
                  <c:v>0.1064</c:v>
                </c:pt>
                <c:pt idx="95">
                  <c:v>0.0762</c:v>
                </c:pt>
                <c:pt idx="96">
                  <c:v>0.0562</c:v>
                </c:pt>
                <c:pt idx="97">
                  <c:v>0.0417</c:v>
                </c:pt>
                <c:pt idx="98">
                  <c:v>0.0213</c:v>
                </c:pt>
                <c:pt idx="99">
                  <c:v>0.0119</c:v>
                </c:pt>
                <c:pt idx="100">
                  <c:v>0.0054</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
          <c:min val="0"/>
        </c:scaling>
        <c:delete val="0"/>
        <c:axPos val="b"/>
        <c:majorGridlines>
          <c:spPr>
            <a:ln w="12700" cap="flat">
              <a:solidFill>
                <a:srgbClr val="D9D9D9"/>
              </a:solidFill>
              <a:prstDash val="solid"/>
              <a:round/>
            </a:ln>
          </c:spPr>
        </c:majorGridlines>
        <c:title>
          <c:tx>
            <c:rich>
              <a:bodyPr/>
              <a:lstStyle/>
              <a:p>
                <a:pPr>
                  <a:defRPr sz="1200" b="0" i="0" u="none" strike="noStrike">
                    <a:solidFill>
                      <a:srgbClr val="000000"/>
                    </a:solidFill>
                    <a:latin typeface="Arial"/>
                  </a:defRPr>
                </a:pPr>
                <a:r>
                  <a:rPr sz="1200" b="0" i="0" u="none" strike="noStrike">
                    <a:solidFill>
                      <a:srgbClr val="000000"/>
                    </a:solidFill>
                    <a:latin typeface="Arial"/>
                  </a:rPr>
                  <a:t>Recall</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valAx>
      <c:valAx>
        <c:axId val="2094734552"/>
        <c:scaling>
          <c:orientation val="minMax"/>
          <c:max val="1"/>
          <c:min val="0"/>
        </c:scaling>
        <c:delete val="0"/>
        <c:axPos val="l"/>
        <c:majorGridlines>
          <c:spPr>
            <a:ln w="12700" cap="flat">
              <a:solidFill>
                <a:srgbClr val="D9D9D9"/>
              </a:solidFill>
              <a:prstDash val="solid"/>
              <a:round/>
            </a:ln>
          </c:spPr>
        </c:majorGridlines>
        <c:title>
          <c:tx>
            <c:rich>
              <a:bodyPr/>
              <a:lstStyle/>
              <a:p>
                <a:pPr>
                  <a:defRPr sz="1200" b="0" i="0" u="none" strike="noStrike">
                    <a:solidFill>
                      <a:srgbClr val="000000"/>
                    </a:solidFill>
                    <a:latin typeface="Arial"/>
                  </a:defRPr>
                </a:pPr>
                <a:r>
                  <a:rPr sz="1200" b="0" i="0" u="none" strike="noStrike">
                    <a:solidFill>
                      <a:srgbClr val="000000"/>
                    </a:solidFill>
                    <a:latin typeface="Arial"/>
                  </a:rPr>
                  <a:t>Precision</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Importance</c:v>
                </c:pt>
              </c:strCache>
            </c:strRef>
          </c:tx>
          <c:spPr>
            <a:solidFill>
              <a:srgbClr val="2B7A78"/>
            </a:solidFill>
            <a:effectLst/>
          </c:spPr>
          <c:invertIfNegative val="0"/>
          <c:dLbls>
            <c:numFmt formatCode="0.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Sheet1!$A$2:$A$8</c:f>
              <c:multiLvlStrCache>
                <c:ptCount val="7"/>
                <c:lvl>
                  <c:pt idx="0">
                    <c:v>Amount</c:v>
                  </c:pt>
                  <c:pt idx="1">
                    <c:v>Night hours</c:v>
                  </c:pt>
                  <c:pt idx="2">
                    <c:v>Hour of day</c:v>
                  </c:pt>
                  <c:pt idx="3">
                    <c:v>Amount vs average</c:v>
                  </c:pt>
                  <c:pt idx="4">
                    <c:v>Typical amount</c:v>
                  </c:pt>
                  <c:pt idx="5">
                    <c:v>age</c:v>
                  </c:pt>
                  <c:pt idx="6">
                    <c:v>txn_24h</c:v>
                  </c:pt>
                </c:lvl>
              </c:multiLvlStrCache>
            </c:multiLvlStrRef>
          </c:cat>
          <c:val>
            <c:numRef>
              <c:f>Sheet1!$B$2:$B$8</c:f>
              <c:numCache>
                <c:formatCode>General</c:formatCode>
                <c:ptCount val="7"/>
                <c:pt idx="0">
                  <c:v>0.656</c:v>
                </c:pt>
                <c:pt idx="1">
                  <c:v>0.3</c:v>
                </c:pt>
                <c:pt idx="2">
                  <c:v>0.189</c:v>
                </c:pt>
                <c:pt idx="3">
                  <c:v>0.106</c:v>
                </c:pt>
                <c:pt idx="4">
                  <c:v>0.045</c:v>
                </c:pt>
                <c:pt idx="5">
                  <c:v>0.042</c:v>
                </c:pt>
                <c:pt idx="6">
                  <c:v>0.034</c:v>
                </c:pt>
              </c:numCache>
            </c:numRef>
          </c:val>
        </c:ser>
        <c:dLbls>
          <c:numFmt formatCode="0.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PR-AUC</c:v>
                </c:pt>
              </c:strCache>
            </c:strRef>
          </c:tx>
          <c:spPr>
            <a:solidFill>
              <a:srgbClr val="2B7A78"/>
            </a:solidFill>
            <a:effectLst/>
          </c:spPr>
          <c:invertIfNegative val="0"/>
          <c:dLbls>
            <c:numFmt formatCode="0.00" sourceLinked="0"/>
            <c:txPr>
              <a:bodyPr/>
              <a:lstStyle/>
              <a:p>
                <a:pPr>
                  <a:defRPr b="0" i="0" strike="noStrike" sz="13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A: base</c:v>
                  </c:pt>
                  <c:pt idx="1">
                    <c:v>B: + distance</c:v>
                  </c:pt>
                  <c:pt idx="2">
                    <c:v>C: + history</c:v>
                  </c:pt>
                  <c:pt idx="3">
                    <c:v>D: all</c:v>
                  </c:pt>
                  <c:pt idx="4">
                    <c:v>E: no distance</c:v>
                  </c:pt>
                </c:lvl>
              </c:multiLvlStrCache>
            </c:multiLvlStrRef>
          </c:cat>
          <c:val>
            <c:numRef>
              <c:f>Sheet1!$B$2:$B$6</c:f>
              <c:numCache>
                <c:formatCode>General</c:formatCode>
                <c:ptCount val="5"/>
                <c:pt idx="0">
                  <c:v>0.574</c:v>
                </c:pt>
                <c:pt idx="1">
                  <c:v>0.524</c:v>
                </c:pt>
                <c:pt idx="2">
                  <c:v>0.766</c:v>
                </c:pt>
                <c:pt idx="3">
                  <c:v>0.764</c:v>
                </c:pt>
                <c:pt idx="4">
                  <c:v>0.765</c:v>
                </c:pt>
              </c:numCache>
            </c:numRef>
          </c:val>
        </c:ser>
        <c:dLbls>
          <c:numFmt formatCode="0.00" sourceLinked="0"/>
          <c:txPr>
            <a:bodyPr/>
            <a:lstStyle/>
            <a:p>
              <a:pPr>
                <a:defRPr b="0" i="0" strike="noStrike" sz="13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JOSH: Hello everyone, I'm Josh, and this is Logan. This is our final presentation on detecting credit card fraud with machine learning. We'll cover our data and features, dimensionality reduction with PCA and t-SNE, time-aware cross-validation, the final results, and a live demo of a scoring app we built. Logan will begin by recalling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LOGAN: Thanks, Josh. Our goal is to flag fraudulent credit card transactions from the amount, category, time, and a customer's own history. The challenge is that fraud is rare: 1.2% of our 822,484 simulated transactions, or roughly one in a hundred, as in this picture. A model therefore has to find a few needles in a large haystack, and plain accuracy would be misleading. Josh will describe the data and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JOSH: We generated 822,484 transactions for 999 customers across 2025 with the public Sparkov tool, so no private data is involved. From the raw columns we built 31 model inputs in four groups: base details, time, distance from home, and customer history. The history features, such as the amount compared with a customer's average, use only that customer's earlier purchases, so nothing leaks from the future. Logan will show how we reduced the dimensionality of these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LOGAN: Our 31 inputs overlap a lot, so we applied principal component analysis, or PCA, which rotates the data into new directions ordered by how much variation they carry. It takes 25 of the 31 components to keep 95 percent of the variance, and the first two keep 17 percent. The first component mostly reflects recent activity, such as purchases in the last day, and the second mostly reflects amount. In the two-dimensional view, fraud overlaps normal activity heavily, so no simple projection separates it. Josh will show a nonlinear view and what happens when models use the reduced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JOSH: To look for structure that PCA can't show, we used t-SNE, a nonlinear method, on a balanced sample of 3,000 fraud and 3,000 normal transactions. Fraud forms local clusters: on average 84 percent of a fraud point's ten nearest neighbors are also fraud. We then trained the models on reduced inputs. Applying PCA to only the 13 continuous features keeps most of the performance, with the random forest at 0.70 versus 0.76. Applying PCA to all 31 features collapses it to 0.00, because the fraud signal sits in flags and categories that the rotation scrambles. We did not test that explanation separately. Logan will explain how we validated the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LOGAN: We used time-aware cross-validation. The January to November development period is cut into six chunks, and in each of five folds the models train on the earlier chunks and validate on the next one, so they never see the future. We picked each model's settings by average PR-AUC across the folds, and chose its decision threshold from the pooled validation predictions. Then each model was refit on the whole development period and tested once on December. All four models optimize cross-entropy: logistic regression and gradient boosting minimize log loss directly, and the tree and forest split on entropy. The folds also show how unstable some models are: the random forest averages 0.73 with a spread of 0.10, while gradient boosting's spread is 0.19. Josh will compare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JOSH: Here are all four models on the test month, next to their cross-validated scores. The random forest is best on both: a test PR-AUC of 0.76, an F1 of 0.72, and a cross-validated PR-AUC of 0.73 with a spread of 0.10. The decision tree reaches 0.69, and gradient boosting 0.66, although its F1 is only 0.30 because the threshold chosen in cross-validation was too strict for the refit model, so PR-AUC is the fairer comparison. Logistic regression fails, with a PR-AUC of 0.006, because fraud depends on combinations of features that a straight-line model cannot express. Logan will look closer at the best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LOGAN: On the test month, the random forest caught 373 of 571 fraud cases and raised 85 false alarms among about 122,802 normal transactions. That's a precision of 0.81 and recall of 0.65 at a threshold of 0.88. The threshold matters a lot: at the default of 0.5, its F1 would drop to 0.36. The curve shows the trade-off between catching more fraud and raising more false alarms. Josh will explain what drives these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JOSH: This chart shows which features the random forest relies on most, measured by how much performance drops when we shuffle each one. Amount is the clear leader, followed by the night flag and the hour of day. Amount compared to the customer's own average also ranks high, which is one of our history features. Distance from home does not appear, which matches what we saw in the data. Logan will test whether the feature groups really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LOGAN: We tested this with an ablation, retraining the random forest on different feature groups and scoring each on the test month. A base model with amount, time, and category scores a PR-AUC of 0.57. Adding the history features lifts it to 0.77, a large gain. Adding distance does not help: 0.52. Removing distance and speed from the full set changes nothing meaningful, 0.76 versus 0.76. So the history features earned their place, while distance did not in this data. Josh will show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JOSH: We built a small web app that scores a transaction with all four models. A coffee near home scores 12 out of 100 and looks normal. An 890 dollar online purchase at two thirty in the morning scores 98 and is flagged as likely fraud, driven mostly by amount and time of day. A large evening purchase near home scores 69, which the app labels worth a look. The app also shows what moved each score. I will now run it live. Logan will cover the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LOGAN: We want to be clear about the limits and lessons. The data is simulated, so results may not transfer to real spending. Distance from home carried no signal in this generator. Fraud also drifts over time: 1.3% of January to November transactions were fraud, but only 0.5% in the test month, and cross-validation scores varied across folds. The main lessons were that accuracy is a trap, that thresholds do not always transfer, and that features must use only the past. Josh will summarize the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JOSH: We have three main findings. First, the random forest was our best model, with a test F1 of 0.72, a test PR-AUC of 0.76, and the most stable cross-validation scores. Second, customer-history features mattered most, lifting PR-AUC from 0.57 to 0.77. Third, dimensionality reduction helped us understand the data but not the models: PCA on the continuous features kept most of the performance, and PCA on everything did not. Distance from home, our original idea, did not help in this simulated data. For future work we would try real data with permission, cost-based thresholds, and generator settings where travel matters. Logan will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LOGAN: Thanks, Josh. To recap who did what: Josh built the logistic regression and decision tree, the feature pipeline, and the ablation. I built the random forest and gradient boosting and handled tuning and thresholds. We built the demo, the decks, and the report together, and all the code is in our GitHub repository. Thank you, and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45920"/>
            <a:ext cx="7498080" cy="23774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4297680"/>
            <a:ext cx="74980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9144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640080" y="635508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Credit Card Fraud Detection  |  ML Project Final Presentation</a:t>
            </a:r>
            <a:endParaRPr lang="en-US" sz="1000" dirty="0"/>
          </a:p>
        </p:txBody>
      </p:sp>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8-1.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image" Target="../media/image-10-1.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645920"/>
            <a:ext cx="7498080" cy="2377440"/>
          </a:xfrm>
          <a:prstGeom prst="rect">
            <a:avLst/>
          </a:prstGeom>
          <a:noFill/>
          <a:ln/>
        </p:spPr>
        <p:txBody>
          <a:bodyPr wrap="square" lIns="0" tIns="0" rIns="0" bIns="0" rtlCol="0" anchor="b"/>
          <a:lstStyle/>
          <a:p>
            <a:pPr algn="l" indent="0" marL="0">
              <a:buNone/>
            </a:pPr>
            <a:r>
              <a:rPr lang="en-US" sz="4800" b="1" dirty="0">
                <a:solidFill>
                  <a:schemeClr val="bg1"/>
                </a:solidFill>
              </a:rPr>
              <a:t>Fraud Detection: Final Results</a:t>
            </a:r>
            <a:endParaRPr lang="en-US" sz="4800" dirty="0"/>
          </a:p>
        </p:txBody>
      </p:sp>
      <p:sp>
        <p:nvSpPr>
          <p:cNvPr id="3" name="Text 0"/>
          <p:cNvSpPr/>
          <p:nvPr>
            <p:ph idx="101" type="body" hasCustomPrompt="1"/>
          </p:nvPr>
        </p:nvSpPr>
        <p:spPr>
          <a:xfrm>
            <a:off x="731520" y="4297680"/>
            <a:ext cx="7498080" cy="914400"/>
          </a:xfrm>
          <a:prstGeom prst="rect">
            <a:avLst/>
          </a:prstGeom>
          <a:noFill/>
          <a:ln/>
        </p:spPr>
        <p:txBody>
          <a:bodyPr wrap="square" lIns="0" tIns="0" rIns="0" bIns="0" rtlCol="0" anchor="t"/>
          <a:lstStyle/>
          <a:p>
            <a:pPr indent="0" marL="0">
              <a:buNone/>
            </a:pPr>
            <a:r>
              <a:rPr lang="en-US" sz="2000" dirty="0">
                <a:solidFill>
                  <a:schemeClr val="bg2"/>
                </a:solidFill>
              </a:rPr>
              <a:t>Machine Learning Project</a:t>
            </a:r>
            <a:endParaRPr lang="en-US" sz="2000" dirty="0"/>
          </a:p>
          <a:p>
            <a:pPr indent="0" marL="0">
              <a:buNone/>
            </a:pPr>
            <a:r>
              <a:rPr lang="en-US" sz="2000" dirty="0">
                <a:solidFill>
                  <a:schemeClr val="bg2"/>
                </a:solidFill>
              </a:rPr>
              <a:t>Joshua Francis and Logan Digilormo</a:t>
            </a:r>
            <a:endParaRPr lang="en-US" sz="2000" dirty="0"/>
          </a:p>
        </p:txBody>
      </p:sp>
      <p:sp>
        <p:nvSpPr>
          <p:cNvPr id="4" name="Decor 0"/>
          <p:cNvSpPr/>
          <p:nvPr/>
        </p:nvSpPr>
        <p:spPr>
          <a:xfrm>
            <a:off x="8229600" y="1371600"/>
            <a:ext cx="2926080" cy="2926080"/>
          </a:xfrm>
          <a:prstGeom prst="ellipse">
            <a:avLst/>
          </a:prstGeom>
          <a:solidFill>
            <a:schemeClr val="accent1">
              <a:alpha val="45000"/>
            </a:schemeClr>
          </a:solidFill>
          <a:ln w="12700">
            <a:solidFill>
              <a:schemeClr val="accent1">
                <a:alpha val="45000"/>
              </a:schemeClr>
            </a:solidFill>
            <a:prstDash val="solid"/>
          </a:ln>
        </p:spPr>
      </p:sp>
      <p:sp>
        <p:nvSpPr>
          <p:cNvPr id="5" name="Decor 1"/>
          <p:cNvSpPr/>
          <p:nvPr/>
        </p:nvSpPr>
        <p:spPr>
          <a:xfrm>
            <a:off x="10241280" y="4114800"/>
            <a:ext cx="1645920" cy="1645920"/>
          </a:xfrm>
          <a:prstGeom prst="ellipse">
            <a:avLst/>
          </a:prstGeom>
          <a:solidFill>
            <a:schemeClr val="accent4">
              <a:alpha val="50000"/>
            </a:schemeClr>
          </a:solidFill>
          <a:ln w="12700">
            <a:solidFill>
              <a:schemeClr val="accent4">
                <a:alpha val="50000"/>
              </a:schemeClr>
            </a:solidFill>
            <a:prstDash val="solid"/>
          </a:ln>
        </p:spPr>
      </p:sp>
      <p:sp>
        <p:nvSpPr>
          <p:cNvPr id="6" name="Decor 2"/>
          <p:cNvSpPr/>
          <p:nvPr/>
        </p:nvSpPr>
        <p:spPr>
          <a:xfrm>
            <a:off x="8503920" y="4754880"/>
            <a:ext cx="1005840" cy="1005840"/>
          </a:xfrm>
          <a:prstGeom prst="ellipse">
            <a:avLst/>
          </a:prstGeom>
          <a:solidFill>
            <a:schemeClr val="accent6">
              <a:alpha val="40000"/>
            </a:schemeClr>
          </a:solidFill>
          <a:ln w="12700">
            <a:solidFill>
              <a:schemeClr val="accent6">
                <a:alpha val="40000"/>
              </a:schemeClr>
            </a:solidFill>
            <a:prstDash val="solid"/>
          </a:ln>
        </p:spPr>
      </p:sp>
      <p:sp>
        <p:nvSpPr>
          <p:cNvPr id="7" name="Decor 3"/>
          <p:cNvSpPr/>
          <p:nvPr/>
        </p:nvSpPr>
        <p:spPr>
          <a:xfrm>
            <a:off x="10607040" y="1554480"/>
            <a:ext cx="640080" cy="640080"/>
          </a:xfrm>
          <a:prstGeom prst="ellipse">
            <a:avLst/>
          </a:prstGeom>
          <a:solidFill>
            <a:schemeClr val="accent6">
              <a:alpha val="60000"/>
            </a:schemeClr>
          </a:solidFill>
          <a:ln w="12700">
            <a:solidFill>
              <a:schemeClr val="accent6">
                <a:alpha val="60000"/>
              </a:schemeClr>
            </a:solidFill>
            <a:prstDash val="solid"/>
          </a:ln>
        </p:spPr>
      </p:sp>
      <p:sp>
        <p:nvSpPr>
          <p:cNvPr id="8" name="Flagged dot"/>
          <p:cNvSpPr/>
          <p:nvPr/>
        </p:nvSpPr>
        <p:spPr>
          <a:xfrm>
            <a:off x="9326880" y="3200400"/>
            <a:ext cx="548640" cy="548640"/>
          </a:xfrm>
          <a:prstGeom prst="ellipse">
            <a:avLst/>
          </a:prstGeom>
          <a:solidFill>
            <a:schemeClr val="accent2"/>
          </a:solidFill>
          <a:ln w="12700">
            <a:solidFill>
              <a:schemeClr val="accent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914400"/>
          </a:xfrm>
          <a:prstGeom prst="rect">
            <a:avLst/>
          </a:prstGeom>
          <a:noFill/>
          <a:ln/>
        </p:spPr>
        <p:txBody>
          <a:bodyPr wrap="square" lIns="0" tIns="0" rIns="0" bIns="0" rtlCol="0" anchor="ctr"/>
          <a:lstStyle/>
          <a:p>
            <a:pPr algn="l" indent="0" marL="0">
              <a:buNone/>
            </a:pPr>
            <a:r>
              <a:rPr lang="en-US" sz="3600" b="1" dirty="0">
                <a:solidFill>
                  <a:schemeClr val="tx1"/>
                </a:solidFill>
              </a:rPr>
              <a:t>The problem and our goal</a:t>
            </a:r>
            <a:endParaRPr lang="en-US" sz="3600" dirty="0"/>
          </a:p>
        </p:txBody>
      </p:sp>
      <p:sp>
        <p:nvSpPr>
          <p:cNvPr id="4" name="Text 1"/>
          <p:cNvSpPr txBox="1"/>
          <p:nvPr/>
        </p:nvSpPr>
        <p:spPr>
          <a:xfrm>
            <a:off x="640080" y="1600200"/>
            <a:ext cx="5852160" cy="365760"/>
          </a:xfrm>
          <a:prstGeom prst="rect">
            <a:avLst/>
          </a:prstGeom>
          <a:noFill/>
          <a:ln/>
        </p:spPr>
        <p:txBody>
          <a:bodyPr wrap="square" lIns="0" tIns="0" rIns="0" bIns="0" rtlCol="0" anchor="t"/>
          <a:lstStyle/>
          <a:p>
            <a:pPr indent="0" marL="0">
              <a:buNone/>
            </a:pPr>
            <a:r>
              <a:rPr lang="en-US" sz="2000" b="1" dirty="0">
                <a:solidFill>
                  <a:schemeClr val="accent1"/>
                </a:solidFill>
              </a:rPr>
              <a:t>Goal</a:t>
            </a:r>
            <a:endParaRPr lang="en-US" sz="2000" dirty="0"/>
          </a:p>
        </p:txBody>
      </p:sp>
      <p:sp>
        <p:nvSpPr>
          <p:cNvPr id="5" name="Text 2"/>
          <p:cNvSpPr txBox="1"/>
          <p:nvPr/>
        </p:nvSpPr>
        <p:spPr>
          <a:xfrm>
            <a:off x="640080" y="2057400"/>
            <a:ext cx="5852160" cy="914400"/>
          </a:xfrm>
          <a:prstGeom prst="rect">
            <a:avLst/>
          </a:prstGeom>
          <a:noFill/>
          <a:ln/>
        </p:spPr>
        <p:txBody>
          <a:bodyPr wrap="square" lIns="0" tIns="0" rIns="0" bIns="0" rtlCol="0" anchor="t"/>
          <a:lstStyle/>
          <a:p>
            <a:pPr indent="0" marL="0">
              <a:buNone/>
            </a:pPr>
            <a:r>
              <a:rPr lang="en-US" sz="1700" dirty="0">
                <a:solidFill>
                  <a:schemeClr val="tx1"/>
                </a:solidFill>
              </a:rPr>
              <a:t>Predict whether a transaction is fraud.</a:t>
            </a:r>
            <a:endParaRPr lang="en-US" sz="1700" dirty="0"/>
          </a:p>
        </p:txBody>
      </p:sp>
      <p:sp>
        <p:nvSpPr>
          <p:cNvPr id="6" name="Text 3"/>
          <p:cNvSpPr txBox="1"/>
          <p:nvPr/>
        </p:nvSpPr>
        <p:spPr>
          <a:xfrm>
            <a:off x="640080" y="3108960"/>
            <a:ext cx="5852160" cy="365760"/>
          </a:xfrm>
          <a:prstGeom prst="rect">
            <a:avLst/>
          </a:prstGeom>
          <a:noFill/>
          <a:ln/>
        </p:spPr>
        <p:txBody>
          <a:bodyPr wrap="square" lIns="0" tIns="0" rIns="0" bIns="0" rtlCol="0" anchor="t"/>
          <a:lstStyle/>
          <a:p>
            <a:pPr indent="0" marL="0">
              <a:buNone/>
            </a:pPr>
            <a:r>
              <a:rPr lang="en-US" sz="2000" b="1" dirty="0">
                <a:solidFill>
                  <a:schemeClr val="accent1"/>
                </a:solidFill>
              </a:rPr>
              <a:t>Challenge</a:t>
            </a:r>
            <a:endParaRPr lang="en-US" sz="2000" dirty="0"/>
          </a:p>
        </p:txBody>
      </p:sp>
      <p:sp>
        <p:nvSpPr>
          <p:cNvPr id="7" name="Text 4"/>
          <p:cNvSpPr txBox="1"/>
          <p:nvPr/>
        </p:nvSpPr>
        <p:spPr>
          <a:xfrm>
            <a:off x="640080" y="3566160"/>
            <a:ext cx="5852160" cy="914400"/>
          </a:xfrm>
          <a:prstGeom prst="rect">
            <a:avLst/>
          </a:prstGeom>
          <a:noFill/>
          <a:ln/>
        </p:spPr>
        <p:txBody>
          <a:bodyPr wrap="square" lIns="0" tIns="0" rIns="0" bIns="0" rtlCol="0" anchor="t"/>
          <a:lstStyle/>
          <a:p>
            <a:pPr indent="0" marL="0">
              <a:buNone/>
            </a:pPr>
            <a:r>
              <a:rPr lang="en-US" sz="1700" dirty="0">
                <a:solidFill>
                  <a:schemeClr val="tx1"/>
                </a:solidFill>
              </a:rPr>
              <a:t>Fraud is only 1.2% of transactions.</a:t>
            </a:r>
            <a:endParaRPr lang="en-US" sz="1700" dirty="0"/>
          </a:p>
        </p:txBody>
      </p:sp>
      <p:sp>
        <p:nvSpPr>
          <p:cNvPr id="8" name="Text 5"/>
          <p:cNvSpPr txBox="1"/>
          <p:nvPr/>
        </p:nvSpPr>
        <p:spPr>
          <a:xfrm>
            <a:off x="640080" y="4617720"/>
            <a:ext cx="5852160" cy="365760"/>
          </a:xfrm>
          <a:prstGeom prst="rect">
            <a:avLst/>
          </a:prstGeom>
          <a:noFill/>
          <a:ln/>
        </p:spPr>
        <p:txBody>
          <a:bodyPr wrap="square" lIns="0" tIns="0" rIns="0" bIns="0" rtlCol="0" anchor="t"/>
          <a:lstStyle/>
          <a:p>
            <a:pPr indent="0" marL="0">
              <a:buNone/>
            </a:pPr>
            <a:r>
              <a:rPr lang="en-US" sz="2000" b="1" dirty="0">
                <a:solidFill>
                  <a:schemeClr val="accent1"/>
                </a:solidFill>
              </a:rPr>
              <a:t>Our yardstick</a:t>
            </a:r>
            <a:endParaRPr lang="en-US" sz="2000" dirty="0"/>
          </a:p>
        </p:txBody>
      </p:sp>
      <p:sp>
        <p:nvSpPr>
          <p:cNvPr id="9" name="Text 6"/>
          <p:cNvSpPr txBox="1"/>
          <p:nvPr/>
        </p:nvSpPr>
        <p:spPr>
          <a:xfrm>
            <a:off x="640080" y="5074920"/>
            <a:ext cx="5852160" cy="914400"/>
          </a:xfrm>
          <a:prstGeom prst="rect">
            <a:avLst/>
          </a:prstGeom>
          <a:noFill/>
          <a:ln/>
        </p:spPr>
        <p:txBody>
          <a:bodyPr wrap="square" lIns="0" tIns="0" rIns="0" bIns="0" rtlCol="0" anchor="t"/>
          <a:lstStyle/>
          <a:p>
            <a:pPr indent="0" marL="0">
              <a:buNone/>
            </a:pPr>
            <a:r>
              <a:rPr lang="en-US" sz="1700" dirty="0">
                <a:solidFill>
                  <a:schemeClr val="tx1"/>
                </a:solidFill>
              </a:rPr>
              <a:t>Precision, recall, F1, and PR-AUC, never accuracy alone.</a:t>
            </a:r>
            <a:endParaRPr lang="en-US" sz="1700" dirty="0"/>
          </a:p>
        </p:txBody>
      </p:sp>
      <p:sp>
        <p:nvSpPr>
          <p:cNvPr id="10" name="Dot 0"/>
          <p:cNvSpPr/>
          <p:nvPr/>
        </p:nvSpPr>
        <p:spPr>
          <a:xfrm>
            <a:off x="7315200" y="1600200"/>
            <a:ext cx="310896" cy="310896"/>
          </a:xfrm>
          <a:prstGeom prst="ellipse">
            <a:avLst/>
          </a:prstGeom>
          <a:solidFill>
            <a:schemeClr val="accent6"/>
          </a:solidFill>
          <a:ln w="12700">
            <a:solidFill>
              <a:schemeClr val="accent6"/>
            </a:solidFill>
            <a:prstDash val="solid"/>
          </a:ln>
        </p:spPr>
      </p:sp>
      <p:sp>
        <p:nvSpPr>
          <p:cNvPr id="11" name="Dot 1"/>
          <p:cNvSpPr/>
          <p:nvPr/>
        </p:nvSpPr>
        <p:spPr>
          <a:xfrm>
            <a:off x="7726680" y="1600200"/>
            <a:ext cx="310896" cy="310896"/>
          </a:xfrm>
          <a:prstGeom prst="ellipse">
            <a:avLst/>
          </a:prstGeom>
          <a:solidFill>
            <a:schemeClr val="accent6"/>
          </a:solidFill>
          <a:ln w="12700">
            <a:solidFill>
              <a:schemeClr val="accent6"/>
            </a:solidFill>
            <a:prstDash val="solid"/>
          </a:ln>
        </p:spPr>
      </p:sp>
      <p:sp>
        <p:nvSpPr>
          <p:cNvPr id="12" name="Dot 2"/>
          <p:cNvSpPr/>
          <p:nvPr/>
        </p:nvSpPr>
        <p:spPr>
          <a:xfrm>
            <a:off x="8138160" y="1600200"/>
            <a:ext cx="310896" cy="310896"/>
          </a:xfrm>
          <a:prstGeom prst="ellipse">
            <a:avLst/>
          </a:prstGeom>
          <a:solidFill>
            <a:schemeClr val="accent6"/>
          </a:solidFill>
          <a:ln w="12700">
            <a:solidFill>
              <a:schemeClr val="accent6"/>
            </a:solidFill>
            <a:prstDash val="solid"/>
          </a:ln>
        </p:spPr>
      </p:sp>
      <p:sp>
        <p:nvSpPr>
          <p:cNvPr id="13" name="Dot 3"/>
          <p:cNvSpPr/>
          <p:nvPr/>
        </p:nvSpPr>
        <p:spPr>
          <a:xfrm>
            <a:off x="8549640" y="1600200"/>
            <a:ext cx="310896" cy="310896"/>
          </a:xfrm>
          <a:prstGeom prst="ellipse">
            <a:avLst/>
          </a:prstGeom>
          <a:solidFill>
            <a:schemeClr val="accent6"/>
          </a:solidFill>
          <a:ln w="12700">
            <a:solidFill>
              <a:schemeClr val="accent6"/>
            </a:solidFill>
            <a:prstDash val="solid"/>
          </a:ln>
        </p:spPr>
      </p:sp>
      <p:sp>
        <p:nvSpPr>
          <p:cNvPr id="14" name="Dot 4"/>
          <p:cNvSpPr/>
          <p:nvPr/>
        </p:nvSpPr>
        <p:spPr>
          <a:xfrm>
            <a:off x="8961120" y="1600200"/>
            <a:ext cx="310896" cy="310896"/>
          </a:xfrm>
          <a:prstGeom prst="ellipse">
            <a:avLst/>
          </a:prstGeom>
          <a:solidFill>
            <a:schemeClr val="accent6"/>
          </a:solidFill>
          <a:ln w="12700">
            <a:solidFill>
              <a:schemeClr val="accent6"/>
            </a:solidFill>
            <a:prstDash val="solid"/>
          </a:ln>
        </p:spPr>
      </p:sp>
      <p:sp>
        <p:nvSpPr>
          <p:cNvPr id="15" name="Dot 5"/>
          <p:cNvSpPr/>
          <p:nvPr/>
        </p:nvSpPr>
        <p:spPr>
          <a:xfrm>
            <a:off x="9372600" y="1600200"/>
            <a:ext cx="310896" cy="310896"/>
          </a:xfrm>
          <a:prstGeom prst="ellipse">
            <a:avLst/>
          </a:prstGeom>
          <a:solidFill>
            <a:schemeClr val="accent6"/>
          </a:solidFill>
          <a:ln w="12700">
            <a:solidFill>
              <a:schemeClr val="accent6"/>
            </a:solidFill>
            <a:prstDash val="solid"/>
          </a:ln>
        </p:spPr>
      </p:sp>
      <p:sp>
        <p:nvSpPr>
          <p:cNvPr id="16" name="Dot 6"/>
          <p:cNvSpPr/>
          <p:nvPr/>
        </p:nvSpPr>
        <p:spPr>
          <a:xfrm>
            <a:off x="9784080" y="1600200"/>
            <a:ext cx="310896" cy="310896"/>
          </a:xfrm>
          <a:prstGeom prst="ellipse">
            <a:avLst/>
          </a:prstGeom>
          <a:solidFill>
            <a:schemeClr val="accent6"/>
          </a:solidFill>
          <a:ln w="12700">
            <a:solidFill>
              <a:schemeClr val="accent6"/>
            </a:solidFill>
            <a:prstDash val="solid"/>
          </a:ln>
        </p:spPr>
      </p:sp>
      <p:sp>
        <p:nvSpPr>
          <p:cNvPr id="17" name="Dot 7"/>
          <p:cNvSpPr/>
          <p:nvPr/>
        </p:nvSpPr>
        <p:spPr>
          <a:xfrm>
            <a:off x="10195560" y="1600200"/>
            <a:ext cx="310896" cy="310896"/>
          </a:xfrm>
          <a:prstGeom prst="ellipse">
            <a:avLst/>
          </a:prstGeom>
          <a:solidFill>
            <a:schemeClr val="accent6"/>
          </a:solidFill>
          <a:ln w="12700">
            <a:solidFill>
              <a:schemeClr val="accent6"/>
            </a:solidFill>
            <a:prstDash val="solid"/>
          </a:ln>
        </p:spPr>
      </p:sp>
      <p:sp>
        <p:nvSpPr>
          <p:cNvPr id="18" name="Dot 8"/>
          <p:cNvSpPr/>
          <p:nvPr/>
        </p:nvSpPr>
        <p:spPr>
          <a:xfrm>
            <a:off x="10607040" y="1600200"/>
            <a:ext cx="310896" cy="310896"/>
          </a:xfrm>
          <a:prstGeom prst="ellipse">
            <a:avLst/>
          </a:prstGeom>
          <a:solidFill>
            <a:schemeClr val="accent6"/>
          </a:solidFill>
          <a:ln w="12700">
            <a:solidFill>
              <a:schemeClr val="accent6"/>
            </a:solidFill>
            <a:prstDash val="solid"/>
          </a:ln>
        </p:spPr>
      </p:sp>
      <p:sp>
        <p:nvSpPr>
          <p:cNvPr id="19" name="Dot 9"/>
          <p:cNvSpPr/>
          <p:nvPr/>
        </p:nvSpPr>
        <p:spPr>
          <a:xfrm>
            <a:off x="11018520" y="1600200"/>
            <a:ext cx="310896" cy="310896"/>
          </a:xfrm>
          <a:prstGeom prst="ellipse">
            <a:avLst/>
          </a:prstGeom>
          <a:solidFill>
            <a:schemeClr val="accent6"/>
          </a:solidFill>
          <a:ln w="12700">
            <a:solidFill>
              <a:schemeClr val="accent6"/>
            </a:solidFill>
            <a:prstDash val="solid"/>
          </a:ln>
        </p:spPr>
      </p:sp>
      <p:sp>
        <p:nvSpPr>
          <p:cNvPr id="20" name="Dot 10"/>
          <p:cNvSpPr/>
          <p:nvPr/>
        </p:nvSpPr>
        <p:spPr>
          <a:xfrm>
            <a:off x="7315200" y="2011680"/>
            <a:ext cx="310896" cy="310896"/>
          </a:xfrm>
          <a:prstGeom prst="ellipse">
            <a:avLst/>
          </a:prstGeom>
          <a:solidFill>
            <a:schemeClr val="accent6"/>
          </a:solidFill>
          <a:ln w="12700">
            <a:solidFill>
              <a:schemeClr val="accent6"/>
            </a:solidFill>
            <a:prstDash val="solid"/>
          </a:ln>
        </p:spPr>
      </p:sp>
      <p:sp>
        <p:nvSpPr>
          <p:cNvPr id="21" name="Dot 11"/>
          <p:cNvSpPr/>
          <p:nvPr/>
        </p:nvSpPr>
        <p:spPr>
          <a:xfrm>
            <a:off x="7726680" y="2011680"/>
            <a:ext cx="310896" cy="310896"/>
          </a:xfrm>
          <a:prstGeom prst="ellipse">
            <a:avLst/>
          </a:prstGeom>
          <a:solidFill>
            <a:schemeClr val="accent6"/>
          </a:solidFill>
          <a:ln w="12700">
            <a:solidFill>
              <a:schemeClr val="accent6"/>
            </a:solidFill>
            <a:prstDash val="solid"/>
          </a:ln>
        </p:spPr>
      </p:sp>
      <p:sp>
        <p:nvSpPr>
          <p:cNvPr id="22" name="Dot 12"/>
          <p:cNvSpPr/>
          <p:nvPr/>
        </p:nvSpPr>
        <p:spPr>
          <a:xfrm>
            <a:off x="8138160" y="2011680"/>
            <a:ext cx="310896" cy="310896"/>
          </a:xfrm>
          <a:prstGeom prst="ellipse">
            <a:avLst/>
          </a:prstGeom>
          <a:solidFill>
            <a:schemeClr val="accent6"/>
          </a:solidFill>
          <a:ln w="12700">
            <a:solidFill>
              <a:schemeClr val="accent6"/>
            </a:solidFill>
            <a:prstDash val="solid"/>
          </a:ln>
        </p:spPr>
      </p:sp>
      <p:sp>
        <p:nvSpPr>
          <p:cNvPr id="23" name="Dot 13"/>
          <p:cNvSpPr/>
          <p:nvPr/>
        </p:nvSpPr>
        <p:spPr>
          <a:xfrm>
            <a:off x="8549640" y="2011680"/>
            <a:ext cx="310896" cy="310896"/>
          </a:xfrm>
          <a:prstGeom prst="ellipse">
            <a:avLst/>
          </a:prstGeom>
          <a:solidFill>
            <a:schemeClr val="accent6"/>
          </a:solidFill>
          <a:ln w="12700">
            <a:solidFill>
              <a:schemeClr val="accent6"/>
            </a:solidFill>
            <a:prstDash val="solid"/>
          </a:ln>
        </p:spPr>
      </p:sp>
      <p:sp>
        <p:nvSpPr>
          <p:cNvPr id="24" name="Dot 14"/>
          <p:cNvSpPr/>
          <p:nvPr/>
        </p:nvSpPr>
        <p:spPr>
          <a:xfrm>
            <a:off x="8961120" y="2011680"/>
            <a:ext cx="310896" cy="310896"/>
          </a:xfrm>
          <a:prstGeom prst="ellipse">
            <a:avLst/>
          </a:prstGeom>
          <a:solidFill>
            <a:schemeClr val="accent6"/>
          </a:solidFill>
          <a:ln w="12700">
            <a:solidFill>
              <a:schemeClr val="accent6"/>
            </a:solidFill>
            <a:prstDash val="solid"/>
          </a:ln>
        </p:spPr>
      </p:sp>
      <p:sp>
        <p:nvSpPr>
          <p:cNvPr id="25" name="Dot 15"/>
          <p:cNvSpPr/>
          <p:nvPr/>
        </p:nvSpPr>
        <p:spPr>
          <a:xfrm>
            <a:off x="9372600" y="2011680"/>
            <a:ext cx="310896" cy="310896"/>
          </a:xfrm>
          <a:prstGeom prst="ellipse">
            <a:avLst/>
          </a:prstGeom>
          <a:solidFill>
            <a:schemeClr val="accent6"/>
          </a:solidFill>
          <a:ln w="12700">
            <a:solidFill>
              <a:schemeClr val="accent6"/>
            </a:solidFill>
            <a:prstDash val="solid"/>
          </a:ln>
        </p:spPr>
      </p:sp>
      <p:sp>
        <p:nvSpPr>
          <p:cNvPr id="26" name="Dot 16"/>
          <p:cNvSpPr/>
          <p:nvPr/>
        </p:nvSpPr>
        <p:spPr>
          <a:xfrm>
            <a:off x="9784080" y="2011680"/>
            <a:ext cx="310896" cy="310896"/>
          </a:xfrm>
          <a:prstGeom prst="ellipse">
            <a:avLst/>
          </a:prstGeom>
          <a:solidFill>
            <a:schemeClr val="accent6"/>
          </a:solidFill>
          <a:ln w="12700">
            <a:solidFill>
              <a:schemeClr val="accent6"/>
            </a:solidFill>
            <a:prstDash val="solid"/>
          </a:ln>
        </p:spPr>
      </p:sp>
      <p:sp>
        <p:nvSpPr>
          <p:cNvPr id="27" name="Dot 17"/>
          <p:cNvSpPr/>
          <p:nvPr/>
        </p:nvSpPr>
        <p:spPr>
          <a:xfrm>
            <a:off x="10195560" y="2011680"/>
            <a:ext cx="310896" cy="310896"/>
          </a:xfrm>
          <a:prstGeom prst="ellipse">
            <a:avLst/>
          </a:prstGeom>
          <a:solidFill>
            <a:schemeClr val="accent6"/>
          </a:solidFill>
          <a:ln w="12700">
            <a:solidFill>
              <a:schemeClr val="accent6"/>
            </a:solidFill>
            <a:prstDash val="solid"/>
          </a:ln>
        </p:spPr>
      </p:sp>
      <p:sp>
        <p:nvSpPr>
          <p:cNvPr id="28" name="Dot 18"/>
          <p:cNvSpPr/>
          <p:nvPr/>
        </p:nvSpPr>
        <p:spPr>
          <a:xfrm>
            <a:off x="10607040" y="2011680"/>
            <a:ext cx="310896" cy="310896"/>
          </a:xfrm>
          <a:prstGeom prst="ellipse">
            <a:avLst/>
          </a:prstGeom>
          <a:solidFill>
            <a:schemeClr val="accent6"/>
          </a:solidFill>
          <a:ln w="12700">
            <a:solidFill>
              <a:schemeClr val="accent6"/>
            </a:solidFill>
            <a:prstDash val="solid"/>
          </a:ln>
        </p:spPr>
      </p:sp>
      <p:sp>
        <p:nvSpPr>
          <p:cNvPr id="29" name="Dot 19"/>
          <p:cNvSpPr/>
          <p:nvPr/>
        </p:nvSpPr>
        <p:spPr>
          <a:xfrm>
            <a:off x="11018520" y="2011680"/>
            <a:ext cx="310896" cy="310896"/>
          </a:xfrm>
          <a:prstGeom prst="ellipse">
            <a:avLst/>
          </a:prstGeom>
          <a:solidFill>
            <a:schemeClr val="accent6"/>
          </a:solidFill>
          <a:ln w="12700">
            <a:solidFill>
              <a:schemeClr val="accent6"/>
            </a:solidFill>
            <a:prstDash val="solid"/>
          </a:ln>
        </p:spPr>
      </p:sp>
      <p:sp>
        <p:nvSpPr>
          <p:cNvPr id="30" name="Dot 20"/>
          <p:cNvSpPr/>
          <p:nvPr/>
        </p:nvSpPr>
        <p:spPr>
          <a:xfrm>
            <a:off x="7315200" y="2423160"/>
            <a:ext cx="310896" cy="310896"/>
          </a:xfrm>
          <a:prstGeom prst="ellipse">
            <a:avLst/>
          </a:prstGeom>
          <a:solidFill>
            <a:schemeClr val="accent6"/>
          </a:solidFill>
          <a:ln w="12700">
            <a:solidFill>
              <a:schemeClr val="accent6"/>
            </a:solidFill>
            <a:prstDash val="solid"/>
          </a:ln>
        </p:spPr>
      </p:sp>
      <p:sp>
        <p:nvSpPr>
          <p:cNvPr id="31" name="Dot 21"/>
          <p:cNvSpPr/>
          <p:nvPr/>
        </p:nvSpPr>
        <p:spPr>
          <a:xfrm>
            <a:off x="7726680" y="2423160"/>
            <a:ext cx="310896" cy="310896"/>
          </a:xfrm>
          <a:prstGeom prst="ellipse">
            <a:avLst/>
          </a:prstGeom>
          <a:solidFill>
            <a:schemeClr val="accent6"/>
          </a:solidFill>
          <a:ln w="12700">
            <a:solidFill>
              <a:schemeClr val="accent6"/>
            </a:solidFill>
            <a:prstDash val="solid"/>
          </a:ln>
        </p:spPr>
      </p:sp>
      <p:sp>
        <p:nvSpPr>
          <p:cNvPr id="32" name="Dot 22"/>
          <p:cNvSpPr/>
          <p:nvPr/>
        </p:nvSpPr>
        <p:spPr>
          <a:xfrm>
            <a:off x="8138160" y="2423160"/>
            <a:ext cx="310896" cy="310896"/>
          </a:xfrm>
          <a:prstGeom prst="ellipse">
            <a:avLst/>
          </a:prstGeom>
          <a:solidFill>
            <a:schemeClr val="accent6"/>
          </a:solidFill>
          <a:ln w="12700">
            <a:solidFill>
              <a:schemeClr val="accent6"/>
            </a:solidFill>
            <a:prstDash val="solid"/>
          </a:ln>
        </p:spPr>
      </p:sp>
      <p:sp>
        <p:nvSpPr>
          <p:cNvPr id="33" name="Dot 23"/>
          <p:cNvSpPr/>
          <p:nvPr/>
        </p:nvSpPr>
        <p:spPr>
          <a:xfrm>
            <a:off x="8549640" y="2423160"/>
            <a:ext cx="310896" cy="310896"/>
          </a:xfrm>
          <a:prstGeom prst="ellipse">
            <a:avLst/>
          </a:prstGeom>
          <a:solidFill>
            <a:schemeClr val="accent6"/>
          </a:solidFill>
          <a:ln w="12700">
            <a:solidFill>
              <a:schemeClr val="accent6"/>
            </a:solidFill>
            <a:prstDash val="solid"/>
          </a:ln>
        </p:spPr>
      </p:sp>
      <p:sp>
        <p:nvSpPr>
          <p:cNvPr id="34" name="Dot 24"/>
          <p:cNvSpPr/>
          <p:nvPr/>
        </p:nvSpPr>
        <p:spPr>
          <a:xfrm>
            <a:off x="8961120" y="2423160"/>
            <a:ext cx="310896" cy="310896"/>
          </a:xfrm>
          <a:prstGeom prst="ellipse">
            <a:avLst/>
          </a:prstGeom>
          <a:solidFill>
            <a:schemeClr val="accent6"/>
          </a:solidFill>
          <a:ln w="12700">
            <a:solidFill>
              <a:schemeClr val="accent6"/>
            </a:solidFill>
            <a:prstDash val="solid"/>
          </a:ln>
        </p:spPr>
      </p:sp>
      <p:sp>
        <p:nvSpPr>
          <p:cNvPr id="35" name="Dot 25"/>
          <p:cNvSpPr/>
          <p:nvPr/>
        </p:nvSpPr>
        <p:spPr>
          <a:xfrm>
            <a:off x="9372600" y="2423160"/>
            <a:ext cx="310896" cy="310896"/>
          </a:xfrm>
          <a:prstGeom prst="ellipse">
            <a:avLst/>
          </a:prstGeom>
          <a:solidFill>
            <a:schemeClr val="accent6"/>
          </a:solidFill>
          <a:ln w="12700">
            <a:solidFill>
              <a:schemeClr val="accent6"/>
            </a:solidFill>
            <a:prstDash val="solid"/>
          </a:ln>
        </p:spPr>
      </p:sp>
      <p:sp>
        <p:nvSpPr>
          <p:cNvPr id="36" name="Dot 26"/>
          <p:cNvSpPr/>
          <p:nvPr/>
        </p:nvSpPr>
        <p:spPr>
          <a:xfrm>
            <a:off x="9784080" y="2423160"/>
            <a:ext cx="310896" cy="310896"/>
          </a:xfrm>
          <a:prstGeom prst="ellipse">
            <a:avLst/>
          </a:prstGeom>
          <a:solidFill>
            <a:schemeClr val="accent6"/>
          </a:solidFill>
          <a:ln w="12700">
            <a:solidFill>
              <a:schemeClr val="accent6"/>
            </a:solidFill>
            <a:prstDash val="solid"/>
          </a:ln>
        </p:spPr>
      </p:sp>
      <p:sp>
        <p:nvSpPr>
          <p:cNvPr id="37" name="Dot 27"/>
          <p:cNvSpPr/>
          <p:nvPr/>
        </p:nvSpPr>
        <p:spPr>
          <a:xfrm>
            <a:off x="10195560" y="2423160"/>
            <a:ext cx="310896" cy="310896"/>
          </a:xfrm>
          <a:prstGeom prst="ellipse">
            <a:avLst/>
          </a:prstGeom>
          <a:solidFill>
            <a:schemeClr val="accent6"/>
          </a:solidFill>
          <a:ln w="12700">
            <a:solidFill>
              <a:schemeClr val="accent6"/>
            </a:solidFill>
            <a:prstDash val="solid"/>
          </a:ln>
        </p:spPr>
      </p:sp>
      <p:sp>
        <p:nvSpPr>
          <p:cNvPr id="38" name="Dot 28"/>
          <p:cNvSpPr/>
          <p:nvPr/>
        </p:nvSpPr>
        <p:spPr>
          <a:xfrm>
            <a:off x="10607040" y="2423160"/>
            <a:ext cx="310896" cy="310896"/>
          </a:xfrm>
          <a:prstGeom prst="ellipse">
            <a:avLst/>
          </a:prstGeom>
          <a:solidFill>
            <a:schemeClr val="accent6"/>
          </a:solidFill>
          <a:ln w="12700">
            <a:solidFill>
              <a:schemeClr val="accent6"/>
            </a:solidFill>
            <a:prstDash val="solid"/>
          </a:ln>
        </p:spPr>
      </p:sp>
      <p:sp>
        <p:nvSpPr>
          <p:cNvPr id="39" name="Dot 29"/>
          <p:cNvSpPr/>
          <p:nvPr/>
        </p:nvSpPr>
        <p:spPr>
          <a:xfrm>
            <a:off x="11018520" y="2423160"/>
            <a:ext cx="310896" cy="310896"/>
          </a:xfrm>
          <a:prstGeom prst="ellipse">
            <a:avLst/>
          </a:prstGeom>
          <a:solidFill>
            <a:schemeClr val="accent6"/>
          </a:solidFill>
          <a:ln w="12700">
            <a:solidFill>
              <a:schemeClr val="accent6"/>
            </a:solidFill>
            <a:prstDash val="solid"/>
          </a:ln>
        </p:spPr>
      </p:sp>
      <p:sp>
        <p:nvSpPr>
          <p:cNvPr id="40" name="Dot 30"/>
          <p:cNvSpPr/>
          <p:nvPr/>
        </p:nvSpPr>
        <p:spPr>
          <a:xfrm>
            <a:off x="7315200" y="2834640"/>
            <a:ext cx="310896" cy="310896"/>
          </a:xfrm>
          <a:prstGeom prst="ellipse">
            <a:avLst/>
          </a:prstGeom>
          <a:solidFill>
            <a:schemeClr val="accent6"/>
          </a:solidFill>
          <a:ln w="12700">
            <a:solidFill>
              <a:schemeClr val="accent6"/>
            </a:solidFill>
            <a:prstDash val="solid"/>
          </a:ln>
        </p:spPr>
      </p:sp>
      <p:sp>
        <p:nvSpPr>
          <p:cNvPr id="41" name="Dot 31"/>
          <p:cNvSpPr/>
          <p:nvPr/>
        </p:nvSpPr>
        <p:spPr>
          <a:xfrm>
            <a:off x="7726680" y="2834640"/>
            <a:ext cx="310896" cy="310896"/>
          </a:xfrm>
          <a:prstGeom prst="ellipse">
            <a:avLst/>
          </a:prstGeom>
          <a:solidFill>
            <a:schemeClr val="accent6"/>
          </a:solidFill>
          <a:ln w="12700">
            <a:solidFill>
              <a:schemeClr val="accent6"/>
            </a:solidFill>
            <a:prstDash val="solid"/>
          </a:ln>
        </p:spPr>
      </p:sp>
      <p:sp>
        <p:nvSpPr>
          <p:cNvPr id="42" name="Dot 32"/>
          <p:cNvSpPr/>
          <p:nvPr/>
        </p:nvSpPr>
        <p:spPr>
          <a:xfrm>
            <a:off x="8138160" y="2834640"/>
            <a:ext cx="310896" cy="310896"/>
          </a:xfrm>
          <a:prstGeom prst="ellipse">
            <a:avLst/>
          </a:prstGeom>
          <a:solidFill>
            <a:schemeClr val="accent6"/>
          </a:solidFill>
          <a:ln w="12700">
            <a:solidFill>
              <a:schemeClr val="accent6"/>
            </a:solidFill>
            <a:prstDash val="solid"/>
          </a:ln>
        </p:spPr>
      </p:sp>
      <p:sp>
        <p:nvSpPr>
          <p:cNvPr id="43" name="Dot 33"/>
          <p:cNvSpPr/>
          <p:nvPr/>
        </p:nvSpPr>
        <p:spPr>
          <a:xfrm>
            <a:off x="8549640" y="2834640"/>
            <a:ext cx="310896" cy="310896"/>
          </a:xfrm>
          <a:prstGeom prst="ellipse">
            <a:avLst/>
          </a:prstGeom>
          <a:solidFill>
            <a:schemeClr val="accent6"/>
          </a:solidFill>
          <a:ln w="12700">
            <a:solidFill>
              <a:schemeClr val="accent6"/>
            </a:solidFill>
            <a:prstDash val="solid"/>
          </a:ln>
        </p:spPr>
      </p:sp>
      <p:sp>
        <p:nvSpPr>
          <p:cNvPr id="44" name="Dot 34"/>
          <p:cNvSpPr/>
          <p:nvPr/>
        </p:nvSpPr>
        <p:spPr>
          <a:xfrm>
            <a:off x="8961120" y="2834640"/>
            <a:ext cx="310896" cy="310896"/>
          </a:xfrm>
          <a:prstGeom prst="ellipse">
            <a:avLst/>
          </a:prstGeom>
          <a:solidFill>
            <a:schemeClr val="accent6"/>
          </a:solidFill>
          <a:ln w="12700">
            <a:solidFill>
              <a:schemeClr val="accent6"/>
            </a:solidFill>
            <a:prstDash val="solid"/>
          </a:ln>
        </p:spPr>
      </p:sp>
      <p:sp>
        <p:nvSpPr>
          <p:cNvPr id="45" name="Dot 35"/>
          <p:cNvSpPr/>
          <p:nvPr/>
        </p:nvSpPr>
        <p:spPr>
          <a:xfrm>
            <a:off x="9372600" y="2834640"/>
            <a:ext cx="310896" cy="310896"/>
          </a:xfrm>
          <a:prstGeom prst="ellipse">
            <a:avLst/>
          </a:prstGeom>
          <a:solidFill>
            <a:schemeClr val="accent6"/>
          </a:solidFill>
          <a:ln w="12700">
            <a:solidFill>
              <a:schemeClr val="accent6"/>
            </a:solidFill>
            <a:prstDash val="solid"/>
          </a:ln>
        </p:spPr>
      </p:sp>
      <p:sp>
        <p:nvSpPr>
          <p:cNvPr id="46" name="Dot 36"/>
          <p:cNvSpPr/>
          <p:nvPr/>
        </p:nvSpPr>
        <p:spPr>
          <a:xfrm>
            <a:off x="9784080" y="2834640"/>
            <a:ext cx="310896" cy="310896"/>
          </a:xfrm>
          <a:prstGeom prst="ellipse">
            <a:avLst/>
          </a:prstGeom>
          <a:solidFill>
            <a:schemeClr val="accent6"/>
          </a:solidFill>
          <a:ln w="12700">
            <a:solidFill>
              <a:schemeClr val="accent6"/>
            </a:solidFill>
            <a:prstDash val="solid"/>
          </a:ln>
        </p:spPr>
      </p:sp>
      <p:sp>
        <p:nvSpPr>
          <p:cNvPr id="47" name="Dot 37"/>
          <p:cNvSpPr/>
          <p:nvPr/>
        </p:nvSpPr>
        <p:spPr>
          <a:xfrm>
            <a:off x="10195560" y="2834640"/>
            <a:ext cx="310896" cy="310896"/>
          </a:xfrm>
          <a:prstGeom prst="ellipse">
            <a:avLst/>
          </a:prstGeom>
          <a:solidFill>
            <a:schemeClr val="accent6"/>
          </a:solidFill>
          <a:ln w="12700">
            <a:solidFill>
              <a:schemeClr val="accent6"/>
            </a:solidFill>
            <a:prstDash val="solid"/>
          </a:ln>
        </p:spPr>
      </p:sp>
      <p:sp>
        <p:nvSpPr>
          <p:cNvPr id="48" name="Dot 38"/>
          <p:cNvSpPr/>
          <p:nvPr/>
        </p:nvSpPr>
        <p:spPr>
          <a:xfrm>
            <a:off x="10607040" y="2834640"/>
            <a:ext cx="310896" cy="310896"/>
          </a:xfrm>
          <a:prstGeom prst="ellipse">
            <a:avLst/>
          </a:prstGeom>
          <a:solidFill>
            <a:schemeClr val="accent6"/>
          </a:solidFill>
          <a:ln w="12700">
            <a:solidFill>
              <a:schemeClr val="accent6"/>
            </a:solidFill>
            <a:prstDash val="solid"/>
          </a:ln>
        </p:spPr>
      </p:sp>
      <p:sp>
        <p:nvSpPr>
          <p:cNvPr id="49" name="Dot 39"/>
          <p:cNvSpPr/>
          <p:nvPr/>
        </p:nvSpPr>
        <p:spPr>
          <a:xfrm>
            <a:off x="11018520" y="2834640"/>
            <a:ext cx="310896" cy="310896"/>
          </a:xfrm>
          <a:prstGeom prst="ellipse">
            <a:avLst/>
          </a:prstGeom>
          <a:solidFill>
            <a:schemeClr val="accent6"/>
          </a:solidFill>
          <a:ln w="12700">
            <a:solidFill>
              <a:schemeClr val="accent6"/>
            </a:solidFill>
            <a:prstDash val="solid"/>
          </a:ln>
        </p:spPr>
      </p:sp>
      <p:sp>
        <p:nvSpPr>
          <p:cNvPr id="50" name="Dot 40"/>
          <p:cNvSpPr/>
          <p:nvPr/>
        </p:nvSpPr>
        <p:spPr>
          <a:xfrm>
            <a:off x="7315200" y="3246120"/>
            <a:ext cx="310896" cy="310896"/>
          </a:xfrm>
          <a:prstGeom prst="ellipse">
            <a:avLst/>
          </a:prstGeom>
          <a:solidFill>
            <a:schemeClr val="accent6"/>
          </a:solidFill>
          <a:ln w="12700">
            <a:solidFill>
              <a:schemeClr val="accent6"/>
            </a:solidFill>
            <a:prstDash val="solid"/>
          </a:ln>
        </p:spPr>
      </p:sp>
      <p:sp>
        <p:nvSpPr>
          <p:cNvPr id="51" name="Dot 41"/>
          <p:cNvSpPr/>
          <p:nvPr/>
        </p:nvSpPr>
        <p:spPr>
          <a:xfrm>
            <a:off x="7726680" y="3246120"/>
            <a:ext cx="310896" cy="310896"/>
          </a:xfrm>
          <a:prstGeom prst="ellipse">
            <a:avLst/>
          </a:prstGeom>
          <a:solidFill>
            <a:schemeClr val="accent6"/>
          </a:solidFill>
          <a:ln w="12700">
            <a:solidFill>
              <a:schemeClr val="accent6"/>
            </a:solidFill>
            <a:prstDash val="solid"/>
          </a:ln>
        </p:spPr>
      </p:sp>
      <p:sp>
        <p:nvSpPr>
          <p:cNvPr id="52" name="Dot 42"/>
          <p:cNvSpPr/>
          <p:nvPr/>
        </p:nvSpPr>
        <p:spPr>
          <a:xfrm>
            <a:off x="8138160" y="3246120"/>
            <a:ext cx="310896" cy="310896"/>
          </a:xfrm>
          <a:prstGeom prst="ellipse">
            <a:avLst/>
          </a:prstGeom>
          <a:solidFill>
            <a:schemeClr val="accent6"/>
          </a:solidFill>
          <a:ln w="12700">
            <a:solidFill>
              <a:schemeClr val="accent6"/>
            </a:solidFill>
            <a:prstDash val="solid"/>
          </a:ln>
        </p:spPr>
      </p:sp>
      <p:sp>
        <p:nvSpPr>
          <p:cNvPr id="53" name="Dot 43"/>
          <p:cNvSpPr/>
          <p:nvPr/>
        </p:nvSpPr>
        <p:spPr>
          <a:xfrm>
            <a:off x="8549640" y="3246120"/>
            <a:ext cx="310896" cy="310896"/>
          </a:xfrm>
          <a:prstGeom prst="ellipse">
            <a:avLst/>
          </a:prstGeom>
          <a:solidFill>
            <a:schemeClr val="accent6"/>
          </a:solidFill>
          <a:ln w="12700">
            <a:solidFill>
              <a:schemeClr val="accent6"/>
            </a:solidFill>
            <a:prstDash val="solid"/>
          </a:ln>
        </p:spPr>
      </p:sp>
      <p:sp>
        <p:nvSpPr>
          <p:cNvPr id="54" name="Dot 44"/>
          <p:cNvSpPr/>
          <p:nvPr/>
        </p:nvSpPr>
        <p:spPr>
          <a:xfrm>
            <a:off x="8961120" y="3246120"/>
            <a:ext cx="310896" cy="310896"/>
          </a:xfrm>
          <a:prstGeom prst="ellipse">
            <a:avLst/>
          </a:prstGeom>
          <a:solidFill>
            <a:schemeClr val="accent6"/>
          </a:solidFill>
          <a:ln w="12700">
            <a:solidFill>
              <a:schemeClr val="accent6"/>
            </a:solidFill>
            <a:prstDash val="solid"/>
          </a:ln>
        </p:spPr>
      </p:sp>
      <p:sp>
        <p:nvSpPr>
          <p:cNvPr id="55" name="Dot 45"/>
          <p:cNvSpPr/>
          <p:nvPr/>
        </p:nvSpPr>
        <p:spPr>
          <a:xfrm>
            <a:off x="9372600" y="3246120"/>
            <a:ext cx="310896" cy="310896"/>
          </a:xfrm>
          <a:prstGeom prst="ellipse">
            <a:avLst/>
          </a:prstGeom>
          <a:solidFill>
            <a:schemeClr val="accent6"/>
          </a:solidFill>
          <a:ln w="12700">
            <a:solidFill>
              <a:schemeClr val="accent6"/>
            </a:solidFill>
            <a:prstDash val="solid"/>
          </a:ln>
        </p:spPr>
      </p:sp>
      <p:sp>
        <p:nvSpPr>
          <p:cNvPr id="56" name="Dot 46"/>
          <p:cNvSpPr/>
          <p:nvPr/>
        </p:nvSpPr>
        <p:spPr>
          <a:xfrm>
            <a:off x="9784080" y="3246120"/>
            <a:ext cx="310896" cy="310896"/>
          </a:xfrm>
          <a:prstGeom prst="ellipse">
            <a:avLst/>
          </a:prstGeom>
          <a:solidFill>
            <a:schemeClr val="accent6"/>
          </a:solidFill>
          <a:ln w="12700">
            <a:solidFill>
              <a:schemeClr val="accent6"/>
            </a:solidFill>
            <a:prstDash val="solid"/>
          </a:ln>
        </p:spPr>
      </p:sp>
      <p:sp>
        <p:nvSpPr>
          <p:cNvPr id="57" name="Dot 47"/>
          <p:cNvSpPr/>
          <p:nvPr/>
        </p:nvSpPr>
        <p:spPr>
          <a:xfrm>
            <a:off x="10195560" y="3246120"/>
            <a:ext cx="310896" cy="310896"/>
          </a:xfrm>
          <a:prstGeom prst="ellipse">
            <a:avLst/>
          </a:prstGeom>
          <a:solidFill>
            <a:schemeClr val="accent6"/>
          </a:solidFill>
          <a:ln w="12700">
            <a:solidFill>
              <a:schemeClr val="accent6"/>
            </a:solidFill>
            <a:prstDash val="solid"/>
          </a:ln>
        </p:spPr>
      </p:sp>
      <p:sp>
        <p:nvSpPr>
          <p:cNvPr id="58" name="Dot 48"/>
          <p:cNvSpPr/>
          <p:nvPr/>
        </p:nvSpPr>
        <p:spPr>
          <a:xfrm>
            <a:off x="10607040" y="3246120"/>
            <a:ext cx="310896" cy="310896"/>
          </a:xfrm>
          <a:prstGeom prst="ellipse">
            <a:avLst/>
          </a:prstGeom>
          <a:solidFill>
            <a:schemeClr val="accent6"/>
          </a:solidFill>
          <a:ln w="12700">
            <a:solidFill>
              <a:schemeClr val="accent6"/>
            </a:solidFill>
            <a:prstDash val="solid"/>
          </a:ln>
        </p:spPr>
      </p:sp>
      <p:sp>
        <p:nvSpPr>
          <p:cNvPr id="59" name="Dot 49"/>
          <p:cNvSpPr/>
          <p:nvPr/>
        </p:nvSpPr>
        <p:spPr>
          <a:xfrm>
            <a:off x="11018520" y="3246120"/>
            <a:ext cx="310896" cy="310896"/>
          </a:xfrm>
          <a:prstGeom prst="ellipse">
            <a:avLst/>
          </a:prstGeom>
          <a:solidFill>
            <a:schemeClr val="accent6"/>
          </a:solidFill>
          <a:ln w="12700">
            <a:solidFill>
              <a:schemeClr val="accent6"/>
            </a:solidFill>
            <a:prstDash val="solid"/>
          </a:ln>
        </p:spPr>
      </p:sp>
      <p:sp>
        <p:nvSpPr>
          <p:cNvPr id="60" name="Dot 50"/>
          <p:cNvSpPr/>
          <p:nvPr/>
        </p:nvSpPr>
        <p:spPr>
          <a:xfrm>
            <a:off x="7315200" y="3657600"/>
            <a:ext cx="310896" cy="310896"/>
          </a:xfrm>
          <a:prstGeom prst="ellipse">
            <a:avLst/>
          </a:prstGeom>
          <a:solidFill>
            <a:schemeClr val="accent6"/>
          </a:solidFill>
          <a:ln w="12700">
            <a:solidFill>
              <a:schemeClr val="accent6"/>
            </a:solidFill>
            <a:prstDash val="solid"/>
          </a:ln>
        </p:spPr>
      </p:sp>
      <p:sp>
        <p:nvSpPr>
          <p:cNvPr id="61" name="Dot 51"/>
          <p:cNvSpPr/>
          <p:nvPr/>
        </p:nvSpPr>
        <p:spPr>
          <a:xfrm>
            <a:off x="7726680" y="3657600"/>
            <a:ext cx="310896" cy="310896"/>
          </a:xfrm>
          <a:prstGeom prst="ellipse">
            <a:avLst/>
          </a:prstGeom>
          <a:solidFill>
            <a:schemeClr val="accent6"/>
          </a:solidFill>
          <a:ln w="12700">
            <a:solidFill>
              <a:schemeClr val="accent6"/>
            </a:solidFill>
            <a:prstDash val="solid"/>
          </a:ln>
        </p:spPr>
      </p:sp>
      <p:sp>
        <p:nvSpPr>
          <p:cNvPr id="62" name="Dot 52"/>
          <p:cNvSpPr/>
          <p:nvPr/>
        </p:nvSpPr>
        <p:spPr>
          <a:xfrm>
            <a:off x="8138160" y="3657600"/>
            <a:ext cx="310896" cy="310896"/>
          </a:xfrm>
          <a:prstGeom prst="ellipse">
            <a:avLst/>
          </a:prstGeom>
          <a:solidFill>
            <a:schemeClr val="accent6"/>
          </a:solidFill>
          <a:ln w="12700">
            <a:solidFill>
              <a:schemeClr val="accent6"/>
            </a:solidFill>
            <a:prstDash val="solid"/>
          </a:ln>
        </p:spPr>
      </p:sp>
      <p:sp>
        <p:nvSpPr>
          <p:cNvPr id="63" name="Fraud dot"/>
          <p:cNvSpPr/>
          <p:nvPr/>
        </p:nvSpPr>
        <p:spPr>
          <a:xfrm>
            <a:off x="8549640" y="3657600"/>
            <a:ext cx="310896" cy="310896"/>
          </a:xfrm>
          <a:prstGeom prst="ellipse">
            <a:avLst/>
          </a:prstGeom>
          <a:solidFill>
            <a:schemeClr val="accent2"/>
          </a:solidFill>
          <a:ln w="12700">
            <a:solidFill>
              <a:schemeClr val="accent2"/>
            </a:solidFill>
            <a:prstDash val="solid"/>
          </a:ln>
        </p:spPr>
      </p:sp>
      <p:sp>
        <p:nvSpPr>
          <p:cNvPr id="64" name="Dot 54"/>
          <p:cNvSpPr/>
          <p:nvPr/>
        </p:nvSpPr>
        <p:spPr>
          <a:xfrm>
            <a:off x="8961120" y="3657600"/>
            <a:ext cx="310896" cy="310896"/>
          </a:xfrm>
          <a:prstGeom prst="ellipse">
            <a:avLst/>
          </a:prstGeom>
          <a:solidFill>
            <a:schemeClr val="accent6"/>
          </a:solidFill>
          <a:ln w="12700">
            <a:solidFill>
              <a:schemeClr val="accent6"/>
            </a:solidFill>
            <a:prstDash val="solid"/>
          </a:ln>
        </p:spPr>
      </p:sp>
      <p:sp>
        <p:nvSpPr>
          <p:cNvPr id="65" name="Dot 55"/>
          <p:cNvSpPr/>
          <p:nvPr/>
        </p:nvSpPr>
        <p:spPr>
          <a:xfrm>
            <a:off x="9372600" y="3657600"/>
            <a:ext cx="310896" cy="310896"/>
          </a:xfrm>
          <a:prstGeom prst="ellipse">
            <a:avLst/>
          </a:prstGeom>
          <a:solidFill>
            <a:schemeClr val="accent6"/>
          </a:solidFill>
          <a:ln w="12700">
            <a:solidFill>
              <a:schemeClr val="accent6"/>
            </a:solidFill>
            <a:prstDash val="solid"/>
          </a:ln>
        </p:spPr>
      </p:sp>
      <p:sp>
        <p:nvSpPr>
          <p:cNvPr id="66" name="Dot 56"/>
          <p:cNvSpPr/>
          <p:nvPr/>
        </p:nvSpPr>
        <p:spPr>
          <a:xfrm>
            <a:off x="9784080" y="3657600"/>
            <a:ext cx="310896" cy="310896"/>
          </a:xfrm>
          <a:prstGeom prst="ellipse">
            <a:avLst/>
          </a:prstGeom>
          <a:solidFill>
            <a:schemeClr val="accent6"/>
          </a:solidFill>
          <a:ln w="12700">
            <a:solidFill>
              <a:schemeClr val="accent6"/>
            </a:solidFill>
            <a:prstDash val="solid"/>
          </a:ln>
        </p:spPr>
      </p:sp>
      <p:sp>
        <p:nvSpPr>
          <p:cNvPr id="67" name="Dot 57"/>
          <p:cNvSpPr/>
          <p:nvPr/>
        </p:nvSpPr>
        <p:spPr>
          <a:xfrm>
            <a:off x="10195560" y="3657600"/>
            <a:ext cx="310896" cy="310896"/>
          </a:xfrm>
          <a:prstGeom prst="ellipse">
            <a:avLst/>
          </a:prstGeom>
          <a:solidFill>
            <a:schemeClr val="accent6"/>
          </a:solidFill>
          <a:ln w="12700">
            <a:solidFill>
              <a:schemeClr val="accent6"/>
            </a:solidFill>
            <a:prstDash val="solid"/>
          </a:ln>
        </p:spPr>
      </p:sp>
      <p:sp>
        <p:nvSpPr>
          <p:cNvPr id="68" name="Dot 58"/>
          <p:cNvSpPr/>
          <p:nvPr/>
        </p:nvSpPr>
        <p:spPr>
          <a:xfrm>
            <a:off x="10607040" y="3657600"/>
            <a:ext cx="310896" cy="310896"/>
          </a:xfrm>
          <a:prstGeom prst="ellipse">
            <a:avLst/>
          </a:prstGeom>
          <a:solidFill>
            <a:schemeClr val="accent6"/>
          </a:solidFill>
          <a:ln w="12700">
            <a:solidFill>
              <a:schemeClr val="accent6"/>
            </a:solidFill>
            <a:prstDash val="solid"/>
          </a:ln>
        </p:spPr>
      </p:sp>
      <p:sp>
        <p:nvSpPr>
          <p:cNvPr id="69" name="Dot 59"/>
          <p:cNvSpPr/>
          <p:nvPr/>
        </p:nvSpPr>
        <p:spPr>
          <a:xfrm>
            <a:off x="11018520" y="3657600"/>
            <a:ext cx="310896" cy="310896"/>
          </a:xfrm>
          <a:prstGeom prst="ellipse">
            <a:avLst/>
          </a:prstGeom>
          <a:solidFill>
            <a:schemeClr val="accent6"/>
          </a:solidFill>
          <a:ln w="12700">
            <a:solidFill>
              <a:schemeClr val="accent6"/>
            </a:solidFill>
            <a:prstDash val="solid"/>
          </a:ln>
        </p:spPr>
      </p:sp>
      <p:sp>
        <p:nvSpPr>
          <p:cNvPr id="70" name="Dot 60"/>
          <p:cNvSpPr/>
          <p:nvPr/>
        </p:nvSpPr>
        <p:spPr>
          <a:xfrm>
            <a:off x="7315200" y="4069080"/>
            <a:ext cx="310896" cy="310896"/>
          </a:xfrm>
          <a:prstGeom prst="ellipse">
            <a:avLst/>
          </a:prstGeom>
          <a:solidFill>
            <a:schemeClr val="accent6"/>
          </a:solidFill>
          <a:ln w="12700">
            <a:solidFill>
              <a:schemeClr val="accent6"/>
            </a:solidFill>
            <a:prstDash val="solid"/>
          </a:ln>
        </p:spPr>
      </p:sp>
      <p:sp>
        <p:nvSpPr>
          <p:cNvPr id="71" name="Dot 61"/>
          <p:cNvSpPr/>
          <p:nvPr/>
        </p:nvSpPr>
        <p:spPr>
          <a:xfrm>
            <a:off x="7726680" y="4069080"/>
            <a:ext cx="310896" cy="310896"/>
          </a:xfrm>
          <a:prstGeom prst="ellipse">
            <a:avLst/>
          </a:prstGeom>
          <a:solidFill>
            <a:schemeClr val="accent6"/>
          </a:solidFill>
          <a:ln w="12700">
            <a:solidFill>
              <a:schemeClr val="accent6"/>
            </a:solidFill>
            <a:prstDash val="solid"/>
          </a:ln>
        </p:spPr>
      </p:sp>
      <p:sp>
        <p:nvSpPr>
          <p:cNvPr id="72" name="Dot 62"/>
          <p:cNvSpPr/>
          <p:nvPr/>
        </p:nvSpPr>
        <p:spPr>
          <a:xfrm>
            <a:off x="8138160" y="4069080"/>
            <a:ext cx="310896" cy="310896"/>
          </a:xfrm>
          <a:prstGeom prst="ellipse">
            <a:avLst/>
          </a:prstGeom>
          <a:solidFill>
            <a:schemeClr val="accent6"/>
          </a:solidFill>
          <a:ln w="12700">
            <a:solidFill>
              <a:schemeClr val="accent6"/>
            </a:solidFill>
            <a:prstDash val="solid"/>
          </a:ln>
        </p:spPr>
      </p:sp>
      <p:sp>
        <p:nvSpPr>
          <p:cNvPr id="73" name="Dot 63"/>
          <p:cNvSpPr/>
          <p:nvPr/>
        </p:nvSpPr>
        <p:spPr>
          <a:xfrm>
            <a:off x="8549640" y="4069080"/>
            <a:ext cx="310896" cy="310896"/>
          </a:xfrm>
          <a:prstGeom prst="ellipse">
            <a:avLst/>
          </a:prstGeom>
          <a:solidFill>
            <a:schemeClr val="accent6"/>
          </a:solidFill>
          <a:ln w="12700">
            <a:solidFill>
              <a:schemeClr val="accent6"/>
            </a:solidFill>
            <a:prstDash val="solid"/>
          </a:ln>
        </p:spPr>
      </p:sp>
      <p:sp>
        <p:nvSpPr>
          <p:cNvPr id="74" name="Dot 64"/>
          <p:cNvSpPr/>
          <p:nvPr/>
        </p:nvSpPr>
        <p:spPr>
          <a:xfrm>
            <a:off x="8961120" y="4069080"/>
            <a:ext cx="310896" cy="310896"/>
          </a:xfrm>
          <a:prstGeom prst="ellipse">
            <a:avLst/>
          </a:prstGeom>
          <a:solidFill>
            <a:schemeClr val="accent6"/>
          </a:solidFill>
          <a:ln w="12700">
            <a:solidFill>
              <a:schemeClr val="accent6"/>
            </a:solidFill>
            <a:prstDash val="solid"/>
          </a:ln>
        </p:spPr>
      </p:sp>
      <p:sp>
        <p:nvSpPr>
          <p:cNvPr id="75" name="Dot 65"/>
          <p:cNvSpPr/>
          <p:nvPr/>
        </p:nvSpPr>
        <p:spPr>
          <a:xfrm>
            <a:off x="9372600" y="4069080"/>
            <a:ext cx="310896" cy="310896"/>
          </a:xfrm>
          <a:prstGeom prst="ellipse">
            <a:avLst/>
          </a:prstGeom>
          <a:solidFill>
            <a:schemeClr val="accent6"/>
          </a:solidFill>
          <a:ln w="12700">
            <a:solidFill>
              <a:schemeClr val="accent6"/>
            </a:solidFill>
            <a:prstDash val="solid"/>
          </a:ln>
        </p:spPr>
      </p:sp>
      <p:sp>
        <p:nvSpPr>
          <p:cNvPr id="76" name="Dot 66"/>
          <p:cNvSpPr/>
          <p:nvPr/>
        </p:nvSpPr>
        <p:spPr>
          <a:xfrm>
            <a:off x="9784080" y="4069080"/>
            <a:ext cx="310896" cy="310896"/>
          </a:xfrm>
          <a:prstGeom prst="ellipse">
            <a:avLst/>
          </a:prstGeom>
          <a:solidFill>
            <a:schemeClr val="accent6"/>
          </a:solidFill>
          <a:ln w="12700">
            <a:solidFill>
              <a:schemeClr val="accent6"/>
            </a:solidFill>
            <a:prstDash val="solid"/>
          </a:ln>
        </p:spPr>
      </p:sp>
      <p:sp>
        <p:nvSpPr>
          <p:cNvPr id="77" name="Dot 67"/>
          <p:cNvSpPr/>
          <p:nvPr/>
        </p:nvSpPr>
        <p:spPr>
          <a:xfrm>
            <a:off x="10195560" y="4069080"/>
            <a:ext cx="310896" cy="310896"/>
          </a:xfrm>
          <a:prstGeom prst="ellipse">
            <a:avLst/>
          </a:prstGeom>
          <a:solidFill>
            <a:schemeClr val="accent6"/>
          </a:solidFill>
          <a:ln w="12700">
            <a:solidFill>
              <a:schemeClr val="accent6"/>
            </a:solidFill>
            <a:prstDash val="solid"/>
          </a:ln>
        </p:spPr>
      </p:sp>
      <p:sp>
        <p:nvSpPr>
          <p:cNvPr id="78" name="Dot 68"/>
          <p:cNvSpPr/>
          <p:nvPr/>
        </p:nvSpPr>
        <p:spPr>
          <a:xfrm>
            <a:off x="10607040" y="4069080"/>
            <a:ext cx="310896" cy="310896"/>
          </a:xfrm>
          <a:prstGeom prst="ellipse">
            <a:avLst/>
          </a:prstGeom>
          <a:solidFill>
            <a:schemeClr val="accent6"/>
          </a:solidFill>
          <a:ln w="12700">
            <a:solidFill>
              <a:schemeClr val="accent6"/>
            </a:solidFill>
            <a:prstDash val="solid"/>
          </a:ln>
        </p:spPr>
      </p:sp>
      <p:sp>
        <p:nvSpPr>
          <p:cNvPr id="79" name="Dot 69"/>
          <p:cNvSpPr/>
          <p:nvPr/>
        </p:nvSpPr>
        <p:spPr>
          <a:xfrm>
            <a:off x="11018520" y="4069080"/>
            <a:ext cx="310896" cy="310896"/>
          </a:xfrm>
          <a:prstGeom prst="ellipse">
            <a:avLst/>
          </a:prstGeom>
          <a:solidFill>
            <a:schemeClr val="accent6"/>
          </a:solidFill>
          <a:ln w="12700">
            <a:solidFill>
              <a:schemeClr val="accent6"/>
            </a:solidFill>
            <a:prstDash val="solid"/>
          </a:ln>
        </p:spPr>
      </p:sp>
      <p:sp>
        <p:nvSpPr>
          <p:cNvPr id="80" name="Dot 70"/>
          <p:cNvSpPr/>
          <p:nvPr/>
        </p:nvSpPr>
        <p:spPr>
          <a:xfrm>
            <a:off x="7315200" y="4480560"/>
            <a:ext cx="310896" cy="310896"/>
          </a:xfrm>
          <a:prstGeom prst="ellipse">
            <a:avLst/>
          </a:prstGeom>
          <a:solidFill>
            <a:schemeClr val="accent6"/>
          </a:solidFill>
          <a:ln w="12700">
            <a:solidFill>
              <a:schemeClr val="accent6"/>
            </a:solidFill>
            <a:prstDash val="solid"/>
          </a:ln>
        </p:spPr>
      </p:sp>
      <p:sp>
        <p:nvSpPr>
          <p:cNvPr id="81" name="Dot 71"/>
          <p:cNvSpPr/>
          <p:nvPr/>
        </p:nvSpPr>
        <p:spPr>
          <a:xfrm>
            <a:off x="7726680" y="4480560"/>
            <a:ext cx="310896" cy="310896"/>
          </a:xfrm>
          <a:prstGeom prst="ellipse">
            <a:avLst/>
          </a:prstGeom>
          <a:solidFill>
            <a:schemeClr val="accent6"/>
          </a:solidFill>
          <a:ln w="12700">
            <a:solidFill>
              <a:schemeClr val="accent6"/>
            </a:solidFill>
            <a:prstDash val="solid"/>
          </a:ln>
        </p:spPr>
      </p:sp>
      <p:sp>
        <p:nvSpPr>
          <p:cNvPr id="82" name="Dot 72"/>
          <p:cNvSpPr/>
          <p:nvPr/>
        </p:nvSpPr>
        <p:spPr>
          <a:xfrm>
            <a:off x="8138160" y="4480560"/>
            <a:ext cx="310896" cy="310896"/>
          </a:xfrm>
          <a:prstGeom prst="ellipse">
            <a:avLst/>
          </a:prstGeom>
          <a:solidFill>
            <a:schemeClr val="accent6"/>
          </a:solidFill>
          <a:ln w="12700">
            <a:solidFill>
              <a:schemeClr val="accent6"/>
            </a:solidFill>
            <a:prstDash val="solid"/>
          </a:ln>
        </p:spPr>
      </p:sp>
      <p:sp>
        <p:nvSpPr>
          <p:cNvPr id="83" name="Dot 73"/>
          <p:cNvSpPr/>
          <p:nvPr/>
        </p:nvSpPr>
        <p:spPr>
          <a:xfrm>
            <a:off x="8549640" y="4480560"/>
            <a:ext cx="310896" cy="310896"/>
          </a:xfrm>
          <a:prstGeom prst="ellipse">
            <a:avLst/>
          </a:prstGeom>
          <a:solidFill>
            <a:schemeClr val="accent6"/>
          </a:solidFill>
          <a:ln w="12700">
            <a:solidFill>
              <a:schemeClr val="accent6"/>
            </a:solidFill>
            <a:prstDash val="solid"/>
          </a:ln>
        </p:spPr>
      </p:sp>
      <p:sp>
        <p:nvSpPr>
          <p:cNvPr id="84" name="Dot 74"/>
          <p:cNvSpPr/>
          <p:nvPr/>
        </p:nvSpPr>
        <p:spPr>
          <a:xfrm>
            <a:off x="8961120" y="4480560"/>
            <a:ext cx="310896" cy="310896"/>
          </a:xfrm>
          <a:prstGeom prst="ellipse">
            <a:avLst/>
          </a:prstGeom>
          <a:solidFill>
            <a:schemeClr val="accent6"/>
          </a:solidFill>
          <a:ln w="12700">
            <a:solidFill>
              <a:schemeClr val="accent6"/>
            </a:solidFill>
            <a:prstDash val="solid"/>
          </a:ln>
        </p:spPr>
      </p:sp>
      <p:sp>
        <p:nvSpPr>
          <p:cNvPr id="85" name="Dot 75"/>
          <p:cNvSpPr/>
          <p:nvPr/>
        </p:nvSpPr>
        <p:spPr>
          <a:xfrm>
            <a:off x="9372600" y="4480560"/>
            <a:ext cx="310896" cy="310896"/>
          </a:xfrm>
          <a:prstGeom prst="ellipse">
            <a:avLst/>
          </a:prstGeom>
          <a:solidFill>
            <a:schemeClr val="accent6"/>
          </a:solidFill>
          <a:ln w="12700">
            <a:solidFill>
              <a:schemeClr val="accent6"/>
            </a:solidFill>
            <a:prstDash val="solid"/>
          </a:ln>
        </p:spPr>
      </p:sp>
      <p:sp>
        <p:nvSpPr>
          <p:cNvPr id="86" name="Dot 76"/>
          <p:cNvSpPr/>
          <p:nvPr/>
        </p:nvSpPr>
        <p:spPr>
          <a:xfrm>
            <a:off x="9784080" y="4480560"/>
            <a:ext cx="310896" cy="310896"/>
          </a:xfrm>
          <a:prstGeom prst="ellipse">
            <a:avLst/>
          </a:prstGeom>
          <a:solidFill>
            <a:schemeClr val="accent6"/>
          </a:solidFill>
          <a:ln w="12700">
            <a:solidFill>
              <a:schemeClr val="accent6"/>
            </a:solidFill>
            <a:prstDash val="solid"/>
          </a:ln>
        </p:spPr>
      </p:sp>
      <p:sp>
        <p:nvSpPr>
          <p:cNvPr id="87" name="Dot 77"/>
          <p:cNvSpPr/>
          <p:nvPr/>
        </p:nvSpPr>
        <p:spPr>
          <a:xfrm>
            <a:off x="10195560" y="4480560"/>
            <a:ext cx="310896" cy="310896"/>
          </a:xfrm>
          <a:prstGeom prst="ellipse">
            <a:avLst/>
          </a:prstGeom>
          <a:solidFill>
            <a:schemeClr val="accent6"/>
          </a:solidFill>
          <a:ln w="12700">
            <a:solidFill>
              <a:schemeClr val="accent6"/>
            </a:solidFill>
            <a:prstDash val="solid"/>
          </a:ln>
        </p:spPr>
      </p:sp>
      <p:sp>
        <p:nvSpPr>
          <p:cNvPr id="88" name="Dot 78"/>
          <p:cNvSpPr/>
          <p:nvPr/>
        </p:nvSpPr>
        <p:spPr>
          <a:xfrm>
            <a:off x="10607040" y="4480560"/>
            <a:ext cx="310896" cy="310896"/>
          </a:xfrm>
          <a:prstGeom prst="ellipse">
            <a:avLst/>
          </a:prstGeom>
          <a:solidFill>
            <a:schemeClr val="accent6"/>
          </a:solidFill>
          <a:ln w="12700">
            <a:solidFill>
              <a:schemeClr val="accent6"/>
            </a:solidFill>
            <a:prstDash val="solid"/>
          </a:ln>
        </p:spPr>
      </p:sp>
      <p:sp>
        <p:nvSpPr>
          <p:cNvPr id="89" name="Dot 79"/>
          <p:cNvSpPr/>
          <p:nvPr/>
        </p:nvSpPr>
        <p:spPr>
          <a:xfrm>
            <a:off x="11018520" y="4480560"/>
            <a:ext cx="310896" cy="310896"/>
          </a:xfrm>
          <a:prstGeom prst="ellipse">
            <a:avLst/>
          </a:prstGeom>
          <a:solidFill>
            <a:schemeClr val="accent6"/>
          </a:solidFill>
          <a:ln w="12700">
            <a:solidFill>
              <a:schemeClr val="accent6"/>
            </a:solidFill>
            <a:prstDash val="solid"/>
          </a:ln>
        </p:spPr>
      </p:sp>
      <p:sp>
        <p:nvSpPr>
          <p:cNvPr id="90" name="Dot 80"/>
          <p:cNvSpPr/>
          <p:nvPr/>
        </p:nvSpPr>
        <p:spPr>
          <a:xfrm>
            <a:off x="7315200" y="4892040"/>
            <a:ext cx="310896" cy="310896"/>
          </a:xfrm>
          <a:prstGeom prst="ellipse">
            <a:avLst/>
          </a:prstGeom>
          <a:solidFill>
            <a:schemeClr val="accent6"/>
          </a:solidFill>
          <a:ln w="12700">
            <a:solidFill>
              <a:schemeClr val="accent6"/>
            </a:solidFill>
            <a:prstDash val="solid"/>
          </a:ln>
        </p:spPr>
      </p:sp>
      <p:sp>
        <p:nvSpPr>
          <p:cNvPr id="91" name="Dot 81"/>
          <p:cNvSpPr/>
          <p:nvPr/>
        </p:nvSpPr>
        <p:spPr>
          <a:xfrm>
            <a:off x="7726680" y="4892040"/>
            <a:ext cx="310896" cy="310896"/>
          </a:xfrm>
          <a:prstGeom prst="ellipse">
            <a:avLst/>
          </a:prstGeom>
          <a:solidFill>
            <a:schemeClr val="accent6"/>
          </a:solidFill>
          <a:ln w="12700">
            <a:solidFill>
              <a:schemeClr val="accent6"/>
            </a:solidFill>
            <a:prstDash val="solid"/>
          </a:ln>
        </p:spPr>
      </p:sp>
      <p:sp>
        <p:nvSpPr>
          <p:cNvPr id="92" name="Dot 82"/>
          <p:cNvSpPr/>
          <p:nvPr/>
        </p:nvSpPr>
        <p:spPr>
          <a:xfrm>
            <a:off x="8138160" y="4892040"/>
            <a:ext cx="310896" cy="310896"/>
          </a:xfrm>
          <a:prstGeom prst="ellipse">
            <a:avLst/>
          </a:prstGeom>
          <a:solidFill>
            <a:schemeClr val="accent6"/>
          </a:solidFill>
          <a:ln w="12700">
            <a:solidFill>
              <a:schemeClr val="accent6"/>
            </a:solidFill>
            <a:prstDash val="solid"/>
          </a:ln>
        </p:spPr>
      </p:sp>
      <p:sp>
        <p:nvSpPr>
          <p:cNvPr id="93" name="Dot 83"/>
          <p:cNvSpPr/>
          <p:nvPr/>
        </p:nvSpPr>
        <p:spPr>
          <a:xfrm>
            <a:off x="8549640" y="4892040"/>
            <a:ext cx="310896" cy="310896"/>
          </a:xfrm>
          <a:prstGeom prst="ellipse">
            <a:avLst/>
          </a:prstGeom>
          <a:solidFill>
            <a:schemeClr val="accent6"/>
          </a:solidFill>
          <a:ln w="12700">
            <a:solidFill>
              <a:schemeClr val="accent6"/>
            </a:solidFill>
            <a:prstDash val="solid"/>
          </a:ln>
        </p:spPr>
      </p:sp>
      <p:sp>
        <p:nvSpPr>
          <p:cNvPr id="94" name="Dot 84"/>
          <p:cNvSpPr/>
          <p:nvPr/>
        </p:nvSpPr>
        <p:spPr>
          <a:xfrm>
            <a:off x="8961120" y="4892040"/>
            <a:ext cx="310896" cy="310896"/>
          </a:xfrm>
          <a:prstGeom prst="ellipse">
            <a:avLst/>
          </a:prstGeom>
          <a:solidFill>
            <a:schemeClr val="accent6"/>
          </a:solidFill>
          <a:ln w="12700">
            <a:solidFill>
              <a:schemeClr val="accent6"/>
            </a:solidFill>
            <a:prstDash val="solid"/>
          </a:ln>
        </p:spPr>
      </p:sp>
      <p:sp>
        <p:nvSpPr>
          <p:cNvPr id="95" name="Dot 85"/>
          <p:cNvSpPr/>
          <p:nvPr/>
        </p:nvSpPr>
        <p:spPr>
          <a:xfrm>
            <a:off x="9372600" y="4892040"/>
            <a:ext cx="310896" cy="310896"/>
          </a:xfrm>
          <a:prstGeom prst="ellipse">
            <a:avLst/>
          </a:prstGeom>
          <a:solidFill>
            <a:schemeClr val="accent6"/>
          </a:solidFill>
          <a:ln w="12700">
            <a:solidFill>
              <a:schemeClr val="accent6"/>
            </a:solidFill>
            <a:prstDash val="solid"/>
          </a:ln>
        </p:spPr>
      </p:sp>
      <p:sp>
        <p:nvSpPr>
          <p:cNvPr id="96" name="Dot 86"/>
          <p:cNvSpPr/>
          <p:nvPr/>
        </p:nvSpPr>
        <p:spPr>
          <a:xfrm>
            <a:off x="9784080" y="4892040"/>
            <a:ext cx="310896" cy="310896"/>
          </a:xfrm>
          <a:prstGeom prst="ellipse">
            <a:avLst/>
          </a:prstGeom>
          <a:solidFill>
            <a:schemeClr val="accent6"/>
          </a:solidFill>
          <a:ln w="12700">
            <a:solidFill>
              <a:schemeClr val="accent6"/>
            </a:solidFill>
            <a:prstDash val="solid"/>
          </a:ln>
        </p:spPr>
      </p:sp>
      <p:sp>
        <p:nvSpPr>
          <p:cNvPr id="97" name="Dot 87"/>
          <p:cNvSpPr/>
          <p:nvPr/>
        </p:nvSpPr>
        <p:spPr>
          <a:xfrm>
            <a:off x="10195560" y="4892040"/>
            <a:ext cx="310896" cy="310896"/>
          </a:xfrm>
          <a:prstGeom prst="ellipse">
            <a:avLst/>
          </a:prstGeom>
          <a:solidFill>
            <a:schemeClr val="accent6"/>
          </a:solidFill>
          <a:ln w="12700">
            <a:solidFill>
              <a:schemeClr val="accent6"/>
            </a:solidFill>
            <a:prstDash val="solid"/>
          </a:ln>
        </p:spPr>
      </p:sp>
      <p:sp>
        <p:nvSpPr>
          <p:cNvPr id="98" name="Dot 88"/>
          <p:cNvSpPr/>
          <p:nvPr/>
        </p:nvSpPr>
        <p:spPr>
          <a:xfrm>
            <a:off x="10607040" y="4892040"/>
            <a:ext cx="310896" cy="310896"/>
          </a:xfrm>
          <a:prstGeom prst="ellipse">
            <a:avLst/>
          </a:prstGeom>
          <a:solidFill>
            <a:schemeClr val="accent6"/>
          </a:solidFill>
          <a:ln w="12700">
            <a:solidFill>
              <a:schemeClr val="accent6"/>
            </a:solidFill>
            <a:prstDash val="solid"/>
          </a:ln>
        </p:spPr>
      </p:sp>
      <p:sp>
        <p:nvSpPr>
          <p:cNvPr id="99" name="Dot 89"/>
          <p:cNvSpPr/>
          <p:nvPr/>
        </p:nvSpPr>
        <p:spPr>
          <a:xfrm>
            <a:off x="11018520" y="4892040"/>
            <a:ext cx="310896" cy="310896"/>
          </a:xfrm>
          <a:prstGeom prst="ellipse">
            <a:avLst/>
          </a:prstGeom>
          <a:solidFill>
            <a:schemeClr val="accent6"/>
          </a:solidFill>
          <a:ln w="12700">
            <a:solidFill>
              <a:schemeClr val="accent6"/>
            </a:solidFill>
            <a:prstDash val="solid"/>
          </a:ln>
        </p:spPr>
      </p:sp>
      <p:sp>
        <p:nvSpPr>
          <p:cNvPr id="100" name="Dot 90"/>
          <p:cNvSpPr/>
          <p:nvPr/>
        </p:nvSpPr>
        <p:spPr>
          <a:xfrm>
            <a:off x="7315200" y="5303520"/>
            <a:ext cx="310896" cy="310896"/>
          </a:xfrm>
          <a:prstGeom prst="ellipse">
            <a:avLst/>
          </a:prstGeom>
          <a:solidFill>
            <a:schemeClr val="accent6"/>
          </a:solidFill>
          <a:ln w="12700">
            <a:solidFill>
              <a:schemeClr val="accent6"/>
            </a:solidFill>
            <a:prstDash val="solid"/>
          </a:ln>
        </p:spPr>
      </p:sp>
      <p:sp>
        <p:nvSpPr>
          <p:cNvPr id="101" name="Dot 91"/>
          <p:cNvSpPr/>
          <p:nvPr/>
        </p:nvSpPr>
        <p:spPr>
          <a:xfrm>
            <a:off x="7726680" y="5303520"/>
            <a:ext cx="310896" cy="310896"/>
          </a:xfrm>
          <a:prstGeom prst="ellipse">
            <a:avLst/>
          </a:prstGeom>
          <a:solidFill>
            <a:schemeClr val="accent6"/>
          </a:solidFill>
          <a:ln w="12700">
            <a:solidFill>
              <a:schemeClr val="accent6"/>
            </a:solidFill>
            <a:prstDash val="solid"/>
          </a:ln>
        </p:spPr>
      </p:sp>
      <p:sp>
        <p:nvSpPr>
          <p:cNvPr id="102" name="Dot 92"/>
          <p:cNvSpPr/>
          <p:nvPr/>
        </p:nvSpPr>
        <p:spPr>
          <a:xfrm>
            <a:off x="8138160" y="5303520"/>
            <a:ext cx="310896" cy="310896"/>
          </a:xfrm>
          <a:prstGeom prst="ellipse">
            <a:avLst/>
          </a:prstGeom>
          <a:solidFill>
            <a:schemeClr val="accent6"/>
          </a:solidFill>
          <a:ln w="12700">
            <a:solidFill>
              <a:schemeClr val="accent6"/>
            </a:solidFill>
            <a:prstDash val="solid"/>
          </a:ln>
        </p:spPr>
      </p:sp>
      <p:sp>
        <p:nvSpPr>
          <p:cNvPr id="103" name="Dot 93"/>
          <p:cNvSpPr/>
          <p:nvPr/>
        </p:nvSpPr>
        <p:spPr>
          <a:xfrm>
            <a:off x="8549640" y="5303520"/>
            <a:ext cx="310896" cy="310896"/>
          </a:xfrm>
          <a:prstGeom prst="ellipse">
            <a:avLst/>
          </a:prstGeom>
          <a:solidFill>
            <a:schemeClr val="accent6"/>
          </a:solidFill>
          <a:ln w="12700">
            <a:solidFill>
              <a:schemeClr val="accent6"/>
            </a:solidFill>
            <a:prstDash val="solid"/>
          </a:ln>
        </p:spPr>
      </p:sp>
      <p:sp>
        <p:nvSpPr>
          <p:cNvPr id="104" name="Dot 94"/>
          <p:cNvSpPr/>
          <p:nvPr/>
        </p:nvSpPr>
        <p:spPr>
          <a:xfrm>
            <a:off x="8961120" y="5303520"/>
            <a:ext cx="310896" cy="310896"/>
          </a:xfrm>
          <a:prstGeom prst="ellipse">
            <a:avLst/>
          </a:prstGeom>
          <a:solidFill>
            <a:schemeClr val="accent6"/>
          </a:solidFill>
          <a:ln w="12700">
            <a:solidFill>
              <a:schemeClr val="accent6"/>
            </a:solidFill>
            <a:prstDash val="solid"/>
          </a:ln>
        </p:spPr>
      </p:sp>
      <p:sp>
        <p:nvSpPr>
          <p:cNvPr id="105" name="Dot 95"/>
          <p:cNvSpPr/>
          <p:nvPr/>
        </p:nvSpPr>
        <p:spPr>
          <a:xfrm>
            <a:off x="9372600" y="5303520"/>
            <a:ext cx="310896" cy="310896"/>
          </a:xfrm>
          <a:prstGeom prst="ellipse">
            <a:avLst/>
          </a:prstGeom>
          <a:solidFill>
            <a:schemeClr val="accent6"/>
          </a:solidFill>
          <a:ln w="12700">
            <a:solidFill>
              <a:schemeClr val="accent6"/>
            </a:solidFill>
            <a:prstDash val="solid"/>
          </a:ln>
        </p:spPr>
      </p:sp>
      <p:sp>
        <p:nvSpPr>
          <p:cNvPr id="106" name="Dot 96"/>
          <p:cNvSpPr/>
          <p:nvPr/>
        </p:nvSpPr>
        <p:spPr>
          <a:xfrm>
            <a:off x="9784080" y="5303520"/>
            <a:ext cx="310896" cy="310896"/>
          </a:xfrm>
          <a:prstGeom prst="ellipse">
            <a:avLst/>
          </a:prstGeom>
          <a:solidFill>
            <a:schemeClr val="accent6"/>
          </a:solidFill>
          <a:ln w="12700">
            <a:solidFill>
              <a:schemeClr val="accent6"/>
            </a:solidFill>
            <a:prstDash val="solid"/>
          </a:ln>
        </p:spPr>
      </p:sp>
      <p:sp>
        <p:nvSpPr>
          <p:cNvPr id="107" name="Dot 97"/>
          <p:cNvSpPr/>
          <p:nvPr/>
        </p:nvSpPr>
        <p:spPr>
          <a:xfrm>
            <a:off x="10195560" y="5303520"/>
            <a:ext cx="310896" cy="310896"/>
          </a:xfrm>
          <a:prstGeom prst="ellipse">
            <a:avLst/>
          </a:prstGeom>
          <a:solidFill>
            <a:schemeClr val="accent6"/>
          </a:solidFill>
          <a:ln w="12700">
            <a:solidFill>
              <a:schemeClr val="accent6"/>
            </a:solidFill>
            <a:prstDash val="solid"/>
          </a:ln>
        </p:spPr>
      </p:sp>
      <p:sp>
        <p:nvSpPr>
          <p:cNvPr id="108" name="Dot 98"/>
          <p:cNvSpPr/>
          <p:nvPr/>
        </p:nvSpPr>
        <p:spPr>
          <a:xfrm>
            <a:off x="10607040" y="5303520"/>
            <a:ext cx="310896" cy="310896"/>
          </a:xfrm>
          <a:prstGeom prst="ellipse">
            <a:avLst/>
          </a:prstGeom>
          <a:solidFill>
            <a:schemeClr val="accent6"/>
          </a:solidFill>
          <a:ln w="12700">
            <a:solidFill>
              <a:schemeClr val="accent6"/>
            </a:solidFill>
            <a:prstDash val="solid"/>
          </a:ln>
        </p:spPr>
      </p:sp>
      <p:sp>
        <p:nvSpPr>
          <p:cNvPr id="109" name="Dot 99"/>
          <p:cNvSpPr/>
          <p:nvPr/>
        </p:nvSpPr>
        <p:spPr>
          <a:xfrm>
            <a:off x="11018520" y="5303520"/>
            <a:ext cx="310896" cy="310896"/>
          </a:xfrm>
          <a:prstGeom prst="ellipse">
            <a:avLst/>
          </a:prstGeom>
          <a:solidFill>
            <a:schemeClr val="accent6"/>
          </a:solidFill>
          <a:ln w="12700">
            <a:solidFill>
              <a:schemeClr val="accent6"/>
            </a:solidFill>
            <a:prstDash val="solid"/>
          </a:ln>
        </p:spPr>
      </p:sp>
      <p:sp>
        <p:nvSpPr>
          <p:cNvPr id="110" name="Text 107"/>
          <p:cNvSpPr txBox="1"/>
          <p:nvPr/>
        </p:nvSpPr>
        <p:spPr>
          <a:xfrm>
            <a:off x="7315200" y="5760720"/>
            <a:ext cx="4297680" cy="320040"/>
          </a:xfrm>
          <a:prstGeom prst="rect">
            <a:avLst/>
          </a:prstGeom>
          <a:noFill/>
          <a:ln/>
        </p:spPr>
        <p:txBody>
          <a:bodyPr wrap="square" lIns="0" tIns="0" rIns="0" bIns="0" rtlCol="0" anchor="t"/>
          <a:lstStyle/>
          <a:p>
            <a:pPr indent="0" marL="0">
              <a:buNone/>
            </a:pPr>
            <a:r>
              <a:rPr lang="en-US" sz="1200" dirty="0">
                <a:solidFill>
                  <a:schemeClr val="accent5"/>
                </a:solidFill>
              </a:rPr>
              <a:t>Illustration: about 1 fraud in every 100 transactions</a:t>
            </a:r>
            <a:endParaRPr lang="en-US" sz="1200" dirty="0"/>
          </a:p>
        </p:txBody>
      </p:sp>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914400"/>
          </a:xfrm>
          <a:prstGeom prst="rect">
            <a:avLst/>
          </a:prstGeom>
          <a:noFill/>
          <a:ln/>
        </p:spPr>
        <p:txBody>
          <a:bodyPr wrap="square" lIns="0" tIns="0" rIns="0" bIns="0" rtlCol="0" anchor="ctr"/>
          <a:lstStyle/>
          <a:p>
            <a:pPr algn="l" indent="0" marL="0">
              <a:buNone/>
            </a:pPr>
            <a:r>
              <a:rPr lang="en-US" sz="3600" b="1" dirty="0">
                <a:solidFill>
                  <a:schemeClr val="tx1"/>
                </a:solidFill>
              </a:rPr>
              <a:t>Data and features</a:t>
            </a:r>
            <a:endParaRPr lang="en-US" sz="3600" dirty="0"/>
          </a:p>
        </p:txBody>
      </p:sp>
      <p:sp>
        <p:nvSpPr>
          <p:cNvPr id="4" name="Card 1"/>
          <p:cNvSpPr/>
          <p:nvPr/>
        </p:nvSpPr>
        <p:spPr>
          <a:xfrm>
            <a:off x="640080" y="1554480"/>
            <a:ext cx="2514600" cy="3017520"/>
          </a:xfrm>
          <a:prstGeom prst="roundRect">
            <a:avLst>
              <a:gd name="adj" fmla="val 4364"/>
            </a:avLst>
          </a:prstGeom>
          <a:solidFill>
            <a:schemeClr val="bg2"/>
          </a:solidFill>
          <a:ln w="12700">
            <a:solidFill>
              <a:schemeClr val="bg2"/>
            </a:solidFill>
            <a:prstDash val="solid"/>
          </a:ln>
        </p:spPr>
      </p:sp>
      <p:sp>
        <p:nvSpPr>
          <p:cNvPr id="5" name="Base and category circle"/>
          <p:cNvSpPr/>
          <p:nvPr/>
        </p:nvSpPr>
        <p:spPr>
          <a:xfrm>
            <a:off x="914400" y="1828800"/>
            <a:ext cx="640080" cy="640080"/>
          </a:xfrm>
          <a:prstGeom prst="ellipse">
            <a:avLst/>
          </a:prstGeom>
          <a:solidFill>
            <a:schemeClr val="accent1"/>
          </a:solidFill>
          <a:ln w="12700">
            <a:solidFill>
              <a:schemeClr val="accent1"/>
            </a:solidFill>
            <a:prstDash val="solid"/>
          </a:ln>
        </p:spPr>
      </p:sp>
      <p:sp>
        <p:nvSpPr>
          <p:cNvPr id="6" name="Text 3"/>
          <p:cNvSpPr txBox="1"/>
          <p:nvPr/>
        </p:nvSpPr>
        <p:spPr>
          <a:xfrm>
            <a:off x="914400" y="2651760"/>
            <a:ext cx="1965960" cy="411480"/>
          </a:xfrm>
          <a:prstGeom prst="rect">
            <a:avLst/>
          </a:prstGeom>
          <a:noFill/>
          <a:ln/>
        </p:spPr>
        <p:txBody>
          <a:bodyPr wrap="square" lIns="0" tIns="0" rIns="0" bIns="0" rtlCol="0" anchor="t"/>
          <a:lstStyle/>
          <a:p>
            <a:pPr indent="0" marL="0">
              <a:buNone/>
            </a:pPr>
            <a:r>
              <a:rPr lang="en-US" sz="1900" b="1" dirty="0">
                <a:solidFill>
                  <a:schemeClr val="tx1"/>
                </a:solidFill>
              </a:rPr>
              <a:t>Base and category</a:t>
            </a:r>
            <a:endParaRPr lang="en-US" sz="1900" dirty="0"/>
          </a:p>
        </p:txBody>
      </p:sp>
      <p:sp>
        <p:nvSpPr>
          <p:cNvPr id="7" name="Text 4"/>
          <p:cNvSpPr txBox="1"/>
          <p:nvPr/>
        </p:nvSpPr>
        <p:spPr>
          <a:xfrm>
            <a:off x="914400" y="3154680"/>
            <a:ext cx="1965960" cy="1280160"/>
          </a:xfrm>
          <a:prstGeom prst="rect">
            <a:avLst/>
          </a:prstGeom>
          <a:noFill/>
          <a:ln/>
        </p:spPr>
        <p:txBody>
          <a:bodyPr wrap="square" lIns="0" tIns="0" rIns="0" bIns="0" rtlCol="0" anchor="t"/>
          <a:lstStyle/>
          <a:p>
            <a:pPr indent="0" marL="0">
              <a:buNone/>
            </a:pPr>
            <a:r>
              <a:rPr lang="en-US" sz="1500" dirty="0">
                <a:solidFill>
                  <a:schemeClr val="tx1"/>
                </a:solidFill>
              </a:rPr>
              <a:t>Amount, age, city size, and 14 category columns.</a:t>
            </a:r>
            <a:endParaRPr lang="en-US" sz="1500" dirty="0"/>
          </a:p>
        </p:txBody>
      </p:sp>
      <p:sp>
        <p:nvSpPr>
          <p:cNvPr id="8" name="Card 2"/>
          <p:cNvSpPr/>
          <p:nvPr/>
        </p:nvSpPr>
        <p:spPr>
          <a:xfrm>
            <a:off x="3429000" y="1554480"/>
            <a:ext cx="2514600" cy="3017520"/>
          </a:xfrm>
          <a:prstGeom prst="roundRect">
            <a:avLst>
              <a:gd name="adj" fmla="val 4364"/>
            </a:avLst>
          </a:prstGeom>
          <a:solidFill>
            <a:schemeClr val="bg2"/>
          </a:solidFill>
          <a:ln w="12700">
            <a:solidFill>
              <a:schemeClr val="bg2"/>
            </a:solidFill>
            <a:prstDash val="solid"/>
          </a:ln>
        </p:spPr>
      </p:sp>
      <p:sp>
        <p:nvSpPr>
          <p:cNvPr id="9" name="Time circle"/>
          <p:cNvSpPr/>
          <p:nvPr/>
        </p:nvSpPr>
        <p:spPr>
          <a:xfrm>
            <a:off x="3703320" y="1828800"/>
            <a:ext cx="640080" cy="640080"/>
          </a:xfrm>
          <a:prstGeom prst="ellipse">
            <a:avLst/>
          </a:prstGeom>
          <a:solidFill>
            <a:schemeClr val="accent1"/>
          </a:solidFill>
          <a:ln w="12700">
            <a:solidFill>
              <a:schemeClr val="accent1"/>
            </a:solidFill>
            <a:prstDash val="solid"/>
          </a:ln>
        </p:spPr>
      </p:sp>
      <p:sp>
        <p:nvSpPr>
          <p:cNvPr id="10" name="Text 7"/>
          <p:cNvSpPr txBox="1"/>
          <p:nvPr/>
        </p:nvSpPr>
        <p:spPr>
          <a:xfrm>
            <a:off x="3703320" y="2651760"/>
            <a:ext cx="1965960" cy="411480"/>
          </a:xfrm>
          <a:prstGeom prst="rect">
            <a:avLst/>
          </a:prstGeom>
          <a:noFill/>
          <a:ln/>
        </p:spPr>
        <p:txBody>
          <a:bodyPr wrap="square" lIns="0" tIns="0" rIns="0" bIns="0" rtlCol="0" anchor="t"/>
          <a:lstStyle/>
          <a:p>
            <a:pPr indent="0" marL="0">
              <a:buNone/>
            </a:pPr>
            <a:r>
              <a:rPr lang="en-US" sz="1900" b="1" dirty="0">
                <a:solidFill>
                  <a:schemeClr val="tx1"/>
                </a:solidFill>
              </a:rPr>
              <a:t>Time</a:t>
            </a:r>
            <a:endParaRPr lang="en-US" sz="1900" dirty="0"/>
          </a:p>
        </p:txBody>
      </p:sp>
      <p:sp>
        <p:nvSpPr>
          <p:cNvPr id="11" name="Text 8"/>
          <p:cNvSpPr txBox="1"/>
          <p:nvPr/>
        </p:nvSpPr>
        <p:spPr>
          <a:xfrm>
            <a:off x="3703320" y="3154680"/>
            <a:ext cx="1965960" cy="1280160"/>
          </a:xfrm>
          <a:prstGeom prst="rect">
            <a:avLst/>
          </a:prstGeom>
          <a:noFill/>
          <a:ln/>
        </p:spPr>
        <p:txBody>
          <a:bodyPr wrap="square" lIns="0" tIns="0" rIns="0" bIns="0" rtlCol="0" anchor="t"/>
          <a:lstStyle/>
          <a:p>
            <a:pPr indent="0" marL="0">
              <a:buNone/>
            </a:pPr>
            <a:r>
              <a:rPr lang="en-US" sz="1500" dirty="0">
                <a:solidFill>
                  <a:schemeClr val="tx1"/>
                </a:solidFill>
              </a:rPr>
              <a:t>Hour, weekday, weekend, and night flags.</a:t>
            </a:r>
            <a:endParaRPr lang="en-US" sz="1500" dirty="0"/>
          </a:p>
        </p:txBody>
      </p:sp>
      <p:sp>
        <p:nvSpPr>
          <p:cNvPr id="12" name="Card 3"/>
          <p:cNvSpPr/>
          <p:nvPr/>
        </p:nvSpPr>
        <p:spPr>
          <a:xfrm>
            <a:off x="6217920" y="1554480"/>
            <a:ext cx="2514600" cy="3017520"/>
          </a:xfrm>
          <a:prstGeom prst="roundRect">
            <a:avLst>
              <a:gd name="adj" fmla="val 4364"/>
            </a:avLst>
          </a:prstGeom>
          <a:solidFill>
            <a:schemeClr val="bg2"/>
          </a:solidFill>
          <a:ln w="12700">
            <a:solidFill>
              <a:schemeClr val="bg2"/>
            </a:solidFill>
            <a:prstDash val="solid"/>
          </a:ln>
        </p:spPr>
      </p:sp>
      <p:sp>
        <p:nvSpPr>
          <p:cNvPr id="13" name="Distance circle"/>
          <p:cNvSpPr/>
          <p:nvPr/>
        </p:nvSpPr>
        <p:spPr>
          <a:xfrm>
            <a:off x="6492240" y="1828800"/>
            <a:ext cx="640080" cy="640080"/>
          </a:xfrm>
          <a:prstGeom prst="ellipse">
            <a:avLst/>
          </a:prstGeom>
          <a:solidFill>
            <a:schemeClr val="accent1"/>
          </a:solidFill>
          <a:ln w="12700">
            <a:solidFill>
              <a:schemeClr val="accent1"/>
            </a:solidFill>
            <a:prstDash val="solid"/>
          </a:ln>
        </p:spPr>
      </p:sp>
      <p:sp>
        <p:nvSpPr>
          <p:cNvPr id="14" name="Text 11"/>
          <p:cNvSpPr txBox="1"/>
          <p:nvPr/>
        </p:nvSpPr>
        <p:spPr>
          <a:xfrm>
            <a:off x="6492240" y="2651760"/>
            <a:ext cx="1965960" cy="411480"/>
          </a:xfrm>
          <a:prstGeom prst="rect">
            <a:avLst/>
          </a:prstGeom>
          <a:noFill/>
          <a:ln/>
        </p:spPr>
        <p:txBody>
          <a:bodyPr wrap="square" lIns="0" tIns="0" rIns="0" bIns="0" rtlCol="0" anchor="t"/>
          <a:lstStyle/>
          <a:p>
            <a:pPr indent="0" marL="0">
              <a:buNone/>
            </a:pPr>
            <a:r>
              <a:rPr lang="en-US" sz="1900" b="1" dirty="0">
                <a:solidFill>
                  <a:schemeClr val="tx1"/>
                </a:solidFill>
              </a:rPr>
              <a:t>Distance</a:t>
            </a:r>
            <a:endParaRPr lang="en-US" sz="1900" dirty="0"/>
          </a:p>
        </p:txBody>
      </p:sp>
      <p:sp>
        <p:nvSpPr>
          <p:cNvPr id="15" name="Text 12"/>
          <p:cNvSpPr txBox="1"/>
          <p:nvPr/>
        </p:nvSpPr>
        <p:spPr>
          <a:xfrm>
            <a:off x="6492240" y="3154680"/>
            <a:ext cx="1965960" cy="1280160"/>
          </a:xfrm>
          <a:prstGeom prst="rect">
            <a:avLst/>
          </a:prstGeom>
          <a:noFill/>
          <a:ln/>
        </p:spPr>
        <p:txBody>
          <a:bodyPr wrap="square" lIns="0" tIns="0" rIns="0" bIns="0" rtlCol="0" anchor="t"/>
          <a:lstStyle/>
          <a:p>
            <a:pPr indent="0" marL="0">
              <a:buNone/>
            </a:pPr>
            <a:r>
              <a:rPr lang="en-US" sz="1500" dirty="0">
                <a:solidFill>
                  <a:schemeClr val="tx1"/>
                </a:solidFill>
              </a:rPr>
              <a:t>Haversine miles from home to the merchant.</a:t>
            </a:r>
            <a:endParaRPr lang="en-US" sz="1500" dirty="0"/>
          </a:p>
        </p:txBody>
      </p:sp>
      <p:sp>
        <p:nvSpPr>
          <p:cNvPr id="16" name="Card 4"/>
          <p:cNvSpPr/>
          <p:nvPr/>
        </p:nvSpPr>
        <p:spPr>
          <a:xfrm>
            <a:off x="9006840" y="1554480"/>
            <a:ext cx="2514600" cy="3017520"/>
          </a:xfrm>
          <a:prstGeom prst="roundRect">
            <a:avLst>
              <a:gd name="adj" fmla="val 4364"/>
            </a:avLst>
          </a:prstGeom>
          <a:solidFill>
            <a:schemeClr val="bg2"/>
          </a:solidFill>
          <a:ln w="12700">
            <a:solidFill>
              <a:schemeClr val="bg2"/>
            </a:solidFill>
            <a:prstDash val="solid"/>
          </a:ln>
        </p:spPr>
      </p:sp>
      <p:sp>
        <p:nvSpPr>
          <p:cNvPr id="17" name="History circle"/>
          <p:cNvSpPr/>
          <p:nvPr/>
        </p:nvSpPr>
        <p:spPr>
          <a:xfrm>
            <a:off x="9281160" y="1828800"/>
            <a:ext cx="640080" cy="640080"/>
          </a:xfrm>
          <a:prstGeom prst="ellipse">
            <a:avLst/>
          </a:prstGeom>
          <a:solidFill>
            <a:schemeClr val="accent1"/>
          </a:solidFill>
          <a:ln w="12700">
            <a:solidFill>
              <a:schemeClr val="accent1"/>
            </a:solidFill>
            <a:prstDash val="solid"/>
          </a:ln>
        </p:spPr>
      </p:sp>
      <p:sp>
        <p:nvSpPr>
          <p:cNvPr id="18" name="Text 15"/>
          <p:cNvSpPr txBox="1"/>
          <p:nvPr/>
        </p:nvSpPr>
        <p:spPr>
          <a:xfrm>
            <a:off x="9281160" y="2651760"/>
            <a:ext cx="1965960" cy="411480"/>
          </a:xfrm>
          <a:prstGeom prst="rect">
            <a:avLst/>
          </a:prstGeom>
          <a:noFill/>
          <a:ln/>
        </p:spPr>
        <p:txBody>
          <a:bodyPr wrap="square" lIns="0" tIns="0" rIns="0" bIns="0" rtlCol="0" anchor="t"/>
          <a:lstStyle/>
          <a:p>
            <a:pPr indent="0" marL="0">
              <a:buNone/>
            </a:pPr>
            <a:r>
              <a:rPr lang="en-US" sz="1900" b="1" dirty="0">
                <a:solidFill>
                  <a:schemeClr val="tx1"/>
                </a:solidFill>
              </a:rPr>
              <a:t>History</a:t>
            </a:r>
            <a:endParaRPr lang="en-US" sz="1900" dirty="0"/>
          </a:p>
        </p:txBody>
      </p:sp>
      <p:sp>
        <p:nvSpPr>
          <p:cNvPr id="19" name="Text 16"/>
          <p:cNvSpPr txBox="1"/>
          <p:nvPr/>
        </p:nvSpPr>
        <p:spPr>
          <a:xfrm>
            <a:off x="9281160" y="3154680"/>
            <a:ext cx="1965960" cy="1280160"/>
          </a:xfrm>
          <a:prstGeom prst="rect">
            <a:avLst/>
          </a:prstGeom>
          <a:noFill/>
          <a:ln/>
        </p:spPr>
        <p:txBody>
          <a:bodyPr wrap="square" lIns="0" tIns="0" rIns="0" bIns="0" rtlCol="0" anchor="t"/>
          <a:lstStyle/>
          <a:p>
            <a:pPr indent="0" marL="0">
              <a:buNone/>
            </a:pPr>
            <a:r>
              <a:rPr lang="en-US" sz="1500" dirty="0">
                <a:solidFill>
                  <a:schemeClr val="tx1"/>
                </a:solidFill>
              </a:rPr>
              <a:t>Gaps, speed, amount vs average, recent counts.</a:t>
            </a:r>
            <a:endParaRPr lang="en-US" sz="1500" dirty="0"/>
          </a:p>
        </p:txBody>
      </p:sp>
      <p:sp>
        <p:nvSpPr>
          <p:cNvPr id="20" name="Strip"/>
          <p:cNvSpPr/>
          <p:nvPr/>
        </p:nvSpPr>
        <p:spPr>
          <a:xfrm>
            <a:off x="640080" y="4937760"/>
            <a:ext cx="10881360" cy="1097280"/>
          </a:xfrm>
          <a:prstGeom prst="roundRect">
            <a:avLst>
              <a:gd name="adj" fmla="val 10000"/>
            </a:avLst>
          </a:prstGeom>
          <a:solidFill>
            <a:schemeClr val="bg2"/>
          </a:solidFill>
          <a:ln w="12700">
            <a:solidFill>
              <a:schemeClr val="bg2"/>
            </a:solidFill>
            <a:prstDash val="solid"/>
          </a:ln>
        </p:spPr>
      </p:sp>
      <p:sp>
        <p:nvSpPr>
          <p:cNvPr id="21" name="Strip circle"/>
          <p:cNvSpPr/>
          <p:nvPr/>
        </p:nvSpPr>
        <p:spPr>
          <a:xfrm>
            <a:off x="914400" y="5120640"/>
            <a:ext cx="731520" cy="731520"/>
          </a:xfrm>
          <a:prstGeom prst="ellipse">
            <a:avLst/>
          </a:prstGeom>
          <a:solidFill>
            <a:schemeClr val="accent3"/>
          </a:solidFill>
          <a:ln w="12700">
            <a:solidFill>
              <a:schemeClr val="accent3"/>
            </a:solidFill>
            <a:prstDash val="solid"/>
          </a:ln>
        </p:spPr>
      </p:sp>
      <p:sp>
        <p:nvSpPr>
          <p:cNvPr id="22" name="Text 19"/>
          <p:cNvSpPr txBox="1"/>
          <p:nvPr/>
        </p:nvSpPr>
        <p:spPr>
          <a:xfrm>
            <a:off x="1920240" y="5120640"/>
            <a:ext cx="9326880" cy="731520"/>
          </a:xfrm>
          <a:prstGeom prst="rect">
            <a:avLst/>
          </a:prstGeom>
          <a:noFill/>
          <a:ln/>
        </p:spPr>
        <p:txBody>
          <a:bodyPr wrap="square" lIns="0" tIns="0" rIns="0" bIns="0" rtlCol="0" anchor="ctr"/>
          <a:lstStyle/>
          <a:p>
            <a:pPr indent="0" marL="0">
              <a:buNone/>
            </a:pPr>
            <a:r>
              <a:rPr lang="en-US" sz="1600" b="1" dirty="0">
                <a:solidFill>
                  <a:schemeClr val="tx1"/>
                </a:solidFill>
              </a:rPr>
              <a:t>Dataset: </a:t>
            </a:r>
            <a:pPr indent="0" marL="0">
              <a:buNone/>
            </a:pPr>
            <a:r>
              <a:rPr lang="en-US" sz="1600" dirty="0">
                <a:solidFill>
                  <a:schemeClr val="tx1"/>
                </a:solidFill>
              </a:rPr>
              <a:t>822,484 simulated transactions, 999 customers, 1.2% fraud.</a:t>
            </a:r>
            <a:endParaRPr lang="en-US" sz="1600" dirty="0"/>
          </a:p>
        </p:txBody>
      </p:sp>
      <p:pic>
        <p:nvPicPr>
          <p:cNvPr id="23" name="Time icon" descr="Time">    </p:cNvPr>
          <p:cNvPicPr>
            <a:picLocks noChangeAspect="1"/>
          </p:cNvPicPr>
          <p:nvPr/>
        </p:nvPicPr>
        <p:blipFill>
          <a:blip r:embed="rId1"/>
          <a:stretch>
            <a:fillRect/>
          </a:stretch>
        </p:blipFill>
        <p:spPr>
          <a:xfrm>
            <a:off x="3844138" y="1969618"/>
            <a:ext cx="358445" cy="358445"/>
          </a:xfrm>
          <a:prstGeom prst="rect">
            <a:avLst/>
          </a:prstGeom>
        </p:spPr>
      </p:pic>
      <p:pic>
        <p:nvPicPr>
          <p:cNvPr id="24" name="Base and category icon" descr="Base and category">    </p:cNvPr>
          <p:cNvPicPr>
            <a:picLocks noChangeAspect="1"/>
          </p:cNvPicPr>
          <p:nvPr/>
        </p:nvPicPr>
        <p:blipFill>
          <a:blip r:embed="rId2"/>
          <a:stretch>
            <a:fillRect/>
          </a:stretch>
        </p:blipFill>
        <p:spPr>
          <a:xfrm>
            <a:off x="1055218" y="1969618"/>
            <a:ext cx="358445" cy="358445"/>
          </a:xfrm>
          <a:prstGeom prst="rect">
            <a:avLst/>
          </a:prstGeom>
        </p:spPr>
      </p:pic>
      <p:pic>
        <p:nvPicPr>
          <p:cNvPr id="25" name="Strip icon" descr="Strip">    </p:cNvPr>
          <p:cNvPicPr>
            <a:picLocks noChangeAspect="1"/>
          </p:cNvPicPr>
          <p:nvPr/>
        </p:nvPicPr>
        <p:blipFill>
          <a:blip r:embed="rId3"/>
          <a:stretch>
            <a:fillRect/>
          </a:stretch>
        </p:blipFill>
        <p:spPr>
          <a:xfrm>
            <a:off x="1075334" y="5281574"/>
            <a:ext cx="409651" cy="409651"/>
          </a:xfrm>
          <a:prstGeom prst="rect">
            <a:avLst/>
          </a:prstGeom>
        </p:spPr>
      </p:pic>
      <p:pic>
        <p:nvPicPr>
          <p:cNvPr id="26" name="Distance icon" descr="Distance">    </p:cNvPr>
          <p:cNvPicPr>
            <a:picLocks noChangeAspect="1"/>
          </p:cNvPicPr>
          <p:nvPr/>
        </p:nvPicPr>
        <p:blipFill>
          <a:blip r:embed="rId4"/>
          <a:stretch>
            <a:fillRect/>
          </a:stretch>
        </p:blipFill>
        <p:spPr>
          <a:xfrm>
            <a:off x="6633058" y="1969618"/>
            <a:ext cx="358445" cy="358445"/>
          </a:xfrm>
          <a:prstGeom prst="rect">
            <a:avLst/>
          </a:prstGeom>
        </p:spPr>
      </p:pic>
      <p:pic>
        <p:nvPicPr>
          <p:cNvPr id="27" name="History icon" descr="History">    </p:cNvPr>
          <p:cNvPicPr>
            <a:picLocks noChangeAspect="1"/>
          </p:cNvPicPr>
          <p:nvPr/>
        </p:nvPicPr>
        <p:blipFill>
          <a:blip r:embed="rId5"/>
          <a:stretch>
            <a:fillRect/>
          </a:stretch>
        </p:blipFill>
        <p:spPr>
          <a:xfrm>
            <a:off x="9421978" y="1969618"/>
            <a:ext cx="358445" cy="358445"/>
          </a:xfrm>
          <a:prstGeom prst="rect">
            <a:avLst/>
          </a:prstGeom>
        </p:spPr>
      </p:pic>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914400"/>
          </a:xfrm>
          <a:prstGeom prst="rect">
            <a:avLst/>
          </a:prstGeom>
          <a:noFill/>
          <a:ln/>
        </p:spPr>
        <p:txBody>
          <a:bodyPr wrap="square" lIns="0" tIns="0" rIns="0" bIns="0" rtlCol="0" anchor="ctr"/>
          <a:lstStyle/>
          <a:p>
            <a:pPr algn="l" indent="0" marL="0">
              <a:buNone/>
            </a:pPr>
            <a:r>
              <a:rPr lang="en-US" sz="3600" b="1" dirty="0">
                <a:solidFill>
                  <a:schemeClr val="tx1"/>
                </a:solidFill>
              </a:rPr>
              <a:t>Dimensionality reduction: PCA</a:t>
            </a:r>
            <a:endParaRPr lang="en-US" sz="3600" dirty="0"/>
          </a:p>
        </p:txBody>
      </p:sp>
      <p:sp>
        <p:nvSpPr>
          <p:cNvPr id="4" name="Text 1"/>
          <p:cNvSpPr txBox="1"/>
          <p:nvPr/>
        </p:nvSpPr>
        <p:spPr>
          <a:xfrm>
            <a:off x="640080" y="1371600"/>
            <a:ext cx="5486400" cy="365760"/>
          </a:xfrm>
          <a:prstGeom prst="rect">
            <a:avLst/>
          </a:prstGeom>
          <a:noFill/>
          <a:ln/>
        </p:spPr>
        <p:txBody>
          <a:bodyPr wrap="square" lIns="0" tIns="0" rIns="0" bIns="0" rtlCol="0" anchor="t"/>
          <a:lstStyle/>
          <a:p>
            <a:pPr indent="0" marL="0">
              <a:buNone/>
            </a:pPr>
            <a:r>
              <a:rPr lang="en-US" sz="1500" b="1" dirty="0">
                <a:solidFill>
                  <a:schemeClr val="tx1"/>
                </a:solidFill>
              </a:rPr>
              <a:t>Share of variance explained by each component</a:t>
            </a:r>
            <a:endParaRPr lang="en-US" sz="1500" dirty="0"/>
          </a:p>
        </p:txBody>
      </p:sp>
      <p:graphicFrame>
        <p:nvGraphicFramePr>
          <p:cNvPr id="5" name="Scree chart" descr=""/>
          <p:cNvGraphicFramePr/>
          <p:nvPr/>
        </p:nvGraphicFramePr>
        <p:xfrm>
          <a:off x="640080" y="1783080"/>
          <a:ext cx="5486400" cy="320040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6583680" y="1371600"/>
            <a:ext cx="4937760" cy="365760"/>
          </a:xfrm>
          <a:prstGeom prst="rect">
            <a:avLst/>
          </a:prstGeom>
          <a:noFill/>
          <a:ln/>
        </p:spPr>
        <p:txBody>
          <a:bodyPr wrap="square" lIns="0" tIns="0" rIns="0" bIns="0" rtlCol="0" anchor="t"/>
          <a:lstStyle/>
          <a:p>
            <a:pPr indent="0" marL="0">
              <a:buNone/>
            </a:pPr>
            <a:r>
              <a:rPr lang="en-US" sz="1500" b="1" dirty="0">
                <a:solidFill>
                  <a:schemeClr val="tx1"/>
                </a:solidFill>
              </a:rPr>
              <a:t>First two components (60,000 sampled transactions)</a:t>
            </a:r>
            <a:endParaRPr lang="en-US" sz="1500" dirty="0"/>
          </a:p>
        </p:txBody>
      </p:sp>
      <p:pic>
        <p:nvPicPr>
          <p:cNvPr id="7" name="PCA scatter" descr="PCA projection of normal and fraud transactions">    </p:cNvPr>
          <p:cNvPicPr>
            <a:picLocks noChangeAspect="1"/>
          </p:cNvPicPr>
          <p:nvPr/>
        </p:nvPicPr>
        <p:blipFill>
          <a:blip r:embed="rId2"/>
          <a:stretch>
            <a:fillRect/>
          </a:stretch>
        </p:blipFill>
        <p:spPr>
          <a:xfrm>
            <a:off x="6583680" y="1783080"/>
            <a:ext cx="4480560" cy="3182112"/>
          </a:xfrm>
          <a:prstGeom prst="rect">
            <a:avLst/>
          </a:prstGeom>
        </p:spPr>
      </p:pic>
      <p:sp>
        <p:nvSpPr>
          <p:cNvPr id="8" name="Strip"/>
          <p:cNvSpPr/>
          <p:nvPr/>
        </p:nvSpPr>
        <p:spPr>
          <a:xfrm>
            <a:off x="640080" y="5166360"/>
            <a:ext cx="10881360" cy="1097280"/>
          </a:xfrm>
          <a:prstGeom prst="roundRect">
            <a:avLst>
              <a:gd name="adj" fmla="val 10000"/>
            </a:avLst>
          </a:prstGeom>
          <a:solidFill>
            <a:schemeClr val="bg2"/>
          </a:solidFill>
          <a:ln w="12700">
            <a:solidFill>
              <a:schemeClr val="bg2"/>
            </a:solidFill>
            <a:prstDash val="solid"/>
          </a:ln>
        </p:spPr>
      </p:sp>
      <p:sp>
        <p:nvSpPr>
          <p:cNvPr id="9" name="Strip circle"/>
          <p:cNvSpPr/>
          <p:nvPr/>
        </p:nvSpPr>
        <p:spPr>
          <a:xfrm>
            <a:off x="914400" y="5349240"/>
            <a:ext cx="731520" cy="731520"/>
          </a:xfrm>
          <a:prstGeom prst="ellipse">
            <a:avLst/>
          </a:prstGeom>
          <a:solidFill>
            <a:schemeClr val="accent3"/>
          </a:solidFill>
          <a:ln w="12700">
            <a:solidFill>
              <a:schemeClr val="accent3"/>
            </a:solidFill>
            <a:prstDash val="solid"/>
          </a:ln>
        </p:spPr>
      </p:sp>
      <p:sp>
        <p:nvSpPr>
          <p:cNvPr id="10" name="Text 5"/>
          <p:cNvSpPr txBox="1"/>
          <p:nvPr/>
        </p:nvSpPr>
        <p:spPr>
          <a:xfrm>
            <a:off x="1920240" y="5349240"/>
            <a:ext cx="9326880" cy="731520"/>
          </a:xfrm>
          <a:prstGeom prst="rect">
            <a:avLst/>
          </a:prstGeom>
          <a:noFill/>
          <a:ln/>
        </p:spPr>
        <p:txBody>
          <a:bodyPr wrap="square" lIns="0" tIns="0" rIns="0" bIns="0" rtlCol="0" anchor="ctr"/>
          <a:lstStyle/>
          <a:p>
            <a:pPr indent="0" marL="0">
              <a:buNone/>
            </a:pPr>
            <a:r>
              <a:rPr lang="en-US" sz="1600" b="1" dirty="0">
                <a:solidFill>
                  <a:schemeClr val="tx1"/>
                </a:solidFill>
              </a:rPr>
              <a:t>25 of 31 components keep 95% of the variance. </a:t>
            </a:r>
            <a:pPr indent="0" marL="0">
              <a:buNone/>
            </a:pPr>
            <a:r>
              <a:rPr lang="en-US" sz="1600" dirty="0">
                <a:solidFill>
                  <a:schemeClr val="tx1"/>
                </a:solidFill>
              </a:rPr>
              <a:t>The first two keep 17%: PC1 tracks recent activity, PC2 tracks amount.</a:t>
            </a:r>
            <a:endParaRPr lang="en-US" sz="1600" dirty="0"/>
          </a:p>
        </p:txBody>
      </p:sp>
      <p:pic>
        <p:nvPicPr>
          <p:cNvPr id="11" name="Strip icon" descr="Strip">    </p:cNvPr>
          <p:cNvPicPr>
            <a:picLocks noChangeAspect="1"/>
          </p:cNvPicPr>
          <p:nvPr/>
        </p:nvPicPr>
        <p:blipFill>
          <a:blip r:embed="rId3"/>
          <a:stretch>
            <a:fillRect/>
          </a:stretch>
        </p:blipFill>
        <p:spPr>
          <a:xfrm>
            <a:off x="1075334" y="5510174"/>
            <a:ext cx="409651" cy="409651"/>
          </a:xfrm>
          <a:prstGeom prst="rect">
            <a:avLst/>
          </a:prstGeom>
        </p:spPr>
      </p:pic>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914400"/>
          </a:xfrm>
          <a:prstGeom prst="rect">
            <a:avLst/>
          </a:prstGeom>
          <a:noFill/>
          <a:ln/>
        </p:spPr>
        <p:txBody>
          <a:bodyPr wrap="square" lIns="0" tIns="0" rIns="0" bIns="0" rtlCol="0" anchor="ctr"/>
          <a:lstStyle/>
          <a:p>
            <a:pPr algn="l" indent="0" marL="0">
              <a:buNone/>
            </a:pPr>
            <a:r>
              <a:rPr lang="en-US" sz="3600" b="1" dirty="0">
                <a:solidFill>
                  <a:schemeClr val="tx1"/>
                </a:solidFill>
              </a:rPr>
              <a:t>t-SNE and PCA in the models</a:t>
            </a:r>
            <a:endParaRPr lang="en-US" sz="3600" dirty="0"/>
          </a:p>
        </p:txBody>
      </p:sp>
      <p:sp>
        <p:nvSpPr>
          <p:cNvPr id="4" name="Text 1"/>
          <p:cNvSpPr txBox="1"/>
          <p:nvPr/>
        </p:nvSpPr>
        <p:spPr>
          <a:xfrm>
            <a:off x="640080" y="1371600"/>
            <a:ext cx="5303520" cy="365760"/>
          </a:xfrm>
          <a:prstGeom prst="rect">
            <a:avLst/>
          </a:prstGeom>
          <a:noFill/>
          <a:ln/>
        </p:spPr>
        <p:txBody>
          <a:bodyPr wrap="square" lIns="0" tIns="0" rIns="0" bIns="0" rtlCol="0" anchor="t"/>
          <a:lstStyle/>
          <a:p>
            <a:pPr indent="0" marL="0">
              <a:buNone/>
            </a:pPr>
            <a:r>
              <a:rPr lang="en-US" sz="1500" b="1" dirty="0">
                <a:solidFill>
                  <a:schemeClr val="tx1"/>
                </a:solidFill>
              </a:rPr>
              <a:t>t-SNE: 3,000 fraud and 3,000 normal transactions</a:t>
            </a:r>
            <a:endParaRPr lang="en-US" sz="1500" dirty="0"/>
          </a:p>
        </p:txBody>
      </p:sp>
      <p:pic>
        <p:nvPicPr>
          <p:cNvPr id="5" name="tSNE scatter" descr="t-SNE embedding of fraud and normal transactions">    </p:cNvPr>
          <p:cNvPicPr>
            <a:picLocks noChangeAspect="1"/>
          </p:cNvPicPr>
          <p:nvPr/>
        </p:nvPicPr>
        <p:blipFill>
          <a:blip r:embed="rId1"/>
          <a:stretch>
            <a:fillRect/>
          </a:stretch>
        </p:blipFill>
        <p:spPr>
          <a:xfrm>
            <a:off x="640080" y="1783080"/>
            <a:ext cx="4480560" cy="3182112"/>
          </a:xfrm>
          <a:prstGeom prst="rect">
            <a:avLst/>
          </a:prstGeom>
        </p:spPr>
      </p:pic>
      <p:sp>
        <p:nvSpPr>
          <p:cNvPr id="6" name="Text 2"/>
          <p:cNvSpPr txBox="1"/>
          <p:nvPr/>
        </p:nvSpPr>
        <p:spPr>
          <a:xfrm>
            <a:off x="5943600" y="1371600"/>
            <a:ext cx="5577840" cy="365760"/>
          </a:xfrm>
          <a:prstGeom prst="rect">
            <a:avLst/>
          </a:prstGeom>
          <a:noFill/>
          <a:ln/>
        </p:spPr>
        <p:txBody>
          <a:bodyPr wrap="square" lIns="0" tIns="0" rIns="0" bIns="0" rtlCol="0" anchor="t"/>
          <a:lstStyle/>
          <a:p>
            <a:pPr indent="0" marL="0">
              <a:buNone/>
            </a:pPr>
            <a:r>
              <a:rPr lang="en-US" sz="1500" b="1" dirty="0">
                <a:solidFill>
                  <a:schemeClr val="tx1"/>
                </a:solidFill>
              </a:rPr>
              <a:t>Test PR-AUC with and without PCA inputs</a:t>
            </a:r>
            <a:endParaRPr lang="en-US" sz="1500" dirty="0"/>
          </a:p>
        </p:txBody>
      </p:sp>
      <p:graphicFrame>
        <p:nvGraphicFramePr>
          <p:cNvPr id="7" name="PCA models chart" descr=""/>
          <p:cNvGraphicFramePr/>
          <p:nvPr/>
        </p:nvGraphicFramePr>
        <p:xfrm>
          <a:off x="5943600" y="1783080"/>
          <a:ext cx="5577840" cy="3200400"/>
        </p:xfrm>
        <a:graphic xmlns:a="http://schemas.openxmlformats.org/drawingml/2006/main">
          <a:graphicData uri="http://schemas.openxmlformats.org/drawingml/2006/chart">
            <c:chart xmlns:c="http://schemas.openxmlformats.org/drawingml/2006/chart" r:id="rId2"/>
          </a:graphicData>
        </a:graphic>
      </p:graphicFrame>
      <p:sp>
        <p:nvSpPr>
          <p:cNvPr id="8" name="Strip"/>
          <p:cNvSpPr/>
          <p:nvPr/>
        </p:nvSpPr>
        <p:spPr>
          <a:xfrm>
            <a:off x="640080" y="5166360"/>
            <a:ext cx="10881360" cy="1097280"/>
          </a:xfrm>
          <a:prstGeom prst="roundRect">
            <a:avLst>
              <a:gd name="adj" fmla="val 10000"/>
            </a:avLst>
          </a:prstGeom>
          <a:solidFill>
            <a:schemeClr val="bg2"/>
          </a:solidFill>
          <a:ln w="12700">
            <a:solidFill>
              <a:schemeClr val="bg2"/>
            </a:solidFill>
            <a:prstDash val="solid"/>
          </a:ln>
        </p:spPr>
      </p:sp>
      <p:sp>
        <p:nvSpPr>
          <p:cNvPr id="9" name="Strip circle"/>
          <p:cNvSpPr/>
          <p:nvPr/>
        </p:nvSpPr>
        <p:spPr>
          <a:xfrm>
            <a:off x="914400" y="5349240"/>
            <a:ext cx="731520" cy="731520"/>
          </a:xfrm>
          <a:prstGeom prst="ellipse">
            <a:avLst/>
          </a:prstGeom>
          <a:solidFill>
            <a:schemeClr val="accent3"/>
          </a:solidFill>
          <a:ln w="12700">
            <a:solidFill>
              <a:schemeClr val="accent3"/>
            </a:solidFill>
            <a:prstDash val="solid"/>
          </a:ln>
        </p:spPr>
      </p:sp>
      <p:sp>
        <p:nvSpPr>
          <p:cNvPr id="10" name="Text 5"/>
          <p:cNvSpPr txBox="1"/>
          <p:nvPr/>
        </p:nvSpPr>
        <p:spPr>
          <a:xfrm>
            <a:off x="1920240" y="5349240"/>
            <a:ext cx="9326880" cy="731520"/>
          </a:xfrm>
          <a:prstGeom prst="rect">
            <a:avLst/>
          </a:prstGeom>
          <a:noFill/>
          <a:ln/>
        </p:spPr>
        <p:txBody>
          <a:bodyPr wrap="square" lIns="0" tIns="0" rIns="0" bIns="0" rtlCol="0" anchor="ctr"/>
          <a:lstStyle/>
          <a:p>
            <a:pPr indent="0" marL="0">
              <a:buNone/>
            </a:pPr>
            <a:r>
              <a:rPr lang="en-US" sz="1600" b="1" dirty="0">
                <a:solidFill>
                  <a:schemeClr val="tx1"/>
                </a:solidFill>
              </a:rPr>
              <a:t>Fraud forms local clusters (84% of a fraud point's 10 nearest neighbors are fraud). </a:t>
            </a:r>
            <a:pPr indent="0" marL="0">
              <a:buNone/>
            </a:pPr>
            <a:r>
              <a:rPr lang="en-US" sz="1600" dirty="0">
                <a:solidFill>
                  <a:schemeClr val="tx1"/>
                </a:solidFill>
              </a:rPr>
              <a:t>Random forest keeps 0.70 of 0.76 after PCA on continuous inputs, but only 0.004 after PCA on all 31 features.</a:t>
            </a:r>
            <a:endParaRPr lang="en-US" sz="1600" dirty="0"/>
          </a:p>
        </p:txBody>
      </p:sp>
      <p:pic>
        <p:nvPicPr>
          <p:cNvPr id="11" name="Strip icon" descr="Strip">    </p:cNvPr>
          <p:cNvPicPr>
            <a:picLocks noChangeAspect="1"/>
          </p:cNvPicPr>
          <p:nvPr/>
        </p:nvPicPr>
        <p:blipFill>
          <a:blip r:embed="rId3"/>
          <a:stretch>
            <a:fillRect/>
          </a:stretch>
        </p:blipFill>
        <p:spPr>
          <a:xfrm>
            <a:off x="1075334" y="5510174"/>
            <a:ext cx="409651" cy="409651"/>
          </a:xfrm>
          <a:prstGeom prst="rect">
            <a:avLst/>
          </a:prstGeom>
        </p:spPr>
      </p:pic>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914400"/>
          </a:xfrm>
          <a:prstGeom prst="rect">
            <a:avLst/>
          </a:prstGeom>
          <a:noFill/>
          <a:ln/>
        </p:spPr>
        <p:txBody>
          <a:bodyPr wrap="square" lIns="0" tIns="0" rIns="0" bIns="0" rtlCol="0" anchor="ctr"/>
          <a:lstStyle/>
          <a:p>
            <a:pPr algn="l" indent="0" marL="0">
              <a:buNone/>
            </a:pPr>
            <a:r>
              <a:rPr lang="en-US" sz="3600" b="1" dirty="0">
                <a:solidFill>
                  <a:schemeClr val="tx1"/>
                </a:solidFill>
              </a:rPr>
              <a:t>Methods and cross-validation</a:t>
            </a:r>
            <a:endParaRPr lang="en-US" sz="3600" dirty="0"/>
          </a:p>
        </p:txBody>
      </p:sp>
      <p:sp>
        <p:nvSpPr>
          <p:cNvPr id="4" name="Chunk label 0"/>
          <p:cNvSpPr txBox="1"/>
          <p:nvPr/>
        </p:nvSpPr>
        <p:spPr>
          <a:xfrm>
            <a:off x="1737360" y="1417320"/>
            <a:ext cx="1362456" cy="502920"/>
          </a:xfrm>
          <a:prstGeom prst="rect">
            <a:avLst/>
          </a:prstGeom>
          <a:noFill/>
          <a:ln/>
        </p:spPr>
        <p:txBody>
          <a:bodyPr wrap="square" lIns="0" tIns="0" rIns="0" bIns="0" rtlCol="0" anchor="ctr"/>
          <a:lstStyle/>
          <a:p>
            <a:pPr algn="ctr" indent="0" marL="0">
              <a:buNone/>
            </a:pPr>
            <a:r>
              <a:rPr lang="en-US" sz="1200" dirty="0">
                <a:solidFill>
                  <a:schemeClr val="accent5"/>
                </a:solidFill>
              </a:rPr>
              <a:t>Jan 1 to Mar 14</a:t>
            </a:r>
            <a:endParaRPr lang="en-US" sz="1200" dirty="0"/>
          </a:p>
        </p:txBody>
      </p:sp>
      <p:sp>
        <p:nvSpPr>
          <p:cNvPr id="5" name="Chunk label 1"/>
          <p:cNvSpPr txBox="1"/>
          <p:nvPr/>
        </p:nvSpPr>
        <p:spPr>
          <a:xfrm>
            <a:off x="3136392" y="1417320"/>
            <a:ext cx="1362456" cy="502920"/>
          </a:xfrm>
          <a:prstGeom prst="rect">
            <a:avLst/>
          </a:prstGeom>
          <a:noFill/>
          <a:ln/>
        </p:spPr>
        <p:txBody>
          <a:bodyPr wrap="square" lIns="0" tIns="0" rIns="0" bIns="0" rtlCol="0" anchor="ctr"/>
          <a:lstStyle/>
          <a:p>
            <a:pPr algn="ctr" indent="0" marL="0">
              <a:buNone/>
            </a:pPr>
            <a:r>
              <a:rPr lang="en-US" sz="1200" dirty="0">
                <a:solidFill>
                  <a:schemeClr val="accent5"/>
                </a:solidFill>
              </a:rPr>
              <a:t>Mar 14 to May 10</a:t>
            </a:r>
            <a:endParaRPr lang="en-US" sz="1200" dirty="0"/>
          </a:p>
        </p:txBody>
      </p:sp>
      <p:sp>
        <p:nvSpPr>
          <p:cNvPr id="6" name="Chunk label 2"/>
          <p:cNvSpPr txBox="1"/>
          <p:nvPr/>
        </p:nvSpPr>
        <p:spPr>
          <a:xfrm>
            <a:off x="4535424" y="1417320"/>
            <a:ext cx="1362456" cy="502920"/>
          </a:xfrm>
          <a:prstGeom prst="rect">
            <a:avLst/>
          </a:prstGeom>
          <a:noFill/>
          <a:ln/>
        </p:spPr>
        <p:txBody>
          <a:bodyPr wrap="square" lIns="0" tIns="0" rIns="0" bIns="0" rtlCol="0" anchor="ctr"/>
          <a:lstStyle/>
          <a:p>
            <a:pPr algn="ctr" indent="0" marL="0">
              <a:buNone/>
            </a:pPr>
            <a:r>
              <a:rPr lang="en-US" sz="1200" dirty="0">
                <a:solidFill>
                  <a:schemeClr val="accent5"/>
                </a:solidFill>
              </a:rPr>
              <a:t>May 10 to Jun 28</a:t>
            </a:r>
            <a:endParaRPr lang="en-US" sz="1200" dirty="0"/>
          </a:p>
        </p:txBody>
      </p:sp>
      <p:sp>
        <p:nvSpPr>
          <p:cNvPr id="7" name="Chunk label 3"/>
          <p:cNvSpPr txBox="1"/>
          <p:nvPr/>
        </p:nvSpPr>
        <p:spPr>
          <a:xfrm>
            <a:off x="5934456" y="1417320"/>
            <a:ext cx="1362456" cy="502920"/>
          </a:xfrm>
          <a:prstGeom prst="rect">
            <a:avLst/>
          </a:prstGeom>
          <a:noFill/>
          <a:ln/>
        </p:spPr>
        <p:txBody>
          <a:bodyPr wrap="square" lIns="0" tIns="0" rIns="0" bIns="0" rtlCol="0" anchor="ctr"/>
          <a:lstStyle/>
          <a:p>
            <a:pPr algn="ctr" indent="0" marL="0">
              <a:buNone/>
            </a:pPr>
            <a:r>
              <a:rPr lang="en-US" sz="1200" dirty="0">
                <a:solidFill>
                  <a:schemeClr val="accent5"/>
                </a:solidFill>
              </a:rPr>
              <a:t>Jun 28 to Aug 13</a:t>
            </a:r>
            <a:endParaRPr lang="en-US" sz="1200" dirty="0"/>
          </a:p>
        </p:txBody>
      </p:sp>
      <p:sp>
        <p:nvSpPr>
          <p:cNvPr id="8" name="Chunk label 4"/>
          <p:cNvSpPr txBox="1"/>
          <p:nvPr/>
        </p:nvSpPr>
        <p:spPr>
          <a:xfrm>
            <a:off x="7333488" y="1417320"/>
            <a:ext cx="1362456" cy="502920"/>
          </a:xfrm>
          <a:prstGeom prst="rect">
            <a:avLst/>
          </a:prstGeom>
          <a:noFill/>
          <a:ln/>
        </p:spPr>
        <p:txBody>
          <a:bodyPr wrap="square" lIns="0" tIns="0" rIns="0" bIns="0" rtlCol="0" anchor="ctr"/>
          <a:lstStyle/>
          <a:p>
            <a:pPr algn="ctr" indent="0" marL="0">
              <a:buNone/>
            </a:pPr>
            <a:r>
              <a:rPr lang="en-US" sz="1200" dirty="0">
                <a:solidFill>
                  <a:schemeClr val="accent5"/>
                </a:solidFill>
              </a:rPr>
              <a:t>Aug 13 to Oct 5</a:t>
            </a:r>
            <a:endParaRPr lang="en-US" sz="1200" dirty="0"/>
          </a:p>
        </p:txBody>
      </p:sp>
      <p:sp>
        <p:nvSpPr>
          <p:cNvPr id="9" name="Chunk label 5"/>
          <p:cNvSpPr txBox="1"/>
          <p:nvPr/>
        </p:nvSpPr>
        <p:spPr>
          <a:xfrm>
            <a:off x="8732520" y="1417320"/>
            <a:ext cx="1362456" cy="502920"/>
          </a:xfrm>
          <a:prstGeom prst="rect">
            <a:avLst/>
          </a:prstGeom>
          <a:noFill/>
          <a:ln/>
        </p:spPr>
        <p:txBody>
          <a:bodyPr wrap="square" lIns="0" tIns="0" rIns="0" bIns="0" rtlCol="0" anchor="ctr"/>
          <a:lstStyle/>
          <a:p>
            <a:pPr algn="ctr" indent="0" marL="0">
              <a:buNone/>
            </a:pPr>
            <a:r>
              <a:rPr lang="en-US" sz="1200" dirty="0">
                <a:solidFill>
                  <a:schemeClr val="accent5"/>
                </a:solidFill>
              </a:rPr>
              <a:t>Oct 5 to Nov 30</a:t>
            </a:r>
            <a:endParaRPr lang="en-US" sz="1200" dirty="0"/>
          </a:p>
        </p:txBody>
      </p:sp>
      <p:sp>
        <p:nvSpPr>
          <p:cNvPr id="10" name="Text 7"/>
          <p:cNvSpPr txBox="1"/>
          <p:nvPr/>
        </p:nvSpPr>
        <p:spPr>
          <a:xfrm>
            <a:off x="10131552" y="1417320"/>
            <a:ext cx="1444752" cy="502920"/>
          </a:xfrm>
          <a:prstGeom prst="rect">
            <a:avLst/>
          </a:prstGeom>
          <a:noFill/>
          <a:ln/>
        </p:spPr>
        <p:txBody>
          <a:bodyPr wrap="square" lIns="0" tIns="0" rIns="0" bIns="0" rtlCol="0" anchor="ctr"/>
          <a:lstStyle/>
          <a:p>
            <a:pPr algn="ctr" indent="0" marL="0">
              <a:buNone/>
            </a:pPr>
            <a:r>
              <a:rPr lang="en-US" sz="1200" b="1" dirty="0">
                <a:solidFill>
                  <a:schemeClr val="accent2"/>
                </a:solidFill>
              </a:rPr>
              <a:t>Test month</a:t>
            </a:r>
            <a:endParaRPr lang="en-US" sz="1200" dirty="0"/>
          </a:p>
        </p:txBody>
      </p:sp>
      <p:sp>
        <p:nvSpPr>
          <p:cNvPr id="11" name="Text 8"/>
          <p:cNvSpPr txBox="1"/>
          <p:nvPr/>
        </p:nvSpPr>
        <p:spPr>
          <a:xfrm>
            <a:off x="640080" y="2011680"/>
            <a:ext cx="1005840" cy="457200"/>
          </a:xfrm>
          <a:prstGeom prst="rect">
            <a:avLst/>
          </a:prstGeom>
          <a:noFill/>
          <a:ln/>
        </p:spPr>
        <p:txBody>
          <a:bodyPr wrap="square" lIns="0" tIns="0" rIns="0" bIns="0" rtlCol="0" anchor="ctr"/>
          <a:lstStyle/>
          <a:p>
            <a:pPr indent="0" marL="0">
              <a:buNone/>
            </a:pPr>
            <a:r>
              <a:rPr lang="en-US" sz="1500" b="1" dirty="0">
                <a:solidFill>
                  <a:schemeClr val="tx1"/>
                </a:solidFill>
              </a:rPr>
              <a:t>Fold 1</a:t>
            </a:r>
            <a:endParaRPr lang="en-US" sz="1500" dirty="0"/>
          </a:p>
        </p:txBody>
      </p:sp>
      <p:sp>
        <p:nvSpPr>
          <p:cNvPr id="12" name="Fold 1 chunk 0"/>
          <p:cNvSpPr/>
          <p:nvPr/>
        </p:nvSpPr>
        <p:spPr>
          <a:xfrm>
            <a:off x="1737360" y="2011680"/>
            <a:ext cx="1362456" cy="457200"/>
          </a:xfrm>
          <a:prstGeom prst="rect">
            <a:avLst/>
          </a:prstGeom>
          <a:solidFill>
            <a:schemeClr val="accent1"/>
          </a:solidFill>
          <a:ln w="12700">
            <a:solidFill>
              <a:schemeClr val="accent1"/>
            </a:solidFill>
            <a:prstDash val="solid"/>
          </a:ln>
        </p:spPr>
      </p:sp>
      <p:sp>
        <p:nvSpPr>
          <p:cNvPr id="13" name="Fold 1 chunk 1"/>
          <p:cNvSpPr/>
          <p:nvPr/>
        </p:nvSpPr>
        <p:spPr>
          <a:xfrm>
            <a:off x="3136392" y="2011680"/>
            <a:ext cx="1362456" cy="457200"/>
          </a:xfrm>
          <a:prstGeom prst="rect">
            <a:avLst/>
          </a:prstGeom>
          <a:solidFill>
            <a:schemeClr val="accent3"/>
          </a:solidFill>
          <a:ln w="12700">
            <a:solidFill>
              <a:schemeClr val="accent3"/>
            </a:solidFill>
            <a:prstDash val="solid"/>
          </a:ln>
        </p:spPr>
      </p:sp>
      <p:sp>
        <p:nvSpPr>
          <p:cNvPr id="14" name="Fold 1 chunk 2"/>
          <p:cNvSpPr/>
          <p:nvPr/>
        </p:nvSpPr>
        <p:spPr>
          <a:xfrm>
            <a:off x="4535424" y="2011680"/>
            <a:ext cx="1362456" cy="457200"/>
          </a:xfrm>
          <a:prstGeom prst="rect">
            <a:avLst/>
          </a:prstGeom>
          <a:solidFill>
            <a:schemeClr val="bg2"/>
          </a:solidFill>
          <a:ln w="12700">
            <a:solidFill>
              <a:schemeClr val="bg2"/>
            </a:solidFill>
            <a:prstDash val="solid"/>
          </a:ln>
        </p:spPr>
      </p:sp>
      <p:sp>
        <p:nvSpPr>
          <p:cNvPr id="15" name="Fold 1 chunk 3"/>
          <p:cNvSpPr/>
          <p:nvPr/>
        </p:nvSpPr>
        <p:spPr>
          <a:xfrm>
            <a:off x="5934456" y="2011680"/>
            <a:ext cx="1362456" cy="457200"/>
          </a:xfrm>
          <a:prstGeom prst="rect">
            <a:avLst/>
          </a:prstGeom>
          <a:solidFill>
            <a:schemeClr val="bg2"/>
          </a:solidFill>
          <a:ln w="12700">
            <a:solidFill>
              <a:schemeClr val="bg2"/>
            </a:solidFill>
            <a:prstDash val="solid"/>
          </a:ln>
        </p:spPr>
      </p:sp>
      <p:sp>
        <p:nvSpPr>
          <p:cNvPr id="16" name="Fold 1 chunk 4"/>
          <p:cNvSpPr/>
          <p:nvPr/>
        </p:nvSpPr>
        <p:spPr>
          <a:xfrm>
            <a:off x="7333488" y="2011680"/>
            <a:ext cx="1362456" cy="457200"/>
          </a:xfrm>
          <a:prstGeom prst="rect">
            <a:avLst/>
          </a:prstGeom>
          <a:solidFill>
            <a:schemeClr val="bg2"/>
          </a:solidFill>
          <a:ln w="12700">
            <a:solidFill>
              <a:schemeClr val="bg2"/>
            </a:solidFill>
            <a:prstDash val="solid"/>
          </a:ln>
        </p:spPr>
      </p:sp>
      <p:sp>
        <p:nvSpPr>
          <p:cNvPr id="17" name="Fold 1 chunk 5"/>
          <p:cNvSpPr/>
          <p:nvPr/>
        </p:nvSpPr>
        <p:spPr>
          <a:xfrm>
            <a:off x="8732520" y="2011680"/>
            <a:ext cx="1362456" cy="457200"/>
          </a:xfrm>
          <a:prstGeom prst="rect">
            <a:avLst/>
          </a:prstGeom>
          <a:solidFill>
            <a:schemeClr val="bg2"/>
          </a:solidFill>
          <a:ln w="12700">
            <a:solidFill>
              <a:schemeClr val="bg2"/>
            </a:solidFill>
            <a:prstDash val="solid"/>
          </a:ln>
        </p:spPr>
      </p:sp>
      <p:sp>
        <p:nvSpPr>
          <p:cNvPr id="18" name="Test 1"/>
          <p:cNvSpPr/>
          <p:nvPr/>
        </p:nvSpPr>
        <p:spPr>
          <a:xfrm>
            <a:off x="10131552" y="2011680"/>
            <a:ext cx="1444752" cy="457200"/>
          </a:xfrm>
          <a:prstGeom prst="rect">
            <a:avLst/>
          </a:prstGeom>
          <a:solidFill>
            <a:schemeClr val="accent2">
              <a:alpha val="20000"/>
            </a:schemeClr>
          </a:solidFill>
          <a:ln w="12700">
            <a:solidFill>
              <a:schemeClr val="accent2"/>
            </a:solidFill>
            <a:prstDash val="solid"/>
          </a:ln>
        </p:spPr>
      </p:sp>
      <p:sp>
        <p:nvSpPr>
          <p:cNvPr id="19" name="Text 16"/>
          <p:cNvSpPr txBox="1"/>
          <p:nvPr/>
        </p:nvSpPr>
        <p:spPr>
          <a:xfrm>
            <a:off x="640080" y="2578608"/>
            <a:ext cx="1005840" cy="457200"/>
          </a:xfrm>
          <a:prstGeom prst="rect">
            <a:avLst/>
          </a:prstGeom>
          <a:noFill/>
          <a:ln/>
        </p:spPr>
        <p:txBody>
          <a:bodyPr wrap="square" lIns="0" tIns="0" rIns="0" bIns="0" rtlCol="0" anchor="ctr"/>
          <a:lstStyle/>
          <a:p>
            <a:pPr indent="0" marL="0">
              <a:buNone/>
            </a:pPr>
            <a:r>
              <a:rPr lang="en-US" sz="1500" b="1" dirty="0">
                <a:solidFill>
                  <a:schemeClr val="tx1"/>
                </a:solidFill>
              </a:rPr>
              <a:t>Fold 2</a:t>
            </a:r>
            <a:endParaRPr lang="en-US" sz="1500" dirty="0"/>
          </a:p>
        </p:txBody>
      </p:sp>
      <p:sp>
        <p:nvSpPr>
          <p:cNvPr id="20" name="Fold 2 chunk 0"/>
          <p:cNvSpPr/>
          <p:nvPr/>
        </p:nvSpPr>
        <p:spPr>
          <a:xfrm>
            <a:off x="1737360" y="2578608"/>
            <a:ext cx="1362456" cy="457200"/>
          </a:xfrm>
          <a:prstGeom prst="rect">
            <a:avLst/>
          </a:prstGeom>
          <a:solidFill>
            <a:schemeClr val="accent1"/>
          </a:solidFill>
          <a:ln w="12700">
            <a:solidFill>
              <a:schemeClr val="accent1"/>
            </a:solidFill>
            <a:prstDash val="solid"/>
          </a:ln>
        </p:spPr>
      </p:sp>
      <p:sp>
        <p:nvSpPr>
          <p:cNvPr id="21" name="Fold 2 chunk 1"/>
          <p:cNvSpPr/>
          <p:nvPr/>
        </p:nvSpPr>
        <p:spPr>
          <a:xfrm>
            <a:off x="3136392" y="2578608"/>
            <a:ext cx="1362456" cy="457200"/>
          </a:xfrm>
          <a:prstGeom prst="rect">
            <a:avLst/>
          </a:prstGeom>
          <a:solidFill>
            <a:schemeClr val="accent1"/>
          </a:solidFill>
          <a:ln w="12700">
            <a:solidFill>
              <a:schemeClr val="accent1"/>
            </a:solidFill>
            <a:prstDash val="solid"/>
          </a:ln>
        </p:spPr>
      </p:sp>
      <p:sp>
        <p:nvSpPr>
          <p:cNvPr id="22" name="Fold 2 chunk 2"/>
          <p:cNvSpPr/>
          <p:nvPr/>
        </p:nvSpPr>
        <p:spPr>
          <a:xfrm>
            <a:off x="4535424" y="2578608"/>
            <a:ext cx="1362456" cy="457200"/>
          </a:xfrm>
          <a:prstGeom prst="rect">
            <a:avLst/>
          </a:prstGeom>
          <a:solidFill>
            <a:schemeClr val="accent3"/>
          </a:solidFill>
          <a:ln w="12700">
            <a:solidFill>
              <a:schemeClr val="accent3"/>
            </a:solidFill>
            <a:prstDash val="solid"/>
          </a:ln>
        </p:spPr>
      </p:sp>
      <p:sp>
        <p:nvSpPr>
          <p:cNvPr id="23" name="Fold 2 chunk 3"/>
          <p:cNvSpPr/>
          <p:nvPr/>
        </p:nvSpPr>
        <p:spPr>
          <a:xfrm>
            <a:off x="5934456" y="2578608"/>
            <a:ext cx="1362456" cy="457200"/>
          </a:xfrm>
          <a:prstGeom prst="rect">
            <a:avLst/>
          </a:prstGeom>
          <a:solidFill>
            <a:schemeClr val="bg2"/>
          </a:solidFill>
          <a:ln w="12700">
            <a:solidFill>
              <a:schemeClr val="bg2"/>
            </a:solidFill>
            <a:prstDash val="solid"/>
          </a:ln>
        </p:spPr>
      </p:sp>
      <p:sp>
        <p:nvSpPr>
          <p:cNvPr id="24" name="Fold 2 chunk 4"/>
          <p:cNvSpPr/>
          <p:nvPr/>
        </p:nvSpPr>
        <p:spPr>
          <a:xfrm>
            <a:off x="7333488" y="2578608"/>
            <a:ext cx="1362456" cy="457200"/>
          </a:xfrm>
          <a:prstGeom prst="rect">
            <a:avLst/>
          </a:prstGeom>
          <a:solidFill>
            <a:schemeClr val="bg2"/>
          </a:solidFill>
          <a:ln w="12700">
            <a:solidFill>
              <a:schemeClr val="bg2"/>
            </a:solidFill>
            <a:prstDash val="solid"/>
          </a:ln>
        </p:spPr>
      </p:sp>
      <p:sp>
        <p:nvSpPr>
          <p:cNvPr id="25" name="Fold 2 chunk 5"/>
          <p:cNvSpPr/>
          <p:nvPr/>
        </p:nvSpPr>
        <p:spPr>
          <a:xfrm>
            <a:off x="8732520" y="2578608"/>
            <a:ext cx="1362456" cy="457200"/>
          </a:xfrm>
          <a:prstGeom prst="rect">
            <a:avLst/>
          </a:prstGeom>
          <a:solidFill>
            <a:schemeClr val="bg2"/>
          </a:solidFill>
          <a:ln w="12700">
            <a:solidFill>
              <a:schemeClr val="bg2"/>
            </a:solidFill>
            <a:prstDash val="solid"/>
          </a:ln>
        </p:spPr>
      </p:sp>
      <p:sp>
        <p:nvSpPr>
          <p:cNvPr id="26" name="Test 2"/>
          <p:cNvSpPr/>
          <p:nvPr/>
        </p:nvSpPr>
        <p:spPr>
          <a:xfrm>
            <a:off x="10131552" y="2578608"/>
            <a:ext cx="1444752" cy="457200"/>
          </a:xfrm>
          <a:prstGeom prst="rect">
            <a:avLst/>
          </a:prstGeom>
          <a:solidFill>
            <a:schemeClr val="accent2">
              <a:alpha val="20000"/>
            </a:schemeClr>
          </a:solidFill>
          <a:ln w="12700">
            <a:solidFill>
              <a:schemeClr val="accent2"/>
            </a:solidFill>
            <a:prstDash val="solid"/>
          </a:ln>
        </p:spPr>
      </p:sp>
      <p:sp>
        <p:nvSpPr>
          <p:cNvPr id="27" name="Text 24"/>
          <p:cNvSpPr txBox="1"/>
          <p:nvPr/>
        </p:nvSpPr>
        <p:spPr>
          <a:xfrm>
            <a:off x="640080" y="3145536"/>
            <a:ext cx="1005840" cy="457200"/>
          </a:xfrm>
          <a:prstGeom prst="rect">
            <a:avLst/>
          </a:prstGeom>
          <a:noFill/>
          <a:ln/>
        </p:spPr>
        <p:txBody>
          <a:bodyPr wrap="square" lIns="0" tIns="0" rIns="0" bIns="0" rtlCol="0" anchor="ctr"/>
          <a:lstStyle/>
          <a:p>
            <a:pPr indent="0" marL="0">
              <a:buNone/>
            </a:pPr>
            <a:r>
              <a:rPr lang="en-US" sz="1500" b="1" dirty="0">
                <a:solidFill>
                  <a:schemeClr val="tx1"/>
                </a:solidFill>
              </a:rPr>
              <a:t>Fold 3</a:t>
            </a:r>
            <a:endParaRPr lang="en-US" sz="1500" dirty="0"/>
          </a:p>
        </p:txBody>
      </p:sp>
      <p:sp>
        <p:nvSpPr>
          <p:cNvPr id="28" name="Fold 3 chunk 0"/>
          <p:cNvSpPr/>
          <p:nvPr/>
        </p:nvSpPr>
        <p:spPr>
          <a:xfrm>
            <a:off x="1737360" y="3145536"/>
            <a:ext cx="1362456" cy="457200"/>
          </a:xfrm>
          <a:prstGeom prst="rect">
            <a:avLst/>
          </a:prstGeom>
          <a:solidFill>
            <a:schemeClr val="accent1"/>
          </a:solidFill>
          <a:ln w="12700">
            <a:solidFill>
              <a:schemeClr val="accent1"/>
            </a:solidFill>
            <a:prstDash val="solid"/>
          </a:ln>
        </p:spPr>
      </p:sp>
      <p:sp>
        <p:nvSpPr>
          <p:cNvPr id="29" name="Fold 3 chunk 1"/>
          <p:cNvSpPr/>
          <p:nvPr/>
        </p:nvSpPr>
        <p:spPr>
          <a:xfrm>
            <a:off x="3136392" y="3145536"/>
            <a:ext cx="1362456" cy="457200"/>
          </a:xfrm>
          <a:prstGeom prst="rect">
            <a:avLst/>
          </a:prstGeom>
          <a:solidFill>
            <a:schemeClr val="accent1"/>
          </a:solidFill>
          <a:ln w="12700">
            <a:solidFill>
              <a:schemeClr val="accent1"/>
            </a:solidFill>
            <a:prstDash val="solid"/>
          </a:ln>
        </p:spPr>
      </p:sp>
      <p:sp>
        <p:nvSpPr>
          <p:cNvPr id="30" name="Fold 3 chunk 2"/>
          <p:cNvSpPr/>
          <p:nvPr/>
        </p:nvSpPr>
        <p:spPr>
          <a:xfrm>
            <a:off x="4535424" y="3145536"/>
            <a:ext cx="1362456" cy="457200"/>
          </a:xfrm>
          <a:prstGeom prst="rect">
            <a:avLst/>
          </a:prstGeom>
          <a:solidFill>
            <a:schemeClr val="accent1"/>
          </a:solidFill>
          <a:ln w="12700">
            <a:solidFill>
              <a:schemeClr val="accent1"/>
            </a:solidFill>
            <a:prstDash val="solid"/>
          </a:ln>
        </p:spPr>
      </p:sp>
      <p:sp>
        <p:nvSpPr>
          <p:cNvPr id="31" name="Fold 3 chunk 3"/>
          <p:cNvSpPr/>
          <p:nvPr/>
        </p:nvSpPr>
        <p:spPr>
          <a:xfrm>
            <a:off x="5934456" y="3145536"/>
            <a:ext cx="1362456" cy="457200"/>
          </a:xfrm>
          <a:prstGeom prst="rect">
            <a:avLst/>
          </a:prstGeom>
          <a:solidFill>
            <a:schemeClr val="accent3"/>
          </a:solidFill>
          <a:ln w="12700">
            <a:solidFill>
              <a:schemeClr val="accent3"/>
            </a:solidFill>
            <a:prstDash val="solid"/>
          </a:ln>
        </p:spPr>
      </p:sp>
      <p:sp>
        <p:nvSpPr>
          <p:cNvPr id="32" name="Fold 3 chunk 4"/>
          <p:cNvSpPr/>
          <p:nvPr/>
        </p:nvSpPr>
        <p:spPr>
          <a:xfrm>
            <a:off x="7333488" y="3145536"/>
            <a:ext cx="1362456" cy="457200"/>
          </a:xfrm>
          <a:prstGeom prst="rect">
            <a:avLst/>
          </a:prstGeom>
          <a:solidFill>
            <a:schemeClr val="bg2"/>
          </a:solidFill>
          <a:ln w="12700">
            <a:solidFill>
              <a:schemeClr val="bg2"/>
            </a:solidFill>
            <a:prstDash val="solid"/>
          </a:ln>
        </p:spPr>
      </p:sp>
      <p:sp>
        <p:nvSpPr>
          <p:cNvPr id="33" name="Fold 3 chunk 5"/>
          <p:cNvSpPr/>
          <p:nvPr/>
        </p:nvSpPr>
        <p:spPr>
          <a:xfrm>
            <a:off x="8732520" y="3145536"/>
            <a:ext cx="1362456" cy="457200"/>
          </a:xfrm>
          <a:prstGeom prst="rect">
            <a:avLst/>
          </a:prstGeom>
          <a:solidFill>
            <a:schemeClr val="bg2"/>
          </a:solidFill>
          <a:ln w="12700">
            <a:solidFill>
              <a:schemeClr val="bg2"/>
            </a:solidFill>
            <a:prstDash val="solid"/>
          </a:ln>
        </p:spPr>
      </p:sp>
      <p:sp>
        <p:nvSpPr>
          <p:cNvPr id="34" name="Test 3"/>
          <p:cNvSpPr/>
          <p:nvPr/>
        </p:nvSpPr>
        <p:spPr>
          <a:xfrm>
            <a:off x="10131552" y="3145536"/>
            <a:ext cx="1444752" cy="457200"/>
          </a:xfrm>
          <a:prstGeom prst="rect">
            <a:avLst/>
          </a:prstGeom>
          <a:solidFill>
            <a:schemeClr val="accent2">
              <a:alpha val="20000"/>
            </a:schemeClr>
          </a:solidFill>
          <a:ln w="12700">
            <a:solidFill>
              <a:schemeClr val="accent2"/>
            </a:solidFill>
            <a:prstDash val="solid"/>
          </a:ln>
        </p:spPr>
      </p:sp>
      <p:sp>
        <p:nvSpPr>
          <p:cNvPr id="35" name="Text 32"/>
          <p:cNvSpPr txBox="1"/>
          <p:nvPr/>
        </p:nvSpPr>
        <p:spPr>
          <a:xfrm>
            <a:off x="640080" y="3712464"/>
            <a:ext cx="1005840" cy="457200"/>
          </a:xfrm>
          <a:prstGeom prst="rect">
            <a:avLst/>
          </a:prstGeom>
          <a:noFill/>
          <a:ln/>
        </p:spPr>
        <p:txBody>
          <a:bodyPr wrap="square" lIns="0" tIns="0" rIns="0" bIns="0" rtlCol="0" anchor="ctr"/>
          <a:lstStyle/>
          <a:p>
            <a:pPr indent="0" marL="0">
              <a:buNone/>
            </a:pPr>
            <a:r>
              <a:rPr lang="en-US" sz="1500" b="1" dirty="0">
                <a:solidFill>
                  <a:schemeClr val="tx1"/>
                </a:solidFill>
              </a:rPr>
              <a:t>Fold 4</a:t>
            </a:r>
            <a:endParaRPr lang="en-US" sz="1500" dirty="0"/>
          </a:p>
        </p:txBody>
      </p:sp>
      <p:sp>
        <p:nvSpPr>
          <p:cNvPr id="36" name="Fold 4 chunk 0"/>
          <p:cNvSpPr/>
          <p:nvPr/>
        </p:nvSpPr>
        <p:spPr>
          <a:xfrm>
            <a:off x="1737360" y="3712464"/>
            <a:ext cx="1362456" cy="457200"/>
          </a:xfrm>
          <a:prstGeom prst="rect">
            <a:avLst/>
          </a:prstGeom>
          <a:solidFill>
            <a:schemeClr val="accent1"/>
          </a:solidFill>
          <a:ln w="12700">
            <a:solidFill>
              <a:schemeClr val="accent1"/>
            </a:solidFill>
            <a:prstDash val="solid"/>
          </a:ln>
        </p:spPr>
      </p:sp>
      <p:sp>
        <p:nvSpPr>
          <p:cNvPr id="37" name="Fold 4 chunk 1"/>
          <p:cNvSpPr/>
          <p:nvPr/>
        </p:nvSpPr>
        <p:spPr>
          <a:xfrm>
            <a:off x="3136392" y="3712464"/>
            <a:ext cx="1362456" cy="457200"/>
          </a:xfrm>
          <a:prstGeom prst="rect">
            <a:avLst/>
          </a:prstGeom>
          <a:solidFill>
            <a:schemeClr val="accent1"/>
          </a:solidFill>
          <a:ln w="12700">
            <a:solidFill>
              <a:schemeClr val="accent1"/>
            </a:solidFill>
            <a:prstDash val="solid"/>
          </a:ln>
        </p:spPr>
      </p:sp>
      <p:sp>
        <p:nvSpPr>
          <p:cNvPr id="38" name="Fold 4 chunk 2"/>
          <p:cNvSpPr/>
          <p:nvPr/>
        </p:nvSpPr>
        <p:spPr>
          <a:xfrm>
            <a:off x="4535424" y="3712464"/>
            <a:ext cx="1362456" cy="457200"/>
          </a:xfrm>
          <a:prstGeom prst="rect">
            <a:avLst/>
          </a:prstGeom>
          <a:solidFill>
            <a:schemeClr val="accent1"/>
          </a:solidFill>
          <a:ln w="12700">
            <a:solidFill>
              <a:schemeClr val="accent1"/>
            </a:solidFill>
            <a:prstDash val="solid"/>
          </a:ln>
        </p:spPr>
      </p:sp>
      <p:sp>
        <p:nvSpPr>
          <p:cNvPr id="39" name="Fold 4 chunk 3"/>
          <p:cNvSpPr/>
          <p:nvPr/>
        </p:nvSpPr>
        <p:spPr>
          <a:xfrm>
            <a:off x="5934456" y="3712464"/>
            <a:ext cx="1362456" cy="457200"/>
          </a:xfrm>
          <a:prstGeom prst="rect">
            <a:avLst/>
          </a:prstGeom>
          <a:solidFill>
            <a:schemeClr val="accent1"/>
          </a:solidFill>
          <a:ln w="12700">
            <a:solidFill>
              <a:schemeClr val="accent1"/>
            </a:solidFill>
            <a:prstDash val="solid"/>
          </a:ln>
        </p:spPr>
      </p:sp>
      <p:sp>
        <p:nvSpPr>
          <p:cNvPr id="40" name="Fold 4 chunk 4"/>
          <p:cNvSpPr/>
          <p:nvPr/>
        </p:nvSpPr>
        <p:spPr>
          <a:xfrm>
            <a:off x="7333488" y="3712464"/>
            <a:ext cx="1362456" cy="457200"/>
          </a:xfrm>
          <a:prstGeom prst="rect">
            <a:avLst/>
          </a:prstGeom>
          <a:solidFill>
            <a:schemeClr val="accent3"/>
          </a:solidFill>
          <a:ln w="12700">
            <a:solidFill>
              <a:schemeClr val="accent3"/>
            </a:solidFill>
            <a:prstDash val="solid"/>
          </a:ln>
        </p:spPr>
      </p:sp>
      <p:sp>
        <p:nvSpPr>
          <p:cNvPr id="41" name="Fold 4 chunk 5"/>
          <p:cNvSpPr/>
          <p:nvPr/>
        </p:nvSpPr>
        <p:spPr>
          <a:xfrm>
            <a:off x="8732520" y="3712464"/>
            <a:ext cx="1362456" cy="457200"/>
          </a:xfrm>
          <a:prstGeom prst="rect">
            <a:avLst/>
          </a:prstGeom>
          <a:solidFill>
            <a:schemeClr val="bg2"/>
          </a:solidFill>
          <a:ln w="12700">
            <a:solidFill>
              <a:schemeClr val="bg2"/>
            </a:solidFill>
            <a:prstDash val="solid"/>
          </a:ln>
        </p:spPr>
      </p:sp>
      <p:sp>
        <p:nvSpPr>
          <p:cNvPr id="42" name="Test 4"/>
          <p:cNvSpPr/>
          <p:nvPr/>
        </p:nvSpPr>
        <p:spPr>
          <a:xfrm>
            <a:off x="10131552" y="3712464"/>
            <a:ext cx="1444752" cy="457200"/>
          </a:xfrm>
          <a:prstGeom prst="rect">
            <a:avLst/>
          </a:prstGeom>
          <a:solidFill>
            <a:schemeClr val="accent2">
              <a:alpha val="20000"/>
            </a:schemeClr>
          </a:solidFill>
          <a:ln w="12700">
            <a:solidFill>
              <a:schemeClr val="accent2"/>
            </a:solidFill>
            <a:prstDash val="solid"/>
          </a:ln>
        </p:spPr>
      </p:sp>
      <p:sp>
        <p:nvSpPr>
          <p:cNvPr id="43" name="Text 40"/>
          <p:cNvSpPr txBox="1"/>
          <p:nvPr/>
        </p:nvSpPr>
        <p:spPr>
          <a:xfrm>
            <a:off x="640080" y="4279392"/>
            <a:ext cx="1005840" cy="457200"/>
          </a:xfrm>
          <a:prstGeom prst="rect">
            <a:avLst/>
          </a:prstGeom>
          <a:noFill/>
          <a:ln/>
        </p:spPr>
        <p:txBody>
          <a:bodyPr wrap="square" lIns="0" tIns="0" rIns="0" bIns="0" rtlCol="0" anchor="ctr"/>
          <a:lstStyle/>
          <a:p>
            <a:pPr indent="0" marL="0">
              <a:buNone/>
            </a:pPr>
            <a:r>
              <a:rPr lang="en-US" sz="1500" b="1" dirty="0">
                <a:solidFill>
                  <a:schemeClr val="tx1"/>
                </a:solidFill>
              </a:rPr>
              <a:t>Fold 5</a:t>
            </a:r>
            <a:endParaRPr lang="en-US" sz="1500" dirty="0"/>
          </a:p>
        </p:txBody>
      </p:sp>
      <p:sp>
        <p:nvSpPr>
          <p:cNvPr id="44" name="Fold 5 chunk 0"/>
          <p:cNvSpPr/>
          <p:nvPr/>
        </p:nvSpPr>
        <p:spPr>
          <a:xfrm>
            <a:off x="1737360" y="4279392"/>
            <a:ext cx="1362456" cy="457200"/>
          </a:xfrm>
          <a:prstGeom prst="rect">
            <a:avLst/>
          </a:prstGeom>
          <a:solidFill>
            <a:schemeClr val="accent1"/>
          </a:solidFill>
          <a:ln w="12700">
            <a:solidFill>
              <a:schemeClr val="accent1"/>
            </a:solidFill>
            <a:prstDash val="solid"/>
          </a:ln>
        </p:spPr>
      </p:sp>
      <p:sp>
        <p:nvSpPr>
          <p:cNvPr id="45" name="Fold 5 chunk 1"/>
          <p:cNvSpPr/>
          <p:nvPr/>
        </p:nvSpPr>
        <p:spPr>
          <a:xfrm>
            <a:off x="3136392" y="4279392"/>
            <a:ext cx="1362456" cy="457200"/>
          </a:xfrm>
          <a:prstGeom prst="rect">
            <a:avLst/>
          </a:prstGeom>
          <a:solidFill>
            <a:schemeClr val="accent1"/>
          </a:solidFill>
          <a:ln w="12700">
            <a:solidFill>
              <a:schemeClr val="accent1"/>
            </a:solidFill>
            <a:prstDash val="solid"/>
          </a:ln>
        </p:spPr>
      </p:sp>
      <p:sp>
        <p:nvSpPr>
          <p:cNvPr id="46" name="Fold 5 chunk 2"/>
          <p:cNvSpPr/>
          <p:nvPr/>
        </p:nvSpPr>
        <p:spPr>
          <a:xfrm>
            <a:off x="4535424" y="4279392"/>
            <a:ext cx="1362456" cy="457200"/>
          </a:xfrm>
          <a:prstGeom prst="rect">
            <a:avLst/>
          </a:prstGeom>
          <a:solidFill>
            <a:schemeClr val="accent1"/>
          </a:solidFill>
          <a:ln w="12700">
            <a:solidFill>
              <a:schemeClr val="accent1"/>
            </a:solidFill>
            <a:prstDash val="solid"/>
          </a:ln>
        </p:spPr>
      </p:sp>
      <p:sp>
        <p:nvSpPr>
          <p:cNvPr id="47" name="Fold 5 chunk 3"/>
          <p:cNvSpPr/>
          <p:nvPr/>
        </p:nvSpPr>
        <p:spPr>
          <a:xfrm>
            <a:off x="5934456" y="4279392"/>
            <a:ext cx="1362456" cy="457200"/>
          </a:xfrm>
          <a:prstGeom prst="rect">
            <a:avLst/>
          </a:prstGeom>
          <a:solidFill>
            <a:schemeClr val="accent1"/>
          </a:solidFill>
          <a:ln w="12700">
            <a:solidFill>
              <a:schemeClr val="accent1"/>
            </a:solidFill>
            <a:prstDash val="solid"/>
          </a:ln>
        </p:spPr>
      </p:sp>
      <p:sp>
        <p:nvSpPr>
          <p:cNvPr id="48" name="Fold 5 chunk 4"/>
          <p:cNvSpPr/>
          <p:nvPr/>
        </p:nvSpPr>
        <p:spPr>
          <a:xfrm>
            <a:off x="7333488" y="4279392"/>
            <a:ext cx="1362456" cy="457200"/>
          </a:xfrm>
          <a:prstGeom prst="rect">
            <a:avLst/>
          </a:prstGeom>
          <a:solidFill>
            <a:schemeClr val="accent1"/>
          </a:solidFill>
          <a:ln w="12700">
            <a:solidFill>
              <a:schemeClr val="accent1"/>
            </a:solidFill>
            <a:prstDash val="solid"/>
          </a:ln>
        </p:spPr>
      </p:sp>
      <p:sp>
        <p:nvSpPr>
          <p:cNvPr id="49" name="Fold 5 chunk 5"/>
          <p:cNvSpPr/>
          <p:nvPr/>
        </p:nvSpPr>
        <p:spPr>
          <a:xfrm>
            <a:off x="8732520" y="4279392"/>
            <a:ext cx="1362456" cy="457200"/>
          </a:xfrm>
          <a:prstGeom prst="rect">
            <a:avLst/>
          </a:prstGeom>
          <a:solidFill>
            <a:schemeClr val="accent3"/>
          </a:solidFill>
          <a:ln w="12700">
            <a:solidFill>
              <a:schemeClr val="accent3"/>
            </a:solidFill>
            <a:prstDash val="solid"/>
          </a:ln>
        </p:spPr>
      </p:sp>
      <p:sp>
        <p:nvSpPr>
          <p:cNvPr id="50" name="Test 5"/>
          <p:cNvSpPr/>
          <p:nvPr/>
        </p:nvSpPr>
        <p:spPr>
          <a:xfrm>
            <a:off x="10131552" y="4279392"/>
            <a:ext cx="1444752" cy="457200"/>
          </a:xfrm>
          <a:prstGeom prst="rect">
            <a:avLst/>
          </a:prstGeom>
          <a:solidFill>
            <a:schemeClr val="accent2">
              <a:alpha val="20000"/>
            </a:schemeClr>
          </a:solidFill>
          <a:ln w="12700">
            <a:solidFill>
              <a:schemeClr val="accent2"/>
            </a:solidFill>
            <a:prstDash val="solid"/>
          </a:ln>
        </p:spPr>
      </p:sp>
      <p:sp>
        <p:nvSpPr>
          <p:cNvPr id="51" name="Legend 0"/>
          <p:cNvSpPr/>
          <p:nvPr/>
        </p:nvSpPr>
        <p:spPr>
          <a:xfrm>
            <a:off x="1737360" y="4846320"/>
            <a:ext cx="201168" cy="201168"/>
          </a:xfrm>
          <a:prstGeom prst="rect">
            <a:avLst/>
          </a:prstGeom>
          <a:solidFill>
            <a:schemeClr val="accent1"/>
          </a:solidFill>
          <a:ln w="12700">
            <a:solidFill>
              <a:schemeClr val="accent1"/>
            </a:solidFill>
            <a:prstDash val="solid"/>
          </a:ln>
        </p:spPr>
      </p:sp>
      <p:sp>
        <p:nvSpPr>
          <p:cNvPr id="52" name="Text 49"/>
          <p:cNvSpPr txBox="1"/>
          <p:nvPr/>
        </p:nvSpPr>
        <p:spPr>
          <a:xfrm>
            <a:off x="2011680" y="4791456"/>
            <a:ext cx="2103120" cy="310896"/>
          </a:xfrm>
          <a:prstGeom prst="rect">
            <a:avLst/>
          </a:prstGeom>
          <a:noFill/>
          <a:ln/>
        </p:spPr>
        <p:txBody>
          <a:bodyPr wrap="square" lIns="0" tIns="0" rIns="0" bIns="0" rtlCol="0" anchor="t"/>
          <a:lstStyle/>
          <a:p>
            <a:pPr indent="0" marL="0">
              <a:buNone/>
            </a:pPr>
            <a:r>
              <a:rPr lang="en-US" sz="1200" dirty="0">
                <a:solidFill>
                  <a:schemeClr val="tx1"/>
                </a:solidFill>
              </a:rPr>
              <a:t>Train</a:t>
            </a:r>
            <a:endParaRPr lang="en-US" sz="1200" dirty="0"/>
          </a:p>
        </p:txBody>
      </p:sp>
      <p:sp>
        <p:nvSpPr>
          <p:cNvPr id="53" name="Legend 1"/>
          <p:cNvSpPr/>
          <p:nvPr/>
        </p:nvSpPr>
        <p:spPr>
          <a:xfrm>
            <a:off x="4206240" y="4846320"/>
            <a:ext cx="201168" cy="201168"/>
          </a:xfrm>
          <a:prstGeom prst="rect">
            <a:avLst/>
          </a:prstGeom>
          <a:solidFill>
            <a:schemeClr val="accent3"/>
          </a:solidFill>
          <a:ln w="12700">
            <a:solidFill>
              <a:schemeClr val="accent3"/>
            </a:solidFill>
            <a:prstDash val="solid"/>
          </a:ln>
        </p:spPr>
      </p:sp>
      <p:sp>
        <p:nvSpPr>
          <p:cNvPr id="54" name="Text 51"/>
          <p:cNvSpPr txBox="1"/>
          <p:nvPr/>
        </p:nvSpPr>
        <p:spPr>
          <a:xfrm>
            <a:off x="4480560" y="4791456"/>
            <a:ext cx="2103120" cy="310896"/>
          </a:xfrm>
          <a:prstGeom prst="rect">
            <a:avLst/>
          </a:prstGeom>
          <a:noFill/>
          <a:ln/>
        </p:spPr>
        <p:txBody>
          <a:bodyPr wrap="square" lIns="0" tIns="0" rIns="0" bIns="0" rtlCol="0" anchor="t"/>
          <a:lstStyle/>
          <a:p>
            <a:pPr indent="0" marL="0">
              <a:buNone/>
            </a:pPr>
            <a:r>
              <a:rPr lang="en-US" sz="1200" dirty="0">
                <a:solidFill>
                  <a:schemeClr val="tx1"/>
                </a:solidFill>
              </a:rPr>
              <a:t>Validate</a:t>
            </a:r>
            <a:endParaRPr lang="en-US" sz="1200" dirty="0"/>
          </a:p>
        </p:txBody>
      </p:sp>
      <p:sp>
        <p:nvSpPr>
          <p:cNvPr id="55" name="Legend 2"/>
          <p:cNvSpPr/>
          <p:nvPr/>
        </p:nvSpPr>
        <p:spPr>
          <a:xfrm>
            <a:off x="6675120" y="4846320"/>
            <a:ext cx="201168" cy="201168"/>
          </a:xfrm>
          <a:prstGeom prst="rect">
            <a:avLst/>
          </a:prstGeom>
          <a:solidFill>
            <a:schemeClr val="bg2"/>
          </a:solidFill>
          <a:ln w="12700">
            <a:solidFill>
              <a:schemeClr val="bg2"/>
            </a:solidFill>
            <a:prstDash val="solid"/>
          </a:ln>
        </p:spPr>
      </p:sp>
      <p:sp>
        <p:nvSpPr>
          <p:cNvPr id="56" name="Text 53"/>
          <p:cNvSpPr txBox="1"/>
          <p:nvPr/>
        </p:nvSpPr>
        <p:spPr>
          <a:xfrm>
            <a:off x="6949440" y="4791456"/>
            <a:ext cx="2103120" cy="310896"/>
          </a:xfrm>
          <a:prstGeom prst="rect">
            <a:avLst/>
          </a:prstGeom>
          <a:noFill/>
          <a:ln/>
        </p:spPr>
        <p:txBody>
          <a:bodyPr wrap="square" lIns="0" tIns="0" rIns="0" bIns="0" rtlCol="0" anchor="t"/>
          <a:lstStyle/>
          <a:p>
            <a:pPr indent="0" marL="0">
              <a:buNone/>
            </a:pPr>
            <a:r>
              <a:rPr lang="en-US" sz="1200" dirty="0">
                <a:solidFill>
                  <a:schemeClr val="tx1"/>
                </a:solidFill>
              </a:rPr>
              <a:t>Not used in this fold</a:t>
            </a:r>
            <a:endParaRPr lang="en-US" sz="1200" dirty="0"/>
          </a:p>
        </p:txBody>
      </p:sp>
      <p:sp>
        <p:nvSpPr>
          <p:cNvPr id="57" name="Legend 3"/>
          <p:cNvSpPr/>
          <p:nvPr/>
        </p:nvSpPr>
        <p:spPr>
          <a:xfrm>
            <a:off x="9144000" y="4846320"/>
            <a:ext cx="201168" cy="201168"/>
          </a:xfrm>
          <a:prstGeom prst="rect">
            <a:avLst/>
          </a:prstGeom>
          <a:solidFill>
            <a:schemeClr val="accent2">
              <a:alpha val="20000"/>
            </a:schemeClr>
          </a:solidFill>
          <a:ln w="12700">
            <a:solidFill>
              <a:schemeClr val="accent2"/>
            </a:solidFill>
            <a:prstDash val="solid"/>
          </a:ln>
        </p:spPr>
      </p:sp>
      <p:sp>
        <p:nvSpPr>
          <p:cNvPr id="58" name="Text 55"/>
          <p:cNvSpPr txBox="1"/>
          <p:nvPr/>
        </p:nvSpPr>
        <p:spPr>
          <a:xfrm>
            <a:off x="9418320" y="4791456"/>
            <a:ext cx="2103120" cy="310896"/>
          </a:xfrm>
          <a:prstGeom prst="rect">
            <a:avLst/>
          </a:prstGeom>
          <a:noFill/>
          <a:ln/>
        </p:spPr>
        <p:txBody>
          <a:bodyPr wrap="square" lIns="0" tIns="0" rIns="0" bIns="0" rtlCol="0" anchor="t"/>
          <a:lstStyle/>
          <a:p>
            <a:pPr indent="0" marL="0">
              <a:buNone/>
            </a:pPr>
            <a:r>
              <a:rPr lang="en-US" sz="1200" dirty="0">
                <a:solidFill>
                  <a:schemeClr val="tx1"/>
                </a:solidFill>
              </a:rPr>
              <a:t>Held out until the end</a:t>
            </a:r>
            <a:endParaRPr lang="en-US" sz="1200" dirty="0"/>
          </a:p>
        </p:txBody>
      </p:sp>
      <p:sp>
        <p:nvSpPr>
          <p:cNvPr id="59" name="Strip"/>
          <p:cNvSpPr/>
          <p:nvPr/>
        </p:nvSpPr>
        <p:spPr>
          <a:xfrm>
            <a:off x="640080" y="5166360"/>
            <a:ext cx="10881360" cy="1097280"/>
          </a:xfrm>
          <a:prstGeom prst="roundRect">
            <a:avLst>
              <a:gd name="adj" fmla="val 10000"/>
            </a:avLst>
          </a:prstGeom>
          <a:solidFill>
            <a:schemeClr val="bg2"/>
          </a:solidFill>
          <a:ln w="12700">
            <a:solidFill>
              <a:schemeClr val="bg2"/>
            </a:solidFill>
            <a:prstDash val="solid"/>
          </a:ln>
        </p:spPr>
      </p:sp>
      <p:sp>
        <p:nvSpPr>
          <p:cNvPr id="60" name="Strip circle"/>
          <p:cNvSpPr/>
          <p:nvPr/>
        </p:nvSpPr>
        <p:spPr>
          <a:xfrm>
            <a:off x="914400" y="5349240"/>
            <a:ext cx="731520" cy="731520"/>
          </a:xfrm>
          <a:prstGeom prst="ellipse">
            <a:avLst/>
          </a:prstGeom>
          <a:solidFill>
            <a:schemeClr val="accent3"/>
          </a:solidFill>
          <a:ln w="12700">
            <a:solidFill>
              <a:schemeClr val="accent3"/>
            </a:solidFill>
            <a:prstDash val="solid"/>
          </a:ln>
        </p:spPr>
      </p:sp>
      <p:sp>
        <p:nvSpPr>
          <p:cNvPr id="61" name="Text 58"/>
          <p:cNvSpPr txBox="1"/>
          <p:nvPr/>
        </p:nvSpPr>
        <p:spPr>
          <a:xfrm>
            <a:off x="1920240" y="5349240"/>
            <a:ext cx="9326880" cy="731520"/>
          </a:xfrm>
          <a:prstGeom prst="rect">
            <a:avLst/>
          </a:prstGeom>
          <a:noFill/>
          <a:ln/>
        </p:spPr>
        <p:txBody>
          <a:bodyPr wrap="square" lIns="0" tIns="0" rIns="0" bIns="0" rtlCol="0" anchor="ctr"/>
          <a:lstStyle/>
          <a:p>
            <a:pPr indent="0" marL="0">
              <a:buNone/>
            </a:pPr>
            <a:r>
              <a:rPr lang="en-US" sz="1600" b="1" dirty="0">
                <a:solidFill>
                  <a:schemeClr val="tx1"/>
                </a:solidFill>
              </a:rPr>
              <a:t>Mean PR-AUC across the 5 folds: </a:t>
            </a:r>
            <a:pPr indent="0" marL="0">
              <a:buNone/>
            </a:pPr>
            <a:r>
              <a:rPr lang="en-US" sz="1600" dirty="0">
                <a:solidFill>
                  <a:schemeClr val="tx1"/>
                </a:solidFill>
              </a:rPr>
              <a:t>random forest 0.73 ± 0.10, decision tree 0.48 ± 0.30, gradient boosting 0.56 ± 0.19.</a:t>
            </a:r>
            <a:endParaRPr lang="en-US" sz="1600" dirty="0"/>
          </a:p>
        </p:txBody>
      </p:sp>
      <p:pic>
        <p:nvPicPr>
          <p:cNvPr id="62" name="Strip icon" descr="Strip">    </p:cNvPr>
          <p:cNvPicPr>
            <a:picLocks noChangeAspect="1"/>
          </p:cNvPicPr>
          <p:nvPr/>
        </p:nvPicPr>
        <p:blipFill>
          <a:blip r:embed="rId1"/>
          <a:stretch>
            <a:fillRect/>
          </a:stretch>
        </p:blipFill>
        <p:spPr>
          <a:xfrm>
            <a:off x="1075334" y="5510174"/>
            <a:ext cx="409651" cy="409651"/>
          </a:xfrm>
          <a:prstGeom prst="rect">
            <a:avLst/>
          </a:prstGeom>
        </p:spPr>
      </p:pic>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914400"/>
          </a:xfrm>
          <a:prstGeom prst="rect">
            <a:avLst/>
          </a:prstGeom>
          <a:noFill/>
          <a:ln/>
        </p:spPr>
        <p:txBody>
          <a:bodyPr wrap="square" lIns="0" tIns="0" rIns="0" bIns="0" rtlCol="0" anchor="ctr"/>
          <a:lstStyle/>
          <a:p>
            <a:pPr algn="l" indent="0" marL="0">
              <a:buNone/>
            </a:pPr>
            <a:r>
              <a:rPr lang="en-US" sz="3600" b="1" dirty="0">
                <a:solidFill>
                  <a:schemeClr val="tx1"/>
                </a:solidFill>
              </a:rPr>
              <a:t>Model comparison</a:t>
            </a:r>
            <a:endParaRPr lang="en-US" sz="3600" dirty="0"/>
          </a:p>
        </p:txBody>
      </p:sp>
      <p:graphicFrame>
        <p:nvGraphicFramePr>
          <p:cNvPr id="4" name="Model chart" descr=""/>
          <p:cNvGraphicFramePr/>
          <p:nvPr/>
        </p:nvGraphicFramePr>
        <p:xfrm>
          <a:off x="640080" y="1463040"/>
          <a:ext cx="7498080" cy="4480560"/>
        </p:xfrm>
        <a:graphic xmlns:a="http://schemas.openxmlformats.org/drawingml/2006/main">
          <a:graphicData uri="http://schemas.openxmlformats.org/drawingml/2006/chart">
            <c:chart xmlns:c="http://schemas.openxmlformats.org/drawingml/2006/chart" r:id="rId1"/>
          </a:graphicData>
        </a:graphic>
      </p:graphicFrame>
      <p:sp>
        <p:nvSpPr>
          <p:cNvPr id="5" name="Best card"/>
          <p:cNvSpPr/>
          <p:nvPr/>
        </p:nvSpPr>
        <p:spPr>
          <a:xfrm>
            <a:off x="8503920" y="1463040"/>
            <a:ext cx="3017520" cy="4480560"/>
          </a:xfrm>
          <a:prstGeom prst="roundRect">
            <a:avLst>
              <a:gd name="adj" fmla="val 3636"/>
            </a:avLst>
          </a:prstGeom>
          <a:solidFill>
            <a:schemeClr val="tx1"/>
          </a:solidFill>
          <a:ln w="12700">
            <a:solidFill>
              <a:schemeClr val="tx1"/>
            </a:solidFill>
            <a:prstDash val="solid"/>
          </a:ln>
        </p:spPr>
      </p:sp>
      <p:sp>
        <p:nvSpPr>
          <p:cNvPr id="6" name="Text 2"/>
          <p:cNvSpPr txBox="1"/>
          <p:nvPr/>
        </p:nvSpPr>
        <p:spPr>
          <a:xfrm>
            <a:off x="8778240" y="2011680"/>
            <a:ext cx="2468880" cy="1097280"/>
          </a:xfrm>
          <a:prstGeom prst="rect">
            <a:avLst/>
          </a:prstGeom>
          <a:noFill/>
          <a:ln/>
        </p:spPr>
        <p:txBody>
          <a:bodyPr wrap="square" lIns="0" tIns="0" rIns="0" bIns="0" rtlCol="0" anchor="t"/>
          <a:lstStyle/>
          <a:p>
            <a:pPr indent="0" marL="0">
              <a:buNone/>
            </a:pPr>
            <a:r>
              <a:rPr lang="en-US" sz="6000" b="1" dirty="0">
                <a:solidFill>
                  <a:schemeClr val="accent3"/>
                </a:solidFill>
              </a:rPr>
              <a:t>0.76</a:t>
            </a:r>
            <a:endParaRPr lang="en-US" sz="6000" dirty="0"/>
          </a:p>
        </p:txBody>
      </p:sp>
      <p:sp>
        <p:nvSpPr>
          <p:cNvPr id="7" name="Text 3"/>
          <p:cNvSpPr txBox="1"/>
          <p:nvPr/>
        </p:nvSpPr>
        <p:spPr>
          <a:xfrm>
            <a:off x="8778240" y="3383280"/>
            <a:ext cx="2468880" cy="2194560"/>
          </a:xfrm>
          <a:prstGeom prst="rect">
            <a:avLst/>
          </a:prstGeom>
          <a:noFill/>
          <a:ln/>
        </p:spPr>
        <p:txBody>
          <a:bodyPr wrap="square" lIns="0" tIns="0" rIns="0" bIns="0" rtlCol="0" anchor="t"/>
          <a:lstStyle/>
          <a:p>
            <a:pPr indent="0" marL="0">
              <a:buNone/>
            </a:pPr>
            <a:r>
              <a:rPr lang="en-US" sz="1600" dirty="0">
                <a:solidFill>
                  <a:schemeClr val="bg1"/>
                </a:solidFill>
              </a:rPr>
              <a:t>PR-AUC for the random forest, with precision 0.81 and recall 0.65.</a:t>
            </a:r>
            <a:endParaRPr lang="en-US" sz="1600" dirty="0"/>
          </a:p>
        </p:txBody>
      </p:sp>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914400"/>
          </a:xfrm>
          <a:prstGeom prst="rect">
            <a:avLst/>
          </a:prstGeom>
          <a:noFill/>
          <a:ln/>
        </p:spPr>
        <p:txBody>
          <a:bodyPr wrap="square" lIns="0" tIns="0" rIns="0" bIns="0" rtlCol="0" anchor="ctr"/>
          <a:lstStyle/>
          <a:p>
            <a:pPr algn="l" indent="0" marL="0">
              <a:buNone/>
            </a:pPr>
            <a:r>
              <a:rPr lang="en-US" sz="3600" b="1" dirty="0">
                <a:solidFill>
                  <a:schemeClr val="tx1"/>
                </a:solidFill>
              </a:rPr>
              <a:t>Best model in detail</a:t>
            </a:r>
            <a:endParaRPr lang="en-US" sz="3600" dirty="0"/>
          </a:p>
        </p:txBody>
      </p:sp>
      <p:sp>
        <p:nvSpPr>
          <p:cNvPr id="4" name="Tile 0"/>
          <p:cNvSpPr/>
          <p:nvPr/>
        </p:nvSpPr>
        <p:spPr>
          <a:xfrm>
            <a:off x="640080" y="1463040"/>
            <a:ext cx="2331720" cy="1645920"/>
          </a:xfrm>
          <a:prstGeom prst="roundRect">
            <a:avLst>
              <a:gd name="adj" fmla="val 6667"/>
            </a:avLst>
          </a:prstGeom>
          <a:solidFill>
            <a:schemeClr val="bg2"/>
          </a:solidFill>
          <a:ln w="12700">
            <a:solidFill>
              <a:schemeClr val="bg2"/>
            </a:solidFill>
            <a:prstDash val="solid"/>
          </a:ln>
        </p:spPr>
      </p:sp>
      <p:sp>
        <p:nvSpPr>
          <p:cNvPr id="5" name="Text 2"/>
          <p:cNvSpPr txBox="1"/>
          <p:nvPr/>
        </p:nvSpPr>
        <p:spPr>
          <a:xfrm>
            <a:off x="822960" y="1645920"/>
            <a:ext cx="1965960" cy="822960"/>
          </a:xfrm>
          <a:prstGeom prst="rect">
            <a:avLst/>
          </a:prstGeom>
          <a:noFill/>
          <a:ln/>
        </p:spPr>
        <p:txBody>
          <a:bodyPr wrap="square" lIns="0" tIns="0" rIns="0" bIns="0" rtlCol="0" anchor="ctr"/>
          <a:lstStyle/>
          <a:p>
            <a:pPr algn="ctr" indent="0" marL="0">
              <a:buNone/>
            </a:pPr>
            <a:r>
              <a:rPr lang="en-US" sz="3600" b="1" dirty="0">
                <a:solidFill>
                  <a:schemeClr val="accent1"/>
                </a:solidFill>
              </a:rPr>
              <a:t>373</a:t>
            </a:r>
            <a:endParaRPr lang="en-US" sz="3600" dirty="0"/>
          </a:p>
        </p:txBody>
      </p:sp>
      <p:sp>
        <p:nvSpPr>
          <p:cNvPr id="6" name="Text 3"/>
          <p:cNvSpPr txBox="1"/>
          <p:nvPr/>
        </p:nvSpPr>
        <p:spPr>
          <a:xfrm>
            <a:off x="822960" y="2514600"/>
            <a:ext cx="1965960" cy="457200"/>
          </a:xfrm>
          <a:prstGeom prst="rect">
            <a:avLst/>
          </a:prstGeom>
          <a:noFill/>
          <a:ln/>
        </p:spPr>
        <p:txBody>
          <a:bodyPr wrap="square" lIns="0" tIns="0" rIns="0" bIns="0" rtlCol="0" anchor="t"/>
          <a:lstStyle/>
          <a:p>
            <a:pPr algn="ctr" indent="0" marL="0">
              <a:buNone/>
            </a:pPr>
            <a:r>
              <a:rPr lang="en-US" sz="1400" dirty="0">
                <a:solidFill>
                  <a:schemeClr val="tx1"/>
                </a:solidFill>
              </a:rPr>
              <a:t>Fraud caught</a:t>
            </a:r>
            <a:endParaRPr lang="en-US" sz="1400" dirty="0"/>
          </a:p>
        </p:txBody>
      </p:sp>
      <p:sp>
        <p:nvSpPr>
          <p:cNvPr id="7" name="Tile 1"/>
          <p:cNvSpPr/>
          <p:nvPr/>
        </p:nvSpPr>
        <p:spPr>
          <a:xfrm>
            <a:off x="3154680" y="1463040"/>
            <a:ext cx="2331720" cy="1645920"/>
          </a:xfrm>
          <a:prstGeom prst="roundRect">
            <a:avLst>
              <a:gd name="adj" fmla="val 6667"/>
            </a:avLst>
          </a:prstGeom>
          <a:solidFill>
            <a:schemeClr val="bg2"/>
          </a:solidFill>
          <a:ln w="12700">
            <a:solidFill>
              <a:schemeClr val="bg2"/>
            </a:solidFill>
            <a:prstDash val="solid"/>
          </a:ln>
        </p:spPr>
      </p:sp>
      <p:sp>
        <p:nvSpPr>
          <p:cNvPr id="8" name="Text 5"/>
          <p:cNvSpPr txBox="1"/>
          <p:nvPr/>
        </p:nvSpPr>
        <p:spPr>
          <a:xfrm>
            <a:off x="3337560" y="1645920"/>
            <a:ext cx="1965960" cy="822960"/>
          </a:xfrm>
          <a:prstGeom prst="rect">
            <a:avLst/>
          </a:prstGeom>
          <a:noFill/>
          <a:ln/>
        </p:spPr>
        <p:txBody>
          <a:bodyPr wrap="square" lIns="0" tIns="0" rIns="0" bIns="0" rtlCol="0" anchor="ctr"/>
          <a:lstStyle/>
          <a:p>
            <a:pPr algn="ctr" indent="0" marL="0">
              <a:buNone/>
            </a:pPr>
            <a:r>
              <a:rPr lang="en-US" sz="3600" b="1" dirty="0">
                <a:solidFill>
                  <a:schemeClr val="accent2"/>
                </a:solidFill>
              </a:rPr>
              <a:t>85</a:t>
            </a:r>
            <a:endParaRPr lang="en-US" sz="3600" dirty="0"/>
          </a:p>
        </p:txBody>
      </p:sp>
      <p:sp>
        <p:nvSpPr>
          <p:cNvPr id="9" name="Text 6"/>
          <p:cNvSpPr txBox="1"/>
          <p:nvPr/>
        </p:nvSpPr>
        <p:spPr>
          <a:xfrm>
            <a:off x="3337560" y="2514600"/>
            <a:ext cx="1965960" cy="457200"/>
          </a:xfrm>
          <a:prstGeom prst="rect">
            <a:avLst/>
          </a:prstGeom>
          <a:noFill/>
          <a:ln/>
        </p:spPr>
        <p:txBody>
          <a:bodyPr wrap="square" lIns="0" tIns="0" rIns="0" bIns="0" rtlCol="0" anchor="t"/>
          <a:lstStyle/>
          <a:p>
            <a:pPr algn="ctr" indent="0" marL="0">
              <a:buNone/>
            </a:pPr>
            <a:r>
              <a:rPr lang="en-US" sz="1400" dirty="0">
                <a:solidFill>
                  <a:schemeClr val="tx1"/>
                </a:solidFill>
              </a:rPr>
              <a:t>False alarms</a:t>
            </a:r>
            <a:endParaRPr lang="en-US" sz="1400" dirty="0"/>
          </a:p>
        </p:txBody>
      </p:sp>
      <p:sp>
        <p:nvSpPr>
          <p:cNvPr id="10" name="Tile 2"/>
          <p:cNvSpPr/>
          <p:nvPr/>
        </p:nvSpPr>
        <p:spPr>
          <a:xfrm>
            <a:off x="640080" y="3291840"/>
            <a:ext cx="2331720" cy="1645920"/>
          </a:xfrm>
          <a:prstGeom prst="roundRect">
            <a:avLst>
              <a:gd name="adj" fmla="val 6667"/>
            </a:avLst>
          </a:prstGeom>
          <a:solidFill>
            <a:schemeClr val="bg2"/>
          </a:solidFill>
          <a:ln w="12700">
            <a:solidFill>
              <a:schemeClr val="bg2"/>
            </a:solidFill>
            <a:prstDash val="solid"/>
          </a:ln>
        </p:spPr>
      </p:sp>
      <p:sp>
        <p:nvSpPr>
          <p:cNvPr id="11" name="Text 8"/>
          <p:cNvSpPr txBox="1"/>
          <p:nvPr/>
        </p:nvSpPr>
        <p:spPr>
          <a:xfrm>
            <a:off x="822960" y="3474720"/>
            <a:ext cx="1965960" cy="822960"/>
          </a:xfrm>
          <a:prstGeom prst="rect">
            <a:avLst/>
          </a:prstGeom>
          <a:noFill/>
          <a:ln/>
        </p:spPr>
        <p:txBody>
          <a:bodyPr wrap="square" lIns="0" tIns="0" rIns="0" bIns="0" rtlCol="0" anchor="ctr"/>
          <a:lstStyle/>
          <a:p>
            <a:pPr algn="ctr" indent="0" marL="0">
              <a:buNone/>
            </a:pPr>
            <a:r>
              <a:rPr lang="en-US" sz="3600" b="1" dirty="0">
                <a:solidFill>
                  <a:schemeClr val="accent2"/>
                </a:solidFill>
              </a:rPr>
              <a:t>198</a:t>
            </a:r>
            <a:endParaRPr lang="en-US" sz="3600" dirty="0"/>
          </a:p>
        </p:txBody>
      </p:sp>
      <p:sp>
        <p:nvSpPr>
          <p:cNvPr id="12" name="Text 9"/>
          <p:cNvSpPr txBox="1"/>
          <p:nvPr/>
        </p:nvSpPr>
        <p:spPr>
          <a:xfrm>
            <a:off x="822960" y="4343400"/>
            <a:ext cx="1965960" cy="457200"/>
          </a:xfrm>
          <a:prstGeom prst="rect">
            <a:avLst/>
          </a:prstGeom>
          <a:noFill/>
          <a:ln/>
        </p:spPr>
        <p:txBody>
          <a:bodyPr wrap="square" lIns="0" tIns="0" rIns="0" bIns="0" rtlCol="0" anchor="t"/>
          <a:lstStyle/>
          <a:p>
            <a:pPr algn="ctr" indent="0" marL="0">
              <a:buNone/>
            </a:pPr>
            <a:r>
              <a:rPr lang="en-US" sz="1400" dirty="0">
                <a:solidFill>
                  <a:schemeClr val="tx1"/>
                </a:solidFill>
              </a:rPr>
              <a:t>Fraud missed</a:t>
            </a:r>
            <a:endParaRPr lang="en-US" sz="1400" dirty="0"/>
          </a:p>
        </p:txBody>
      </p:sp>
      <p:sp>
        <p:nvSpPr>
          <p:cNvPr id="13" name="Tile 3"/>
          <p:cNvSpPr/>
          <p:nvPr/>
        </p:nvSpPr>
        <p:spPr>
          <a:xfrm>
            <a:off x="3154680" y="3291840"/>
            <a:ext cx="2331720" cy="1645920"/>
          </a:xfrm>
          <a:prstGeom prst="roundRect">
            <a:avLst>
              <a:gd name="adj" fmla="val 6667"/>
            </a:avLst>
          </a:prstGeom>
          <a:solidFill>
            <a:schemeClr val="bg2"/>
          </a:solidFill>
          <a:ln w="12700">
            <a:solidFill>
              <a:schemeClr val="bg2"/>
            </a:solidFill>
            <a:prstDash val="solid"/>
          </a:ln>
        </p:spPr>
      </p:sp>
      <p:sp>
        <p:nvSpPr>
          <p:cNvPr id="14" name="Text 11"/>
          <p:cNvSpPr txBox="1"/>
          <p:nvPr/>
        </p:nvSpPr>
        <p:spPr>
          <a:xfrm>
            <a:off x="3337560" y="3474720"/>
            <a:ext cx="1965960" cy="822960"/>
          </a:xfrm>
          <a:prstGeom prst="rect">
            <a:avLst/>
          </a:prstGeom>
          <a:noFill/>
          <a:ln/>
        </p:spPr>
        <p:txBody>
          <a:bodyPr wrap="square" lIns="0" tIns="0" rIns="0" bIns="0" rtlCol="0" anchor="ctr"/>
          <a:lstStyle/>
          <a:p>
            <a:pPr algn="ctr" indent="0" marL="0">
              <a:buNone/>
            </a:pPr>
            <a:r>
              <a:rPr lang="en-US" sz="3600" b="1" dirty="0">
                <a:solidFill>
                  <a:schemeClr val="accent1"/>
                </a:solidFill>
              </a:rPr>
              <a:t>122,717</a:t>
            </a:r>
            <a:endParaRPr lang="en-US" sz="3600" dirty="0"/>
          </a:p>
        </p:txBody>
      </p:sp>
      <p:sp>
        <p:nvSpPr>
          <p:cNvPr id="15" name="Text 12"/>
          <p:cNvSpPr txBox="1"/>
          <p:nvPr/>
        </p:nvSpPr>
        <p:spPr>
          <a:xfrm>
            <a:off x="3337560" y="4343400"/>
            <a:ext cx="1965960" cy="457200"/>
          </a:xfrm>
          <a:prstGeom prst="rect">
            <a:avLst/>
          </a:prstGeom>
          <a:noFill/>
          <a:ln/>
        </p:spPr>
        <p:txBody>
          <a:bodyPr wrap="square" lIns="0" tIns="0" rIns="0" bIns="0" rtlCol="0" anchor="t"/>
          <a:lstStyle/>
          <a:p>
            <a:pPr algn="ctr" indent="0" marL="0">
              <a:buNone/>
            </a:pPr>
            <a:r>
              <a:rPr lang="en-US" sz="1400" dirty="0">
                <a:solidFill>
                  <a:schemeClr val="tx1"/>
                </a:solidFill>
              </a:rPr>
              <a:t>Normal, left alone</a:t>
            </a:r>
            <a:endParaRPr lang="en-US" sz="1400" dirty="0"/>
          </a:p>
        </p:txBody>
      </p:sp>
      <p:graphicFrame>
        <p:nvGraphicFramePr>
          <p:cNvPr id="16" name="PR curve" descr=""/>
          <p:cNvGraphicFramePr/>
          <p:nvPr/>
        </p:nvGraphicFramePr>
        <p:xfrm>
          <a:off x="5852160" y="1463040"/>
          <a:ext cx="5669280" cy="3474720"/>
        </p:xfrm>
        <a:graphic xmlns:a="http://schemas.openxmlformats.org/drawingml/2006/main">
          <a:graphicData uri="http://schemas.openxmlformats.org/drawingml/2006/chart">
            <c:chart xmlns:c="http://schemas.openxmlformats.org/drawingml/2006/chart" r:id="rId1"/>
          </a:graphicData>
        </a:graphic>
      </p:graphicFrame>
      <p:sp>
        <p:nvSpPr>
          <p:cNvPr id="17" name="Strip"/>
          <p:cNvSpPr/>
          <p:nvPr/>
        </p:nvSpPr>
        <p:spPr>
          <a:xfrm>
            <a:off x="640080" y="5120640"/>
            <a:ext cx="10881360" cy="1097280"/>
          </a:xfrm>
          <a:prstGeom prst="roundRect">
            <a:avLst>
              <a:gd name="adj" fmla="val 10000"/>
            </a:avLst>
          </a:prstGeom>
          <a:solidFill>
            <a:schemeClr val="bg2"/>
          </a:solidFill>
          <a:ln w="12700">
            <a:solidFill>
              <a:schemeClr val="bg2"/>
            </a:solidFill>
            <a:prstDash val="solid"/>
          </a:ln>
        </p:spPr>
      </p:sp>
      <p:sp>
        <p:nvSpPr>
          <p:cNvPr id="18" name="Strip circle"/>
          <p:cNvSpPr/>
          <p:nvPr/>
        </p:nvSpPr>
        <p:spPr>
          <a:xfrm>
            <a:off x="914400" y="5303520"/>
            <a:ext cx="731520" cy="731520"/>
          </a:xfrm>
          <a:prstGeom prst="ellipse">
            <a:avLst/>
          </a:prstGeom>
          <a:solidFill>
            <a:schemeClr val="accent3"/>
          </a:solidFill>
          <a:ln w="12700">
            <a:solidFill>
              <a:schemeClr val="accent3"/>
            </a:solidFill>
            <a:prstDash val="solid"/>
          </a:ln>
        </p:spPr>
      </p:sp>
      <p:sp>
        <p:nvSpPr>
          <p:cNvPr id="19" name="Text 15"/>
          <p:cNvSpPr txBox="1"/>
          <p:nvPr/>
        </p:nvSpPr>
        <p:spPr>
          <a:xfrm>
            <a:off x="1920240" y="5303520"/>
            <a:ext cx="9326880" cy="731520"/>
          </a:xfrm>
          <a:prstGeom prst="rect">
            <a:avLst/>
          </a:prstGeom>
          <a:noFill/>
          <a:ln/>
        </p:spPr>
        <p:txBody>
          <a:bodyPr wrap="square" lIns="0" tIns="0" rIns="0" bIns="0" rtlCol="0" anchor="ctr"/>
          <a:lstStyle/>
          <a:p>
            <a:pPr indent="0" marL="0">
              <a:buNone/>
            </a:pPr>
            <a:r>
              <a:rPr lang="en-US" sz="1600" b="1" dirty="0">
                <a:solidFill>
                  <a:schemeClr val="tx1"/>
                </a:solidFill>
              </a:rPr>
              <a:t>Trade-off: </a:t>
            </a:r>
            <a:pPr indent="0" marL="0">
              <a:buNone/>
            </a:pPr>
            <a:r>
              <a:rPr lang="en-US" sz="1600" dirty="0">
                <a:solidFill>
                  <a:schemeClr val="tx1"/>
                </a:solidFill>
              </a:rPr>
              <a:t>the tuned threshold balances false alarms against missed fraud.</a:t>
            </a:r>
            <a:endParaRPr lang="en-US" sz="1600" dirty="0"/>
          </a:p>
        </p:txBody>
      </p:sp>
      <p:pic>
        <p:nvPicPr>
          <p:cNvPr id="20" name="Strip icon" descr="Strip">    </p:cNvPr>
          <p:cNvPicPr>
            <a:picLocks noChangeAspect="1"/>
          </p:cNvPicPr>
          <p:nvPr/>
        </p:nvPicPr>
        <p:blipFill>
          <a:blip r:embed="rId2"/>
          <a:stretch>
            <a:fillRect/>
          </a:stretch>
        </p:blipFill>
        <p:spPr>
          <a:xfrm>
            <a:off x="1075334" y="5464454"/>
            <a:ext cx="409651" cy="409651"/>
          </a:xfrm>
          <a:prstGeom prst="rect">
            <a:avLst/>
          </a:prstGeom>
        </p:spPr>
      </p:pic>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914400"/>
          </a:xfrm>
          <a:prstGeom prst="rect">
            <a:avLst/>
          </a:prstGeom>
          <a:noFill/>
          <a:ln/>
        </p:spPr>
        <p:txBody>
          <a:bodyPr wrap="square" lIns="0" tIns="0" rIns="0" bIns="0" rtlCol="0" anchor="ctr"/>
          <a:lstStyle/>
          <a:p>
            <a:pPr algn="l" indent="0" marL="0">
              <a:buNone/>
            </a:pPr>
            <a:r>
              <a:rPr lang="en-US" sz="3600" b="1" dirty="0">
                <a:solidFill>
                  <a:schemeClr val="tx1"/>
                </a:solidFill>
              </a:rPr>
              <a:t>What drives fraud</a:t>
            </a:r>
            <a:endParaRPr lang="en-US" sz="3600" dirty="0"/>
          </a:p>
        </p:txBody>
      </p:sp>
      <p:graphicFrame>
        <p:nvGraphicFramePr>
          <p:cNvPr id="4" name="Importance chart" descr=""/>
          <p:cNvGraphicFramePr/>
          <p:nvPr/>
        </p:nvGraphicFramePr>
        <p:xfrm>
          <a:off x="640080" y="1463040"/>
          <a:ext cx="10881360" cy="44805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914400"/>
          </a:xfrm>
          <a:prstGeom prst="rect">
            <a:avLst/>
          </a:prstGeom>
          <a:noFill/>
          <a:ln/>
        </p:spPr>
        <p:txBody>
          <a:bodyPr wrap="square" lIns="0" tIns="0" rIns="0" bIns="0" rtlCol="0" anchor="ctr"/>
          <a:lstStyle/>
          <a:p>
            <a:pPr algn="l" indent="0" marL="0">
              <a:buNone/>
            </a:pPr>
            <a:r>
              <a:rPr lang="en-US" sz="3600" b="1" dirty="0">
                <a:solidFill>
                  <a:schemeClr val="tx1"/>
                </a:solidFill>
              </a:rPr>
              <a:t>Do our features help?</a:t>
            </a:r>
            <a:endParaRPr lang="en-US" sz="3600" dirty="0"/>
          </a:p>
        </p:txBody>
      </p:sp>
      <p:graphicFrame>
        <p:nvGraphicFramePr>
          <p:cNvPr id="4" name="Ablation chart" descr=""/>
          <p:cNvGraphicFramePr/>
          <p:nvPr/>
        </p:nvGraphicFramePr>
        <p:xfrm>
          <a:off x="640080" y="1463040"/>
          <a:ext cx="10881360" cy="3474720"/>
        </p:xfrm>
        <a:graphic xmlns:a="http://schemas.openxmlformats.org/drawingml/2006/main">
          <a:graphicData uri="http://schemas.openxmlformats.org/drawingml/2006/chart">
            <c:chart xmlns:c="http://schemas.openxmlformats.org/drawingml/2006/chart" r:id="rId1"/>
          </a:graphicData>
        </a:graphic>
      </p:graphicFrame>
      <p:sp>
        <p:nvSpPr>
          <p:cNvPr id="5" name="Strip"/>
          <p:cNvSpPr/>
          <p:nvPr/>
        </p:nvSpPr>
        <p:spPr>
          <a:xfrm>
            <a:off x="640080" y="5120640"/>
            <a:ext cx="10881360" cy="1097280"/>
          </a:xfrm>
          <a:prstGeom prst="roundRect">
            <a:avLst>
              <a:gd name="adj" fmla="val 10000"/>
            </a:avLst>
          </a:prstGeom>
          <a:solidFill>
            <a:schemeClr val="bg2"/>
          </a:solidFill>
          <a:ln w="12700">
            <a:solidFill>
              <a:schemeClr val="bg2"/>
            </a:solidFill>
            <a:prstDash val="solid"/>
          </a:ln>
        </p:spPr>
      </p:sp>
      <p:sp>
        <p:nvSpPr>
          <p:cNvPr id="6" name="Strip circle"/>
          <p:cNvSpPr/>
          <p:nvPr/>
        </p:nvSpPr>
        <p:spPr>
          <a:xfrm>
            <a:off x="914400" y="5303520"/>
            <a:ext cx="731520" cy="731520"/>
          </a:xfrm>
          <a:prstGeom prst="ellipse">
            <a:avLst/>
          </a:prstGeom>
          <a:solidFill>
            <a:schemeClr val="accent3"/>
          </a:solidFill>
          <a:ln w="12700">
            <a:solidFill>
              <a:schemeClr val="accent3"/>
            </a:solidFill>
            <a:prstDash val="solid"/>
          </a:ln>
        </p:spPr>
      </p:sp>
      <p:sp>
        <p:nvSpPr>
          <p:cNvPr id="7" name="Text 3"/>
          <p:cNvSpPr txBox="1"/>
          <p:nvPr/>
        </p:nvSpPr>
        <p:spPr>
          <a:xfrm>
            <a:off x="1920240" y="5303520"/>
            <a:ext cx="9326880" cy="731520"/>
          </a:xfrm>
          <a:prstGeom prst="rect">
            <a:avLst/>
          </a:prstGeom>
          <a:noFill/>
          <a:ln/>
        </p:spPr>
        <p:txBody>
          <a:bodyPr wrap="square" lIns="0" tIns="0" rIns="0" bIns="0" rtlCol="0" anchor="ctr"/>
          <a:lstStyle/>
          <a:p>
            <a:pPr indent="0" marL="0">
              <a:buNone/>
            </a:pPr>
            <a:r>
              <a:rPr lang="en-US" sz="1600" b="1" dirty="0">
                <a:solidFill>
                  <a:schemeClr val="tx1"/>
                </a:solidFill>
              </a:rPr>
              <a:t>History helps: </a:t>
            </a:r>
            <a:pPr indent="0" marL="0">
              <a:buNone/>
            </a:pPr>
            <a:r>
              <a:rPr lang="en-US" sz="1600" dirty="0">
                <a:solidFill>
                  <a:schemeClr val="tx1"/>
                </a:solidFill>
              </a:rPr>
              <a:t>PR-AUC rises from 0.57 to 0.77; distance adds nothing here.</a:t>
            </a:r>
            <a:endParaRPr lang="en-US" sz="1600" dirty="0"/>
          </a:p>
        </p:txBody>
      </p:sp>
      <p:pic>
        <p:nvPicPr>
          <p:cNvPr id="8" name="Strip icon" descr="Strip">    </p:cNvPr>
          <p:cNvPicPr>
            <a:picLocks noChangeAspect="1"/>
          </p:cNvPicPr>
          <p:nvPr/>
        </p:nvPicPr>
        <p:blipFill>
          <a:blip r:embed="rId2"/>
          <a:stretch>
            <a:fillRect/>
          </a:stretch>
        </p:blipFill>
        <p:spPr>
          <a:xfrm>
            <a:off x="1075334" y="5464454"/>
            <a:ext cx="409651" cy="409651"/>
          </a:xfrm>
          <a:prstGeom prst="rect">
            <a:avLst/>
          </a:prstGeom>
        </p:spPr>
      </p:pic>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914400"/>
          </a:xfrm>
          <a:prstGeom prst="rect">
            <a:avLst/>
          </a:prstGeom>
          <a:noFill/>
          <a:ln/>
        </p:spPr>
        <p:txBody>
          <a:bodyPr wrap="square" lIns="0" tIns="0" rIns="0" bIns="0" rtlCol="0" anchor="ctr"/>
          <a:lstStyle/>
          <a:p>
            <a:pPr algn="l" indent="0" marL="0">
              <a:buNone/>
            </a:pPr>
            <a:r>
              <a:rPr lang="en-US" sz="3600" b="1" dirty="0">
                <a:solidFill>
                  <a:schemeClr val="tx1"/>
                </a:solidFill>
              </a:rPr>
              <a:t>Live demo</a:t>
            </a:r>
            <a:endParaRPr lang="en-US" sz="3600" dirty="0"/>
          </a:p>
        </p:txBody>
      </p:sp>
      <p:sp>
        <p:nvSpPr>
          <p:cNvPr id="4" name="Demo 0"/>
          <p:cNvSpPr/>
          <p:nvPr/>
        </p:nvSpPr>
        <p:spPr>
          <a:xfrm>
            <a:off x="640080" y="1554480"/>
            <a:ext cx="2560320" cy="3200400"/>
          </a:xfrm>
          <a:prstGeom prst="roundRect">
            <a:avLst>
              <a:gd name="adj" fmla="val 4286"/>
            </a:avLst>
          </a:prstGeom>
          <a:solidFill>
            <a:schemeClr val="bg2"/>
          </a:solidFill>
          <a:ln w="12700">
            <a:solidFill>
              <a:schemeClr val="bg2"/>
            </a:solidFill>
            <a:prstDash val="solid"/>
          </a:ln>
        </p:spPr>
      </p:sp>
      <p:sp>
        <p:nvSpPr>
          <p:cNvPr id="5" name="Text 2"/>
          <p:cNvSpPr txBox="1"/>
          <p:nvPr/>
        </p:nvSpPr>
        <p:spPr>
          <a:xfrm>
            <a:off x="868680" y="1783080"/>
            <a:ext cx="2103120" cy="1005840"/>
          </a:xfrm>
          <a:prstGeom prst="rect">
            <a:avLst/>
          </a:prstGeom>
          <a:noFill/>
          <a:ln/>
        </p:spPr>
        <p:txBody>
          <a:bodyPr wrap="square" lIns="0" tIns="0" rIns="0" bIns="0" rtlCol="0" anchor="t"/>
          <a:lstStyle/>
          <a:p>
            <a:pPr indent="0" marL="0">
              <a:buNone/>
            </a:pPr>
            <a:r>
              <a:rPr lang="en-US" sz="5400" b="1" dirty="0">
                <a:solidFill>
                  <a:schemeClr val="accent1"/>
                </a:solidFill>
              </a:rPr>
              <a:t>12</a:t>
            </a:r>
            <a:endParaRPr lang="en-US" sz="5400" dirty="0"/>
          </a:p>
        </p:txBody>
      </p:sp>
      <p:sp>
        <p:nvSpPr>
          <p:cNvPr id="6" name="Verdict 0"/>
          <p:cNvSpPr/>
          <p:nvPr/>
        </p:nvSpPr>
        <p:spPr>
          <a:xfrm>
            <a:off x="868680" y="2880360"/>
            <a:ext cx="1554480" cy="347472"/>
          </a:xfrm>
          <a:prstGeom prst="roundRect">
            <a:avLst>
              <a:gd name="adj" fmla="val 50000"/>
            </a:avLst>
          </a:prstGeom>
          <a:solidFill>
            <a:schemeClr val="accent1"/>
          </a:solidFill>
          <a:ln w="12700">
            <a:solidFill>
              <a:schemeClr val="accent1"/>
            </a:solidFill>
            <a:prstDash val="solid"/>
          </a:ln>
        </p:spPr>
      </p:sp>
      <p:sp>
        <p:nvSpPr>
          <p:cNvPr id="7" name="Text 4"/>
          <p:cNvSpPr txBox="1"/>
          <p:nvPr/>
        </p:nvSpPr>
        <p:spPr>
          <a:xfrm>
            <a:off x="868680" y="2880360"/>
            <a:ext cx="1554480" cy="347472"/>
          </a:xfrm>
          <a:prstGeom prst="rect">
            <a:avLst/>
          </a:prstGeom>
          <a:noFill/>
          <a:ln/>
        </p:spPr>
        <p:txBody>
          <a:bodyPr wrap="square" lIns="0" tIns="0" rIns="0" bIns="0" rtlCol="0" anchor="ctr"/>
          <a:lstStyle/>
          <a:p>
            <a:pPr algn="ctr" indent="0" marL="0">
              <a:buNone/>
            </a:pPr>
            <a:r>
              <a:rPr lang="en-US" sz="1200" b="1" dirty="0">
                <a:solidFill>
                  <a:schemeClr val="bg1"/>
                </a:solidFill>
              </a:rPr>
              <a:t>Looks normal</a:t>
            </a:r>
            <a:endParaRPr lang="en-US" sz="1200" dirty="0"/>
          </a:p>
        </p:txBody>
      </p:sp>
      <p:sp>
        <p:nvSpPr>
          <p:cNvPr id="8" name="Text 5"/>
          <p:cNvSpPr txBox="1"/>
          <p:nvPr/>
        </p:nvSpPr>
        <p:spPr>
          <a:xfrm>
            <a:off x="868680" y="3429000"/>
            <a:ext cx="2103120" cy="457200"/>
          </a:xfrm>
          <a:prstGeom prst="rect">
            <a:avLst/>
          </a:prstGeom>
          <a:noFill/>
          <a:ln/>
        </p:spPr>
        <p:txBody>
          <a:bodyPr wrap="square" lIns="0" tIns="0" rIns="0" bIns="0" rtlCol="0" anchor="t"/>
          <a:lstStyle/>
          <a:p>
            <a:pPr indent="0" marL="0">
              <a:buNone/>
            </a:pPr>
            <a:r>
              <a:rPr lang="en-US" sz="1700" b="1" dirty="0">
                <a:solidFill>
                  <a:schemeClr val="tx1"/>
                </a:solidFill>
              </a:rPr>
              <a:t>Coffee near home</a:t>
            </a:r>
            <a:endParaRPr lang="en-US" sz="1700" dirty="0"/>
          </a:p>
        </p:txBody>
      </p:sp>
      <p:sp>
        <p:nvSpPr>
          <p:cNvPr id="9" name="Text 6"/>
          <p:cNvSpPr txBox="1"/>
          <p:nvPr/>
        </p:nvSpPr>
        <p:spPr>
          <a:xfrm>
            <a:off x="868680" y="3977640"/>
            <a:ext cx="2103120" cy="640080"/>
          </a:xfrm>
          <a:prstGeom prst="rect">
            <a:avLst/>
          </a:prstGeom>
          <a:noFill/>
          <a:ln/>
        </p:spPr>
        <p:txBody>
          <a:bodyPr wrap="square" lIns="0" tIns="0" rIns="0" bIns="0" rtlCol="0" anchor="t"/>
          <a:lstStyle/>
          <a:p>
            <a:pPr indent="0" marL="0">
              <a:buNone/>
            </a:pPr>
            <a:r>
              <a:rPr lang="en-US" sz="1400" dirty="0">
                <a:solidFill>
                  <a:schemeClr val="tx1"/>
                </a:solidFill>
              </a:rPr>
              <a:t>Biggest mover: amount</a:t>
            </a:r>
            <a:endParaRPr lang="en-US" sz="1400" dirty="0"/>
          </a:p>
        </p:txBody>
      </p:sp>
      <p:sp>
        <p:nvSpPr>
          <p:cNvPr id="10" name="Demo 1"/>
          <p:cNvSpPr/>
          <p:nvPr/>
        </p:nvSpPr>
        <p:spPr>
          <a:xfrm>
            <a:off x="3413455" y="1554480"/>
            <a:ext cx="2560320" cy="3200400"/>
          </a:xfrm>
          <a:prstGeom prst="roundRect">
            <a:avLst>
              <a:gd name="adj" fmla="val 4286"/>
            </a:avLst>
          </a:prstGeom>
          <a:solidFill>
            <a:schemeClr val="bg2"/>
          </a:solidFill>
          <a:ln w="12700">
            <a:solidFill>
              <a:schemeClr val="bg2"/>
            </a:solidFill>
            <a:prstDash val="solid"/>
          </a:ln>
        </p:spPr>
      </p:sp>
      <p:sp>
        <p:nvSpPr>
          <p:cNvPr id="11" name="Text 8"/>
          <p:cNvSpPr txBox="1"/>
          <p:nvPr/>
        </p:nvSpPr>
        <p:spPr>
          <a:xfrm>
            <a:off x="3642055" y="1783080"/>
            <a:ext cx="2103120" cy="1005840"/>
          </a:xfrm>
          <a:prstGeom prst="rect">
            <a:avLst/>
          </a:prstGeom>
          <a:noFill/>
          <a:ln/>
        </p:spPr>
        <p:txBody>
          <a:bodyPr wrap="square" lIns="0" tIns="0" rIns="0" bIns="0" rtlCol="0" anchor="t"/>
          <a:lstStyle/>
          <a:p>
            <a:pPr indent="0" marL="0">
              <a:buNone/>
            </a:pPr>
            <a:r>
              <a:rPr lang="en-US" sz="5400" b="1" dirty="0">
                <a:solidFill>
                  <a:schemeClr val="accent1"/>
                </a:solidFill>
              </a:rPr>
              <a:t>0</a:t>
            </a:r>
            <a:endParaRPr lang="en-US" sz="5400" dirty="0"/>
          </a:p>
        </p:txBody>
      </p:sp>
      <p:sp>
        <p:nvSpPr>
          <p:cNvPr id="12" name="Verdict 1"/>
          <p:cNvSpPr/>
          <p:nvPr/>
        </p:nvSpPr>
        <p:spPr>
          <a:xfrm>
            <a:off x="3642055" y="2880360"/>
            <a:ext cx="1554480" cy="347472"/>
          </a:xfrm>
          <a:prstGeom prst="roundRect">
            <a:avLst>
              <a:gd name="adj" fmla="val 50000"/>
            </a:avLst>
          </a:prstGeom>
          <a:solidFill>
            <a:schemeClr val="accent1"/>
          </a:solidFill>
          <a:ln w="12700">
            <a:solidFill>
              <a:schemeClr val="accent1"/>
            </a:solidFill>
            <a:prstDash val="solid"/>
          </a:ln>
        </p:spPr>
      </p:sp>
      <p:sp>
        <p:nvSpPr>
          <p:cNvPr id="13" name="Text 10"/>
          <p:cNvSpPr txBox="1"/>
          <p:nvPr/>
        </p:nvSpPr>
        <p:spPr>
          <a:xfrm>
            <a:off x="3642055" y="2880360"/>
            <a:ext cx="1554480" cy="347472"/>
          </a:xfrm>
          <a:prstGeom prst="rect">
            <a:avLst/>
          </a:prstGeom>
          <a:noFill/>
          <a:ln/>
        </p:spPr>
        <p:txBody>
          <a:bodyPr wrap="square" lIns="0" tIns="0" rIns="0" bIns="0" rtlCol="0" anchor="ctr"/>
          <a:lstStyle/>
          <a:p>
            <a:pPr algn="ctr" indent="0" marL="0">
              <a:buNone/>
            </a:pPr>
            <a:r>
              <a:rPr lang="en-US" sz="1200" b="1" dirty="0">
                <a:solidFill>
                  <a:schemeClr val="bg1"/>
                </a:solidFill>
              </a:rPr>
              <a:t>Looks normal</a:t>
            </a:r>
            <a:endParaRPr lang="en-US" sz="1200" dirty="0"/>
          </a:p>
        </p:txBody>
      </p:sp>
      <p:sp>
        <p:nvSpPr>
          <p:cNvPr id="14" name="Text 11"/>
          <p:cNvSpPr txBox="1"/>
          <p:nvPr/>
        </p:nvSpPr>
        <p:spPr>
          <a:xfrm>
            <a:off x="3642055" y="3429000"/>
            <a:ext cx="2103120" cy="457200"/>
          </a:xfrm>
          <a:prstGeom prst="rect">
            <a:avLst/>
          </a:prstGeom>
          <a:noFill/>
          <a:ln/>
        </p:spPr>
        <p:txBody>
          <a:bodyPr wrap="square" lIns="0" tIns="0" rIns="0" bIns="0" rtlCol="0" anchor="t"/>
          <a:lstStyle/>
          <a:p>
            <a:pPr indent="0" marL="0">
              <a:buNone/>
            </a:pPr>
            <a:r>
              <a:rPr lang="en-US" sz="1700" b="1" dirty="0">
                <a:solidFill>
                  <a:schemeClr val="tx1"/>
                </a:solidFill>
              </a:rPr>
              <a:t>Gas on a road trip</a:t>
            </a:r>
            <a:endParaRPr lang="en-US" sz="1700" dirty="0"/>
          </a:p>
        </p:txBody>
      </p:sp>
      <p:sp>
        <p:nvSpPr>
          <p:cNvPr id="15" name="Text 12"/>
          <p:cNvSpPr txBox="1"/>
          <p:nvPr/>
        </p:nvSpPr>
        <p:spPr>
          <a:xfrm>
            <a:off x="3642055" y="3977640"/>
            <a:ext cx="2103120" cy="640080"/>
          </a:xfrm>
          <a:prstGeom prst="rect">
            <a:avLst/>
          </a:prstGeom>
          <a:noFill/>
          <a:ln/>
        </p:spPr>
        <p:txBody>
          <a:bodyPr wrap="square" lIns="0" tIns="0" rIns="0" bIns="0" rtlCol="0" anchor="t"/>
          <a:lstStyle/>
          <a:p>
            <a:pPr indent="0" marL="0">
              <a:buNone/>
            </a:pPr>
            <a:r>
              <a:rPr lang="en-US" sz="1400" dirty="0">
                <a:solidFill>
                  <a:schemeClr val="tx1"/>
                </a:solidFill>
              </a:rPr>
              <a:t>Biggest mover: recent activity</a:t>
            </a:r>
            <a:endParaRPr lang="en-US" sz="1400" dirty="0"/>
          </a:p>
        </p:txBody>
      </p:sp>
      <p:sp>
        <p:nvSpPr>
          <p:cNvPr id="16" name="Demo 2"/>
          <p:cNvSpPr/>
          <p:nvPr/>
        </p:nvSpPr>
        <p:spPr>
          <a:xfrm>
            <a:off x="6186830" y="1554480"/>
            <a:ext cx="2560320" cy="3200400"/>
          </a:xfrm>
          <a:prstGeom prst="roundRect">
            <a:avLst>
              <a:gd name="adj" fmla="val 4286"/>
            </a:avLst>
          </a:prstGeom>
          <a:solidFill>
            <a:schemeClr val="bg2"/>
          </a:solidFill>
          <a:ln w="12700">
            <a:solidFill>
              <a:schemeClr val="bg2"/>
            </a:solidFill>
            <a:prstDash val="solid"/>
          </a:ln>
        </p:spPr>
      </p:sp>
      <p:sp>
        <p:nvSpPr>
          <p:cNvPr id="17" name="Text 14"/>
          <p:cNvSpPr txBox="1"/>
          <p:nvPr/>
        </p:nvSpPr>
        <p:spPr>
          <a:xfrm>
            <a:off x="6415430" y="1783080"/>
            <a:ext cx="2103120" cy="1005840"/>
          </a:xfrm>
          <a:prstGeom prst="rect">
            <a:avLst/>
          </a:prstGeom>
          <a:noFill/>
          <a:ln/>
        </p:spPr>
        <p:txBody>
          <a:bodyPr wrap="square" lIns="0" tIns="0" rIns="0" bIns="0" rtlCol="0" anchor="t"/>
          <a:lstStyle/>
          <a:p>
            <a:pPr indent="0" marL="0">
              <a:buNone/>
            </a:pPr>
            <a:r>
              <a:rPr lang="en-US" sz="5400" b="1" dirty="0">
                <a:solidFill>
                  <a:schemeClr val="accent2"/>
                </a:solidFill>
              </a:rPr>
              <a:t>98</a:t>
            </a:r>
            <a:endParaRPr lang="en-US" sz="5400" dirty="0"/>
          </a:p>
        </p:txBody>
      </p:sp>
      <p:sp>
        <p:nvSpPr>
          <p:cNvPr id="18" name="Verdict 2"/>
          <p:cNvSpPr/>
          <p:nvPr/>
        </p:nvSpPr>
        <p:spPr>
          <a:xfrm>
            <a:off x="6415430" y="2880360"/>
            <a:ext cx="1554480" cy="347472"/>
          </a:xfrm>
          <a:prstGeom prst="roundRect">
            <a:avLst>
              <a:gd name="adj" fmla="val 50000"/>
            </a:avLst>
          </a:prstGeom>
          <a:solidFill>
            <a:schemeClr val="accent2"/>
          </a:solidFill>
          <a:ln w="12700">
            <a:solidFill>
              <a:schemeClr val="accent2"/>
            </a:solidFill>
            <a:prstDash val="solid"/>
          </a:ln>
        </p:spPr>
      </p:sp>
      <p:sp>
        <p:nvSpPr>
          <p:cNvPr id="19" name="Text 16"/>
          <p:cNvSpPr txBox="1"/>
          <p:nvPr/>
        </p:nvSpPr>
        <p:spPr>
          <a:xfrm>
            <a:off x="6415430" y="2880360"/>
            <a:ext cx="1554480" cy="347472"/>
          </a:xfrm>
          <a:prstGeom prst="rect">
            <a:avLst/>
          </a:prstGeom>
          <a:noFill/>
          <a:ln/>
        </p:spPr>
        <p:txBody>
          <a:bodyPr wrap="square" lIns="0" tIns="0" rIns="0" bIns="0" rtlCol="0" anchor="ctr"/>
          <a:lstStyle/>
          <a:p>
            <a:pPr algn="ctr" indent="0" marL="0">
              <a:buNone/>
            </a:pPr>
            <a:r>
              <a:rPr lang="en-US" sz="1200" b="1" dirty="0">
                <a:solidFill>
                  <a:schemeClr val="bg1"/>
                </a:solidFill>
              </a:rPr>
              <a:t>Likely fraud</a:t>
            </a:r>
            <a:endParaRPr lang="en-US" sz="1200" dirty="0"/>
          </a:p>
        </p:txBody>
      </p:sp>
      <p:sp>
        <p:nvSpPr>
          <p:cNvPr id="20" name="Text 17"/>
          <p:cNvSpPr txBox="1"/>
          <p:nvPr/>
        </p:nvSpPr>
        <p:spPr>
          <a:xfrm>
            <a:off x="6415430" y="3429000"/>
            <a:ext cx="2103120" cy="457200"/>
          </a:xfrm>
          <a:prstGeom prst="rect">
            <a:avLst/>
          </a:prstGeom>
          <a:noFill/>
          <a:ln/>
        </p:spPr>
        <p:txBody>
          <a:bodyPr wrap="square" lIns="0" tIns="0" rIns="0" bIns="0" rtlCol="0" anchor="t"/>
          <a:lstStyle/>
          <a:p>
            <a:pPr indent="0" marL="0">
              <a:buNone/>
            </a:pPr>
            <a:r>
              <a:rPr lang="en-US" sz="1700" b="1" dirty="0">
                <a:solidFill>
                  <a:schemeClr val="tx1"/>
                </a:solidFill>
              </a:rPr>
              <a:t>Late-night electronics</a:t>
            </a:r>
            <a:endParaRPr lang="en-US" sz="1700" dirty="0"/>
          </a:p>
        </p:txBody>
      </p:sp>
      <p:sp>
        <p:nvSpPr>
          <p:cNvPr id="21" name="Text 18"/>
          <p:cNvSpPr txBox="1"/>
          <p:nvPr/>
        </p:nvSpPr>
        <p:spPr>
          <a:xfrm>
            <a:off x="6415430" y="3977640"/>
            <a:ext cx="2103120" cy="640080"/>
          </a:xfrm>
          <a:prstGeom prst="rect">
            <a:avLst/>
          </a:prstGeom>
          <a:noFill/>
          <a:ln/>
        </p:spPr>
        <p:txBody>
          <a:bodyPr wrap="square" lIns="0" tIns="0" rIns="0" bIns="0" rtlCol="0" anchor="t"/>
          <a:lstStyle/>
          <a:p>
            <a:pPr indent="0" marL="0">
              <a:buNone/>
            </a:pPr>
            <a:r>
              <a:rPr lang="en-US" sz="1400" dirty="0">
                <a:solidFill>
                  <a:schemeClr val="tx1"/>
                </a:solidFill>
              </a:rPr>
              <a:t>Biggest mover: amount</a:t>
            </a:r>
            <a:endParaRPr lang="en-US" sz="1400" dirty="0"/>
          </a:p>
        </p:txBody>
      </p:sp>
      <p:sp>
        <p:nvSpPr>
          <p:cNvPr id="22" name="Demo 3"/>
          <p:cNvSpPr/>
          <p:nvPr/>
        </p:nvSpPr>
        <p:spPr>
          <a:xfrm>
            <a:off x="8960206" y="1554480"/>
            <a:ext cx="2560320" cy="3200400"/>
          </a:xfrm>
          <a:prstGeom prst="roundRect">
            <a:avLst>
              <a:gd name="adj" fmla="val 4286"/>
            </a:avLst>
          </a:prstGeom>
          <a:solidFill>
            <a:schemeClr val="bg2"/>
          </a:solidFill>
          <a:ln w="12700">
            <a:solidFill>
              <a:schemeClr val="bg2"/>
            </a:solidFill>
            <a:prstDash val="solid"/>
          </a:ln>
        </p:spPr>
      </p:sp>
      <p:sp>
        <p:nvSpPr>
          <p:cNvPr id="23" name="Text 20"/>
          <p:cNvSpPr txBox="1"/>
          <p:nvPr/>
        </p:nvSpPr>
        <p:spPr>
          <a:xfrm>
            <a:off x="9188806" y="1783080"/>
            <a:ext cx="2103120" cy="1005840"/>
          </a:xfrm>
          <a:prstGeom prst="rect">
            <a:avLst/>
          </a:prstGeom>
          <a:noFill/>
          <a:ln/>
        </p:spPr>
        <p:txBody>
          <a:bodyPr wrap="square" lIns="0" tIns="0" rIns="0" bIns="0" rtlCol="0" anchor="t"/>
          <a:lstStyle/>
          <a:p>
            <a:pPr indent="0" marL="0">
              <a:buNone/>
            </a:pPr>
            <a:r>
              <a:rPr lang="en-US" sz="5400" b="1" dirty="0">
                <a:solidFill>
                  <a:schemeClr val="accent5"/>
                </a:solidFill>
              </a:rPr>
              <a:t>69</a:t>
            </a:r>
            <a:endParaRPr lang="en-US" sz="5400" dirty="0"/>
          </a:p>
        </p:txBody>
      </p:sp>
      <p:sp>
        <p:nvSpPr>
          <p:cNvPr id="24" name="Verdict 3"/>
          <p:cNvSpPr/>
          <p:nvPr/>
        </p:nvSpPr>
        <p:spPr>
          <a:xfrm>
            <a:off x="9188806" y="2880360"/>
            <a:ext cx="1554480" cy="347472"/>
          </a:xfrm>
          <a:prstGeom prst="roundRect">
            <a:avLst>
              <a:gd name="adj" fmla="val 50000"/>
            </a:avLst>
          </a:prstGeom>
          <a:solidFill>
            <a:schemeClr val="accent5"/>
          </a:solidFill>
          <a:ln w="12700">
            <a:solidFill>
              <a:schemeClr val="accent5"/>
            </a:solidFill>
            <a:prstDash val="solid"/>
          </a:ln>
        </p:spPr>
      </p:sp>
      <p:sp>
        <p:nvSpPr>
          <p:cNvPr id="25" name="Text 22"/>
          <p:cNvSpPr txBox="1"/>
          <p:nvPr/>
        </p:nvSpPr>
        <p:spPr>
          <a:xfrm>
            <a:off x="9188806" y="2880360"/>
            <a:ext cx="1554480" cy="347472"/>
          </a:xfrm>
          <a:prstGeom prst="rect">
            <a:avLst/>
          </a:prstGeom>
          <a:noFill/>
          <a:ln/>
        </p:spPr>
        <p:txBody>
          <a:bodyPr wrap="square" lIns="0" tIns="0" rIns="0" bIns="0" rtlCol="0" anchor="ctr"/>
          <a:lstStyle/>
          <a:p>
            <a:pPr algn="ctr" indent="0" marL="0">
              <a:buNone/>
            </a:pPr>
            <a:r>
              <a:rPr lang="en-US" sz="1200" b="1" dirty="0">
                <a:solidFill>
                  <a:schemeClr val="bg1"/>
                </a:solidFill>
              </a:rPr>
              <a:t>Worth a look</a:t>
            </a:r>
            <a:endParaRPr lang="en-US" sz="1200" dirty="0"/>
          </a:p>
        </p:txBody>
      </p:sp>
      <p:sp>
        <p:nvSpPr>
          <p:cNvPr id="26" name="Text 23"/>
          <p:cNvSpPr txBox="1"/>
          <p:nvPr/>
        </p:nvSpPr>
        <p:spPr>
          <a:xfrm>
            <a:off x="9188806" y="3429000"/>
            <a:ext cx="2103120" cy="457200"/>
          </a:xfrm>
          <a:prstGeom prst="rect">
            <a:avLst/>
          </a:prstGeom>
          <a:noFill/>
          <a:ln/>
        </p:spPr>
        <p:txBody>
          <a:bodyPr wrap="square" lIns="0" tIns="0" rIns="0" bIns="0" rtlCol="0" anchor="t"/>
          <a:lstStyle/>
          <a:p>
            <a:pPr indent="0" marL="0">
              <a:buNone/>
            </a:pPr>
            <a:r>
              <a:rPr lang="en-US" sz="1700" b="1" dirty="0">
                <a:solidFill>
                  <a:schemeClr val="tx1"/>
                </a:solidFill>
              </a:rPr>
              <a:t>Big evening purchase</a:t>
            </a:r>
            <a:endParaRPr lang="en-US" sz="1700" dirty="0"/>
          </a:p>
        </p:txBody>
      </p:sp>
      <p:sp>
        <p:nvSpPr>
          <p:cNvPr id="27" name="Text 24"/>
          <p:cNvSpPr txBox="1"/>
          <p:nvPr/>
        </p:nvSpPr>
        <p:spPr>
          <a:xfrm>
            <a:off x="9188806" y="3977640"/>
            <a:ext cx="2103120" cy="640080"/>
          </a:xfrm>
          <a:prstGeom prst="rect">
            <a:avLst/>
          </a:prstGeom>
          <a:noFill/>
          <a:ln/>
        </p:spPr>
        <p:txBody>
          <a:bodyPr wrap="square" lIns="0" tIns="0" rIns="0" bIns="0" rtlCol="0" anchor="t"/>
          <a:lstStyle/>
          <a:p>
            <a:pPr indent="0" marL="0">
              <a:buNone/>
            </a:pPr>
            <a:r>
              <a:rPr lang="en-US" sz="1400" dirty="0">
                <a:solidFill>
                  <a:schemeClr val="tx1"/>
                </a:solidFill>
              </a:rPr>
              <a:t>Biggest mover: amount</a:t>
            </a:r>
            <a:endParaRPr lang="en-US" sz="1400" dirty="0"/>
          </a:p>
        </p:txBody>
      </p:sp>
      <p:sp>
        <p:nvSpPr>
          <p:cNvPr id="28" name="Strip"/>
          <p:cNvSpPr/>
          <p:nvPr/>
        </p:nvSpPr>
        <p:spPr>
          <a:xfrm>
            <a:off x="640080" y="5029200"/>
            <a:ext cx="10881360" cy="1097280"/>
          </a:xfrm>
          <a:prstGeom prst="roundRect">
            <a:avLst>
              <a:gd name="adj" fmla="val 10000"/>
            </a:avLst>
          </a:prstGeom>
          <a:solidFill>
            <a:schemeClr val="bg2"/>
          </a:solidFill>
          <a:ln w="12700">
            <a:solidFill>
              <a:schemeClr val="bg2"/>
            </a:solidFill>
            <a:prstDash val="solid"/>
          </a:ln>
        </p:spPr>
      </p:sp>
      <p:sp>
        <p:nvSpPr>
          <p:cNvPr id="29" name="Strip circle"/>
          <p:cNvSpPr/>
          <p:nvPr/>
        </p:nvSpPr>
        <p:spPr>
          <a:xfrm>
            <a:off x="914400" y="5212080"/>
            <a:ext cx="731520" cy="731520"/>
          </a:xfrm>
          <a:prstGeom prst="ellipse">
            <a:avLst/>
          </a:prstGeom>
          <a:solidFill>
            <a:schemeClr val="accent3"/>
          </a:solidFill>
          <a:ln w="12700">
            <a:solidFill>
              <a:schemeClr val="accent3"/>
            </a:solidFill>
            <a:prstDash val="solid"/>
          </a:ln>
        </p:spPr>
      </p:sp>
      <p:sp>
        <p:nvSpPr>
          <p:cNvPr id="30" name="Text 27"/>
          <p:cNvSpPr txBox="1"/>
          <p:nvPr/>
        </p:nvSpPr>
        <p:spPr>
          <a:xfrm>
            <a:off x="1920240" y="5212080"/>
            <a:ext cx="9326880" cy="731520"/>
          </a:xfrm>
          <a:prstGeom prst="rect">
            <a:avLst/>
          </a:prstGeom>
          <a:noFill/>
          <a:ln/>
        </p:spPr>
        <p:txBody>
          <a:bodyPr wrap="square" lIns="0" tIns="0" rIns="0" bIns="0" rtlCol="0" anchor="ctr"/>
          <a:lstStyle/>
          <a:p>
            <a:pPr indent="0" marL="0">
              <a:buNone/>
            </a:pPr>
            <a:r>
              <a:rPr lang="en-US" sz="1600" b="1" dirty="0">
                <a:solidFill>
                  <a:schemeClr val="tx1"/>
                </a:solidFill>
              </a:rPr>
              <a:t>Run it live: </a:t>
            </a:r>
            <a:pPr indent="0" marL="0">
              <a:buNone/>
            </a:pPr>
            <a:r>
              <a:rPr lang="en-US" sz="1600" dirty="0">
                <a:solidFill>
                  <a:schemeClr val="tx1"/>
                </a:solidFill>
              </a:rPr>
              <a:t>start the server, then open the app in a browser and score two scenarios.</a:t>
            </a:r>
            <a:endParaRPr lang="en-US" sz="1600" dirty="0"/>
          </a:p>
        </p:txBody>
      </p:sp>
      <p:pic>
        <p:nvPicPr>
          <p:cNvPr id="31" name="Strip icon" descr="Strip">    </p:cNvPr>
          <p:cNvPicPr>
            <a:picLocks noChangeAspect="1"/>
          </p:cNvPicPr>
          <p:nvPr/>
        </p:nvPicPr>
        <p:blipFill>
          <a:blip r:embed="rId1"/>
          <a:stretch>
            <a:fillRect/>
          </a:stretch>
        </p:blipFill>
        <p:spPr>
          <a:xfrm>
            <a:off x="1075334" y="5373014"/>
            <a:ext cx="409651" cy="409651"/>
          </a:xfrm>
          <a:prstGeom prst="rect">
            <a:avLst/>
          </a:prstGeom>
        </p:spPr>
      </p:pic>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914400"/>
          </a:xfrm>
          <a:prstGeom prst="rect">
            <a:avLst/>
          </a:prstGeom>
          <a:noFill/>
          <a:ln/>
        </p:spPr>
        <p:txBody>
          <a:bodyPr wrap="square" lIns="0" tIns="0" rIns="0" bIns="0" rtlCol="0" anchor="ctr"/>
          <a:lstStyle/>
          <a:p>
            <a:pPr algn="l" indent="0" marL="0">
              <a:buNone/>
            </a:pPr>
            <a:r>
              <a:rPr lang="en-US" sz="3600" b="1" dirty="0">
                <a:solidFill>
                  <a:schemeClr val="tx1"/>
                </a:solidFill>
              </a:rPr>
              <a:t>Limitations and lessons learned</a:t>
            </a:r>
            <a:endParaRPr lang="en-US" sz="3600" dirty="0"/>
          </a:p>
        </p:txBody>
      </p:sp>
      <p:sp>
        <p:nvSpPr>
          <p:cNvPr id="4" name="Card 1"/>
          <p:cNvSpPr/>
          <p:nvPr/>
        </p:nvSpPr>
        <p:spPr>
          <a:xfrm>
            <a:off x="640080" y="1554480"/>
            <a:ext cx="2514600" cy="3017520"/>
          </a:xfrm>
          <a:prstGeom prst="roundRect">
            <a:avLst>
              <a:gd name="adj" fmla="val 4364"/>
            </a:avLst>
          </a:prstGeom>
          <a:solidFill>
            <a:schemeClr val="bg2"/>
          </a:solidFill>
          <a:ln w="12700">
            <a:solidFill>
              <a:schemeClr val="bg2"/>
            </a:solidFill>
            <a:prstDash val="solid"/>
          </a:ln>
        </p:spPr>
      </p:sp>
      <p:sp>
        <p:nvSpPr>
          <p:cNvPr id="5" name="Simulated data circle"/>
          <p:cNvSpPr/>
          <p:nvPr/>
        </p:nvSpPr>
        <p:spPr>
          <a:xfrm>
            <a:off x="914400" y="1828800"/>
            <a:ext cx="640080" cy="640080"/>
          </a:xfrm>
          <a:prstGeom prst="ellipse">
            <a:avLst/>
          </a:prstGeom>
          <a:solidFill>
            <a:schemeClr val="accent1"/>
          </a:solidFill>
          <a:ln w="12700">
            <a:solidFill>
              <a:schemeClr val="accent1"/>
            </a:solidFill>
            <a:prstDash val="solid"/>
          </a:ln>
        </p:spPr>
      </p:sp>
      <p:sp>
        <p:nvSpPr>
          <p:cNvPr id="6" name="Text 3"/>
          <p:cNvSpPr txBox="1"/>
          <p:nvPr/>
        </p:nvSpPr>
        <p:spPr>
          <a:xfrm>
            <a:off x="914400" y="2651760"/>
            <a:ext cx="1965960" cy="411480"/>
          </a:xfrm>
          <a:prstGeom prst="rect">
            <a:avLst/>
          </a:prstGeom>
          <a:noFill/>
          <a:ln/>
        </p:spPr>
        <p:txBody>
          <a:bodyPr wrap="square" lIns="0" tIns="0" rIns="0" bIns="0" rtlCol="0" anchor="t"/>
          <a:lstStyle/>
          <a:p>
            <a:pPr indent="0" marL="0">
              <a:buNone/>
            </a:pPr>
            <a:r>
              <a:rPr lang="en-US" sz="1900" b="1" dirty="0">
                <a:solidFill>
                  <a:schemeClr val="tx1"/>
                </a:solidFill>
              </a:rPr>
              <a:t>Simulated data</a:t>
            </a:r>
            <a:endParaRPr lang="en-US" sz="1900" dirty="0"/>
          </a:p>
        </p:txBody>
      </p:sp>
      <p:sp>
        <p:nvSpPr>
          <p:cNvPr id="7" name="Text 4"/>
          <p:cNvSpPr txBox="1"/>
          <p:nvPr/>
        </p:nvSpPr>
        <p:spPr>
          <a:xfrm>
            <a:off x="914400" y="3154680"/>
            <a:ext cx="1965960" cy="1280160"/>
          </a:xfrm>
          <a:prstGeom prst="rect">
            <a:avLst/>
          </a:prstGeom>
          <a:noFill/>
          <a:ln/>
        </p:spPr>
        <p:txBody>
          <a:bodyPr wrap="square" lIns="0" tIns="0" rIns="0" bIns="0" rtlCol="0" anchor="t"/>
          <a:lstStyle/>
          <a:p>
            <a:pPr indent="0" marL="0">
              <a:buNone/>
            </a:pPr>
            <a:r>
              <a:rPr lang="en-US" sz="1500" dirty="0">
                <a:solidFill>
                  <a:schemeClr val="tx1"/>
                </a:solidFill>
              </a:rPr>
              <a:t>Results may not transfer to real-world spending.</a:t>
            </a:r>
            <a:endParaRPr lang="en-US" sz="1500" dirty="0"/>
          </a:p>
        </p:txBody>
      </p:sp>
      <p:sp>
        <p:nvSpPr>
          <p:cNvPr id="8" name="Card 2"/>
          <p:cNvSpPr/>
          <p:nvPr/>
        </p:nvSpPr>
        <p:spPr>
          <a:xfrm>
            <a:off x="3429000" y="1554480"/>
            <a:ext cx="2514600" cy="3017520"/>
          </a:xfrm>
          <a:prstGeom prst="roundRect">
            <a:avLst>
              <a:gd name="adj" fmla="val 4364"/>
            </a:avLst>
          </a:prstGeom>
          <a:solidFill>
            <a:schemeClr val="bg2"/>
          </a:solidFill>
          <a:ln w="12700">
            <a:solidFill>
              <a:schemeClr val="bg2"/>
            </a:solidFill>
            <a:prstDash val="solid"/>
          </a:ln>
        </p:spPr>
      </p:sp>
      <p:sp>
        <p:nvSpPr>
          <p:cNvPr id="9" name="No distance signal circle"/>
          <p:cNvSpPr/>
          <p:nvPr/>
        </p:nvSpPr>
        <p:spPr>
          <a:xfrm>
            <a:off x="3703320" y="1828800"/>
            <a:ext cx="640080" cy="640080"/>
          </a:xfrm>
          <a:prstGeom prst="ellipse">
            <a:avLst/>
          </a:prstGeom>
          <a:solidFill>
            <a:schemeClr val="accent1"/>
          </a:solidFill>
          <a:ln w="12700">
            <a:solidFill>
              <a:schemeClr val="accent1"/>
            </a:solidFill>
            <a:prstDash val="solid"/>
          </a:ln>
        </p:spPr>
      </p:sp>
      <p:sp>
        <p:nvSpPr>
          <p:cNvPr id="10" name="Text 7"/>
          <p:cNvSpPr txBox="1"/>
          <p:nvPr/>
        </p:nvSpPr>
        <p:spPr>
          <a:xfrm>
            <a:off x="3703320" y="2651760"/>
            <a:ext cx="1965960" cy="411480"/>
          </a:xfrm>
          <a:prstGeom prst="rect">
            <a:avLst/>
          </a:prstGeom>
          <a:noFill/>
          <a:ln/>
        </p:spPr>
        <p:txBody>
          <a:bodyPr wrap="square" lIns="0" tIns="0" rIns="0" bIns="0" rtlCol="0" anchor="t"/>
          <a:lstStyle/>
          <a:p>
            <a:pPr indent="0" marL="0">
              <a:buNone/>
            </a:pPr>
            <a:r>
              <a:rPr lang="en-US" sz="1900" b="1" dirty="0">
                <a:solidFill>
                  <a:schemeClr val="tx1"/>
                </a:solidFill>
              </a:rPr>
              <a:t>No distance signal</a:t>
            </a:r>
            <a:endParaRPr lang="en-US" sz="1900" dirty="0"/>
          </a:p>
        </p:txBody>
      </p:sp>
      <p:sp>
        <p:nvSpPr>
          <p:cNvPr id="11" name="Text 8"/>
          <p:cNvSpPr txBox="1"/>
          <p:nvPr/>
        </p:nvSpPr>
        <p:spPr>
          <a:xfrm>
            <a:off x="3703320" y="3154680"/>
            <a:ext cx="1965960" cy="1280160"/>
          </a:xfrm>
          <a:prstGeom prst="rect">
            <a:avLst/>
          </a:prstGeom>
          <a:noFill/>
          <a:ln/>
        </p:spPr>
        <p:txBody>
          <a:bodyPr wrap="square" lIns="0" tIns="0" rIns="0" bIns="0" rtlCol="0" anchor="t"/>
          <a:lstStyle/>
          <a:p>
            <a:pPr indent="0" marL="0">
              <a:buNone/>
            </a:pPr>
            <a:r>
              <a:rPr lang="en-US" sz="1500" dirty="0">
                <a:solidFill>
                  <a:schemeClr val="tx1"/>
                </a:solidFill>
              </a:rPr>
              <a:t>Fraud is no farther from home in this generated data.</a:t>
            </a:r>
            <a:endParaRPr lang="en-US" sz="1500" dirty="0"/>
          </a:p>
        </p:txBody>
      </p:sp>
      <p:sp>
        <p:nvSpPr>
          <p:cNvPr id="12" name="Card 3"/>
          <p:cNvSpPr/>
          <p:nvPr/>
        </p:nvSpPr>
        <p:spPr>
          <a:xfrm>
            <a:off x="6217920" y="1554480"/>
            <a:ext cx="2514600" cy="3017520"/>
          </a:xfrm>
          <a:prstGeom prst="roundRect">
            <a:avLst>
              <a:gd name="adj" fmla="val 4364"/>
            </a:avLst>
          </a:prstGeom>
          <a:solidFill>
            <a:schemeClr val="bg2"/>
          </a:solidFill>
          <a:ln w="12700">
            <a:solidFill>
              <a:schemeClr val="bg2"/>
            </a:solidFill>
            <a:prstDash val="solid"/>
          </a:ln>
        </p:spPr>
      </p:sp>
      <p:sp>
        <p:nvSpPr>
          <p:cNvPr id="13" name="Fraud drifts circle"/>
          <p:cNvSpPr/>
          <p:nvPr/>
        </p:nvSpPr>
        <p:spPr>
          <a:xfrm>
            <a:off x="6492240" y="1828800"/>
            <a:ext cx="640080" cy="640080"/>
          </a:xfrm>
          <a:prstGeom prst="ellipse">
            <a:avLst/>
          </a:prstGeom>
          <a:solidFill>
            <a:schemeClr val="accent1"/>
          </a:solidFill>
          <a:ln w="12700">
            <a:solidFill>
              <a:schemeClr val="accent1"/>
            </a:solidFill>
            <a:prstDash val="solid"/>
          </a:ln>
        </p:spPr>
      </p:sp>
      <p:sp>
        <p:nvSpPr>
          <p:cNvPr id="14" name="Text 11"/>
          <p:cNvSpPr txBox="1"/>
          <p:nvPr/>
        </p:nvSpPr>
        <p:spPr>
          <a:xfrm>
            <a:off x="6492240" y="2651760"/>
            <a:ext cx="1965960" cy="411480"/>
          </a:xfrm>
          <a:prstGeom prst="rect">
            <a:avLst/>
          </a:prstGeom>
          <a:noFill/>
          <a:ln/>
        </p:spPr>
        <p:txBody>
          <a:bodyPr wrap="square" lIns="0" tIns="0" rIns="0" bIns="0" rtlCol="0" anchor="t"/>
          <a:lstStyle/>
          <a:p>
            <a:pPr indent="0" marL="0">
              <a:buNone/>
            </a:pPr>
            <a:r>
              <a:rPr lang="en-US" sz="1900" b="1" dirty="0">
                <a:solidFill>
                  <a:schemeClr val="tx1"/>
                </a:solidFill>
              </a:rPr>
              <a:t>Fraud drifts</a:t>
            </a:r>
            <a:endParaRPr lang="en-US" sz="1900" dirty="0"/>
          </a:p>
        </p:txBody>
      </p:sp>
      <p:sp>
        <p:nvSpPr>
          <p:cNvPr id="15" name="Text 12"/>
          <p:cNvSpPr txBox="1"/>
          <p:nvPr/>
        </p:nvSpPr>
        <p:spPr>
          <a:xfrm>
            <a:off x="6492240" y="3154680"/>
            <a:ext cx="1965960" cy="1280160"/>
          </a:xfrm>
          <a:prstGeom prst="rect">
            <a:avLst/>
          </a:prstGeom>
          <a:noFill/>
          <a:ln/>
        </p:spPr>
        <p:txBody>
          <a:bodyPr wrap="square" lIns="0" tIns="0" rIns="0" bIns="0" rtlCol="0" anchor="t"/>
          <a:lstStyle/>
          <a:p>
            <a:pPr indent="0" marL="0">
              <a:buNone/>
            </a:pPr>
            <a:r>
              <a:rPr lang="en-US" sz="1500" dirty="0">
                <a:solidFill>
                  <a:schemeClr val="tx1"/>
                </a:solidFill>
              </a:rPr>
              <a:t>1.3% in Jan-Nov versus 0.5% in the test month.</a:t>
            </a:r>
            <a:endParaRPr lang="en-US" sz="1500" dirty="0"/>
          </a:p>
        </p:txBody>
      </p:sp>
      <p:sp>
        <p:nvSpPr>
          <p:cNvPr id="16" name="Card 4"/>
          <p:cNvSpPr/>
          <p:nvPr/>
        </p:nvSpPr>
        <p:spPr>
          <a:xfrm>
            <a:off x="9006840" y="1554480"/>
            <a:ext cx="2514600" cy="3017520"/>
          </a:xfrm>
          <a:prstGeom prst="roundRect">
            <a:avLst>
              <a:gd name="adj" fmla="val 4364"/>
            </a:avLst>
          </a:prstGeom>
          <a:solidFill>
            <a:schemeClr val="bg2"/>
          </a:solidFill>
          <a:ln w="12700">
            <a:solidFill>
              <a:schemeClr val="bg2"/>
            </a:solidFill>
            <a:prstDash val="solid"/>
          </a:ln>
        </p:spPr>
      </p:sp>
      <p:sp>
        <p:nvSpPr>
          <p:cNvPr id="17" name="Thresholds matter circle"/>
          <p:cNvSpPr/>
          <p:nvPr/>
        </p:nvSpPr>
        <p:spPr>
          <a:xfrm>
            <a:off x="9281160" y="1828800"/>
            <a:ext cx="640080" cy="640080"/>
          </a:xfrm>
          <a:prstGeom prst="ellipse">
            <a:avLst/>
          </a:prstGeom>
          <a:solidFill>
            <a:schemeClr val="accent1"/>
          </a:solidFill>
          <a:ln w="12700">
            <a:solidFill>
              <a:schemeClr val="accent1"/>
            </a:solidFill>
            <a:prstDash val="solid"/>
          </a:ln>
        </p:spPr>
      </p:sp>
      <p:sp>
        <p:nvSpPr>
          <p:cNvPr id="18" name="Text 15"/>
          <p:cNvSpPr txBox="1"/>
          <p:nvPr/>
        </p:nvSpPr>
        <p:spPr>
          <a:xfrm>
            <a:off x="9281160" y="2651760"/>
            <a:ext cx="1965960" cy="411480"/>
          </a:xfrm>
          <a:prstGeom prst="rect">
            <a:avLst/>
          </a:prstGeom>
          <a:noFill/>
          <a:ln/>
        </p:spPr>
        <p:txBody>
          <a:bodyPr wrap="square" lIns="0" tIns="0" rIns="0" bIns="0" rtlCol="0" anchor="t"/>
          <a:lstStyle/>
          <a:p>
            <a:pPr indent="0" marL="0">
              <a:buNone/>
            </a:pPr>
            <a:r>
              <a:rPr lang="en-US" sz="1900" b="1" dirty="0">
                <a:solidFill>
                  <a:schemeClr val="tx1"/>
                </a:solidFill>
              </a:rPr>
              <a:t>Thresholds matter</a:t>
            </a:r>
            <a:endParaRPr lang="en-US" sz="1900" dirty="0"/>
          </a:p>
        </p:txBody>
      </p:sp>
      <p:sp>
        <p:nvSpPr>
          <p:cNvPr id="19" name="Text 16"/>
          <p:cNvSpPr txBox="1"/>
          <p:nvPr/>
        </p:nvSpPr>
        <p:spPr>
          <a:xfrm>
            <a:off x="9281160" y="3154680"/>
            <a:ext cx="1965960" cy="1280160"/>
          </a:xfrm>
          <a:prstGeom prst="rect">
            <a:avLst/>
          </a:prstGeom>
          <a:noFill/>
          <a:ln/>
        </p:spPr>
        <p:txBody>
          <a:bodyPr wrap="square" lIns="0" tIns="0" rIns="0" bIns="0" rtlCol="0" anchor="t"/>
          <a:lstStyle/>
          <a:p>
            <a:pPr indent="0" marL="0">
              <a:buNone/>
            </a:pPr>
            <a:r>
              <a:rPr lang="en-US" sz="1500" dirty="0">
                <a:solidFill>
                  <a:schemeClr val="tx1"/>
                </a:solidFill>
              </a:rPr>
              <a:t>Random forest F1: 0.72 tuned, 0.36 at 0.5.</a:t>
            </a:r>
            <a:endParaRPr lang="en-US" sz="1500" dirty="0"/>
          </a:p>
        </p:txBody>
      </p:sp>
      <p:sp>
        <p:nvSpPr>
          <p:cNvPr id="20" name="Strip"/>
          <p:cNvSpPr/>
          <p:nvPr/>
        </p:nvSpPr>
        <p:spPr>
          <a:xfrm>
            <a:off x="640080" y="4937760"/>
            <a:ext cx="10881360" cy="1097280"/>
          </a:xfrm>
          <a:prstGeom prst="roundRect">
            <a:avLst>
              <a:gd name="adj" fmla="val 10000"/>
            </a:avLst>
          </a:prstGeom>
          <a:solidFill>
            <a:schemeClr val="bg2"/>
          </a:solidFill>
          <a:ln w="12700">
            <a:solidFill>
              <a:schemeClr val="bg2"/>
            </a:solidFill>
            <a:prstDash val="solid"/>
          </a:ln>
        </p:spPr>
      </p:sp>
      <p:sp>
        <p:nvSpPr>
          <p:cNvPr id="21" name="Strip circle"/>
          <p:cNvSpPr/>
          <p:nvPr/>
        </p:nvSpPr>
        <p:spPr>
          <a:xfrm>
            <a:off x="914400" y="5120640"/>
            <a:ext cx="731520" cy="731520"/>
          </a:xfrm>
          <a:prstGeom prst="ellipse">
            <a:avLst/>
          </a:prstGeom>
          <a:solidFill>
            <a:schemeClr val="accent3"/>
          </a:solidFill>
          <a:ln w="12700">
            <a:solidFill>
              <a:schemeClr val="accent3"/>
            </a:solidFill>
            <a:prstDash val="solid"/>
          </a:ln>
        </p:spPr>
      </p:sp>
      <p:sp>
        <p:nvSpPr>
          <p:cNvPr id="22" name="Text 19"/>
          <p:cNvSpPr txBox="1"/>
          <p:nvPr/>
        </p:nvSpPr>
        <p:spPr>
          <a:xfrm>
            <a:off x="1920240" y="5120640"/>
            <a:ext cx="9326880" cy="731520"/>
          </a:xfrm>
          <a:prstGeom prst="rect">
            <a:avLst/>
          </a:prstGeom>
          <a:noFill/>
          <a:ln/>
        </p:spPr>
        <p:txBody>
          <a:bodyPr wrap="square" lIns="0" tIns="0" rIns="0" bIns="0" rtlCol="0" anchor="ctr"/>
          <a:lstStyle/>
          <a:p>
            <a:pPr indent="0" marL="0">
              <a:buNone/>
            </a:pPr>
            <a:r>
              <a:rPr lang="en-US" sz="1600" b="1" dirty="0">
                <a:solidFill>
                  <a:schemeClr val="tx1"/>
                </a:solidFill>
              </a:rPr>
              <a:t>Lessons: </a:t>
            </a:r>
            <a:pPr indent="0" marL="0">
              <a:buNone/>
            </a:pPr>
            <a:r>
              <a:rPr lang="en-US" sz="1600" dirty="0">
                <a:solidFill>
                  <a:schemeClr val="tx1"/>
                </a:solidFill>
              </a:rPr>
              <a:t>accuracy alone misleads (98.8% for guessing "not fraud"), and history features must use only the past.</a:t>
            </a:r>
            <a:endParaRPr lang="en-US" sz="1600" dirty="0"/>
          </a:p>
        </p:txBody>
      </p:sp>
      <p:pic>
        <p:nvPicPr>
          <p:cNvPr id="23" name="Simulated data icon" descr="Simulated data">    </p:cNvPr>
          <p:cNvPicPr>
            <a:picLocks noChangeAspect="1"/>
          </p:cNvPicPr>
          <p:nvPr/>
        </p:nvPicPr>
        <p:blipFill>
          <a:blip r:embed="rId1"/>
          <a:stretch>
            <a:fillRect/>
          </a:stretch>
        </p:blipFill>
        <p:spPr>
          <a:xfrm>
            <a:off x="1055218" y="1969618"/>
            <a:ext cx="358445" cy="358445"/>
          </a:xfrm>
          <a:prstGeom prst="rect">
            <a:avLst/>
          </a:prstGeom>
        </p:spPr>
      </p:pic>
      <p:pic>
        <p:nvPicPr>
          <p:cNvPr id="24" name="No distance signal icon" descr="No distance signal">    </p:cNvPr>
          <p:cNvPicPr>
            <a:picLocks noChangeAspect="1"/>
          </p:cNvPicPr>
          <p:nvPr/>
        </p:nvPicPr>
        <p:blipFill>
          <a:blip r:embed="rId2"/>
          <a:stretch>
            <a:fillRect/>
          </a:stretch>
        </p:blipFill>
        <p:spPr>
          <a:xfrm>
            <a:off x="3844138" y="1969618"/>
            <a:ext cx="358445" cy="358445"/>
          </a:xfrm>
          <a:prstGeom prst="rect">
            <a:avLst/>
          </a:prstGeom>
        </p:spPr>
      </p:pic>
      <p:pic>
        <p:nvPicPr>
          <p:cNvPr id="25" name="Fraud drifts icon" descr="Fraud drifts">    </p:cNvPr>
          <p:cNvPicPr>
            <a:picLocks noChangeAspect="1"/>
          </p:cNvPicPr>
          <p:nvPr/>
        </p:nvPicPr>
        <p:blipFill>
          <a:blip r:embed="rId3"/>
          <a:stretch>
            <a:fillRect/>
          </a:stretch>
        </p:blipFill>
        <p:spPr>
          <a:xfrm>
            <a:off x="6633058" y="1969618"/>
            <a:ext cx="358445" cy="358445"/>
          </a:xfrm>
          <a:prstGeom prst="rect">
            <a:avLst/>
          </a:prstGeom>
        </p:spPr>
      </p:pic>
      <p:pic>
        <p:nvPicPr>
          <p:cNvPr id="26" name="Strip icon" descr="Strip">    </p:cNvPr>
          <p:cNvPicPr>
            <a:picLocks noChangeAspect="1"/>
          </p:cNvPicPr>
          <p:nvPr/>
        </p:nvPicPr>
        <p:blipFill>
          <a:blip r:embed="rId4"/>
          <a:stretch>
            <a:fillRect/>
          </a:stretch>
        </p:blipFill>
        <p:spPr>
          <a:xfrm>
            <a:off x="1075334" y="5281574"/>
            <a:ext cx="409651" cy="409651"/>
          </a:xfrm>
          <a:prstGeom prst="rect">
            <a:avLst/>
          </a:prstGeom>
        </p:spPr>
      </p:pic>
      <p:pic>
        <p:nvPicPr>
          <p:cNvPr id="27" name="Thresholds matter icon" descr="Thresholds matter">    </p:cNvPr>
          <p:cNvPicPr>
            <a:picLocks noChangeAspect="1"/>
          </p:cNvPicPr>
          <p:nvPr/>
        </p:nvPicPr>
        <p:blipFill>
          <a:blip r:embed="rId5"/>
          <a:stretch>
            <a:fillRect/>
          </a:stretch>
        </p:blipFill>
        <p:spPr>
          <a:xfrm>
            <a:off x="9421978" y="1969618"/>
            <a:ext cx="358445" cy="358445"/>
          </a:xfrm>
          <a:prstGeom prst="rect">
            <a:avLst/>
          </a:prstGeom>
        </p:spPr>
      </p:pic>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914400"/>
          </a:xfrm>
          <a:prstGeom prst="rect">
            <a:avLst/>
          </a:prstGeom>
          <a:noFill/>
          <a:ln/>
        </p:spPr>
        <p:txBody>
          <a:bodyPr wrap="square" lIns="0" tIns="0" rIns="0" bIns="0" rtlCol="0" anchor="ctr"/>
          <a:lstStyle/>
          <a:p>
            <a:pPr algn="l" indent="0" marL="0">
              <a:buNone/>
            </a:pPr>
            <a:r>
              <a:rPr lang="en-US" sz="3600" b="1" dirty="0">
                <a:solidFill>
                  <a:schemeClr val="tx1"/>
                </a:solidFill>
              </a:rPr>
              <a:t>Conclusions and future work</a:t>
            </a:r>
            <a:endParaRPr lang="en-US" sz="3600" dirty="0"/>
          </a:p>
        </p:txBody>
      </p:sp>
      <p:sp>
        <p:nvSpPr>
          <p:cNvPr id="4" name="Card 1"/>
          <p:cNvSpPr/>
          <p:nvPr/>
        </p:nvSpPr>
        <p:spPr>
          <a:xfrm>
            <a:off x="640080" y="1554480"/>
            <a:ext cx="3444240" cy="2926080"/>
          </a:xfrm>
          <a:prstGeom prst="roundRect">
            <a:avLst>
              <a:gd name="adj" fmla="val 3750"/>
            </a:avLst>
          </a:prstGeom>
          <a:solidFill>
            <a:schemeClr val="bg2"/>
          </a:solidFill>
          <a:ln w="12700">
            <a:solidFill>
              <a:schemeClr val="bg2"/>
            </a:solidFill>
            <a:prstDash val="solid"/>
          </a:ln>
        </p:spPr>
      </p:sp>
      <p:sp>
        <p:nvSpPr>
          <p:cNvPr id="5" name="Best model circle"/>
          <p:cNvSpPr/>
          <p:nvPr/>
        </p:nvSpPr>
        <p:spPr>
          <a:xfrm>
            <a:off x="914400" y="1828800"/>
            <a:ext cx="640080" cy="640080"/>
          </a:xfrm>
          <a:prstGeom prst="ellipse">
            <a:avLst/>
          </a:prstGeom>
          <a:solidFill>
            <a:schemeClr val="accent1"/>
          </a:solidFill>
          <a:ln w="12700">
            <a:solidFill>
              <a:schemeClr val="accent1"/>
            </a:solidFill>
            <a:prstDash val="solid"/>
          </a:ln>
        </p:spPr>
      </p:sp>
      <p:sp>
        <p:nvSpPr>
          <p:cNvPr id="6" name="Text 3"/>
          <p:cNvSpPr txBox="1"/>
          <p:nvPr/>
        </p:nvSpPr>
        <p:spPr>
          <a:xfrm>
            <a:off x="914400" y="2651760"/>
            <a:ext cx="2895600" cy="411480"/>
          </a:xfrm>
          <a:prstGeom prst="rect">
            <a:avLst/>
          </a:prstGeom>
          <a:noFill/>
          <a:ln/>
        </p:spPr>
        <p:txBody>
          <a:bodyPr wrap="square" lIns="0" tIns="0" rIns="0" bIns="0" rtlCol="0" anchor="t"/>
          <a:lstStyle/>
          <a:p>
            <a:pPr indent="0" marL="0">
              <a:buNone/>
            </a:pPr>
            <a:r>
              <a:rPr lang="en-US" sz="1900" b="1" dirty="0">
                <a:solidFill>
                  <a:schemeClr val="tx1"/>
                </a:solidFill>
              </a:rPr>
              <a:t>Best model</a:t>
            </a:r>
            <a:endParaRPr lang="en-US" sz="1900" dirty="0"/>
          </a:p>
        </p:txBody>
      </p:sp>
      <p:sp>
        <p:nvSpPr>
          <p:cNvPr id="7" name="Text 4"/>
          <p:cNvSpPr txBox="1"/>
          <p:nvPr/>
        </p:nvSpPr>
        <p:spPr>
          <a:xfrm>
            <a:off x="914400" y="3154680"/>
            <a:ext cx="2895600" cy="1188720"/>
          </a:xfrm>
          <a:prstGeom prst="rect">
            <a:avLst/>
          </a:prstGeom>
          <a:noFill/>
          <a:ln/>
        </p:spPr>
        <p:txBody>
          <a:bodyPr wrap="square" lIns="0" tIns="0" rIns="0" bIns="0" rtlCol="0" anchor="t"/>
          <a:lstStyle/>
          <a:p>
            <a:pPr indent="0" marL="0">
              <a:buNone/>
            </a:pPr>
            <a:r>
              <a:rPr lang="en-US" sz="1500" dirty="0">
                <a:solidFill>
                  <a:schemeClr val="tx1"/>
                </a:solidFill>
              </a:rPr>
              <a:t>Random forest: F1 0.72, PR-AUC 0.76.</a:t>
            </a:r>
            <a:endParaRPr lang="en-US" sz="1500" dirty="0"/>
          </a:p>
        </p:txBody>
      </p:sp>
      <p:sp>
        <p:nvSpPr>
          <p:cNvPr id="8" name="Card 2"/>
          <p:cNvSpPr/>
          <p:nvPr/>
        </p:nvSpPr>
        <p:spPr>
          <a:xfrm>
            <a:off x="4358640" y="1554480"/>
            <a:ext cx="3444240" cy="2926080"/>
          </a:xfrm>
          <a:prstGeom prst="roundRect">
            <a:avLst>
              <a:gd name="adj" fmla="val 3750"/>
            </a:avLst>
          </a:prstGeom>
          <a:solidFill>
            <a:schemeClr val="bg2"/>
          </a:solidFill>
          <a:ln w="12700">
            <a:solidFill>
              <a:schemeClr val="bg2"/>
            </a:solidFill>
            <a:prstDash val="solid"/>
          </a:ln>
        </p:spPr>
      </p:sp>
      <p:sp>
        <p:nvSpPr>
          <p:cNvPr id="9" name="History matters circle"/>
          <p:cNvSpPr/>
          <p:nvPr/>
        </p:nvSpPr>
        <p:spPr>
          <a:xfrm>
            <a:off x="4632960" y="1828800"/>
            <a:ext cx="640080" cy="640080"/>
          </a:xfrm>
          <a:prstGeom prst="ellipse">
            <a:avLst/>
          </a:prstGeom>
          <a:solidFill>
            <a:schemeClr val="accent1"/>
          </a:solidFill>
          <a:ln w="12700">
            <a:solidFill>
              <a:schemeClr val="accent1"/>
            </a:solidFill>
            <a:prstDash val="solid"/>
          </a:ln>
        </p:spPr>
      </p:sp>
      <p:sp>
        <p:nvSpPr>
          <p:cNvPr id="10" name="Text 7"/>
          <p:cNvSpPr txBox="1"/>
          <p:nvPr/>
        </p:nvSpPr>
        <p:spPr>
          <a:xfrm>
            <a:off x="4632960" y="2651760"/>
            <a:ext cx="2895600" cy="411480"/>
          </a:xfrm>
          <a:prstGeom prst="rect">
            <a:avLst/>
          </a:prstGeom>
          <a:noFill/>
          <a:ln/>
        </p:spPr>
        <p:txBody>
          <a:bodyPr wrap="square" lIns="0" tIns="0" rIns="0" bIns="0" rtlCol="0" anchor="t"/>
          <a:lstStyle/>
          <a:p>
            <a:pPr indent="0" marL="0">
              <a:buNone/>
            </a:pPr>
            <a:r>
              <a:rPr lang="en-US" sz="1900" b="1" dirty="0">
                <a:solidFill>
                  <a:schemeClr val="tx1"/>
                </a:solidFill>
              </a:rPr>
              <a:t>History matters</a:t>
            </a:r>
            <a:endParaRPr lang="en-US" sz="1900" dirty="0"/>
          </a:p>
        </p:txBody>
      </p:sp>
      <p:sp>
        <p:nvSpPr>
          <p:cNvPr id="11" name="Text 8"/>
          <p:cNvSpPr txBox="1"/>
          <p:nvPr/>
        </p:nvSpPr>
        <p:spPr>
          <a:xfrm>
            <a:off x="4632960" y="3154680"/>
            <a:ext cx="2895600" cy="1188720"/>
          </a:xfrm>
          <a:prstGeom prst="rect">
            <a:avLst/>
          </a:prstGeom>
          <a:noFill/>
          <a:ln/>
        </p:spPr>
        <p:txBody>
          <a:bodyPr wrap="square" lIns="0" tIns="0" rIns="0" bIns="0" rtlCol="0" anchor="t"/>
          <a:lstStyle/>
          <a:p>
            <a:pPr indent="0" marL="0">
              <a:buNone/>
            </a:pPr>
            <a:r>
              <a:rPr lang="en-US" sz="1500" dirty="0">
                <a:solidFill>
                  <a:schemeClr val="tx1"/>
                </a:solidFill>
              </a:rPr>
              <a:t>PR-AUC 0.57 to 0.77 with history features.</a:t>
            </a:r>
            <a:endParaRPr lang="en-US" sz="1500" dirty="0"/>
          </a:p>
        </p:txBody>
      </p:sp>
      <p:sp>
        <p:nvSpPr>
          <p:cNvPr id="12" name="Card 3"/>
          <p:cNvSpPr/>
          <p:nvPr/>
        </p:nvSpPr>
        <p:spPr>
          <a:xfrm>
            <a:off x="8077200" y="1554480"/>
            <a:ext cx="3444240" cy="2926080"/>
          </a:xfrm>
          <a:prstGeom prst="roundRect">
            <a:avLst>
              <a:gd name="adj" fmla="val 3750"/>
            </a:avLst>
          </a:prstGeom>
          <a:solidFill>
            <a:schemeClr val="bg2"/>
          </a:solidFill>
          <a:ln w="12700">
            <a:solidFill>
              <a:schemeClr val="bg2"/>
            </a:solidFill>
            <a:prstDash val="solid"/>
          </a:ln>
        </p:spPr>
      </p:sp>
      <p:sp>
        <p:nvSpPr>
          <p:cNvPr id="13" name="Reduction has a cost circle"/>
          <p:cNvSpPr/>
          <p:nvPr/>
        </p:nvSpPr>
        <p:spPr>
          <a:xfrm>
            <a:off x="8351520" y="1828800"/>
            <a:ext cx="640080" cy="640080"/>
          </a:xfrm>
          <a:prstGeom prst="ellipse">
            <a:avLst/>
          </a:prstGeom>
          <a:solidFill>
            <a:schemeClr val="accent1"/>
          </a:solidFill>
          <a:ln w="12700">
            <a:solidFill>
              <a:schemeClr val="accent1"/>
            </a:solidFill>
            <a:prstDash val="solid"/>
          </a:ln>
        </p:spPr>
      </p:sp>
      <p:sp>
        <p:nvSpPr>
          <p:cNvPr id="14" name="Text 11"/>
          <p:cNvSpPr txBox="1"/>
          <p:nvPr/>
        </p:nvSpPr>
        <p:spPr>
          <a:xfrm>
            <a:off x="8351520" y="2651760"/>
            <a:ext cx="2895600" cy="411480"/>
          </a:xfrm>
          <a:prstGeom prst="rect">
            <a:avLst/>
          </a:prstGeom>
          <a:noFill/>
          <a:ln/>
        </p:spPr>
        <p:txBody>
          <a:bodyPr wrap="square" lIns="0" tIns="0" rIns="0" bIns="0" rtlCol="0" anchor="t"/>
          <a:lstStyle/>
          <a:p>
            <a:pPr indent="0" marL="0">
              <a:buNone/>
            </a:pPr>
            <a:r>
              <a:rPr lang="en-US" sz="1900" b="1" dirty="0">
                <a:solidFill>
                  <a:schemeClr val="tx1"/>
                </a:solidFill>
              </a:rPr>
              <a:t>Reduction has a cost</a:t>
            </a:r>
            <a:endParaRPr lang="en-US" sz="1900" dirty="0"/>
          </a:p>
        </p:txBody>
      </p:sp>
      <p:sp>
        <p:nvSpPr>
          <p:cNvPr id="15" name="Text 12"/>
          <p:cNvSpPr txBox="1"/>
          <p:nvPr/>
        </p:nvSpPr>
        <p:spPr>
          <a:xfrm>
            <a:off x="8351520" y="3154680"/>
            <a:ext cx="2895600" cy="1188720"/>
          </a:xfrm>
          <a:prstGeom prst="rect">
            <a:avLst/>
          </a:prstGeom>
          <a:noFill/>
          <a:ln/>
        </p:spPr>
        <p:txBody>
          <a:bodyPr wrap="square" lIns="0" tIns="0" rIns="0" bIns="0" rtlCol="0" anchor="t"/>
          <a:lstStyle/>
          <a:p>
            <a:pPr indent="0" marL="0">
              <a:buNone/>
            </a:pPr>
            <a:r>
              <a:rPr lang="en-US" sz="1500" dirty="0">
                <a:solidFill>
                  <a:schemeClr val="tx1"/>
                </a:solidFill>
              </a:rPr>
              <a:t>PCA on continuous inputs: forest 0.70 vs 0.76.</a:t>
            </a:r>
            <a:endParaRPr lang="en-US" sz="1500" dirty="0"/>
          </a:p>
        </p:txBody>
      </p:sp>
      <p:sp>
        <p:nvSpPr>
          <p:cNvPr id="16" name="Strip"/>
          <p:cNvSpPr/>
          <p:nvPr/>
        </p:nvSpPr>
        <p:spPr>
          <a:xfrm>
            <a:off x="640080" y="4846320"/>
            <a:ext cx="10881360" cy="1097280"/>
          </a:xfrm>
          <a:prstGeom prst="roundRect">
            <a:avLst>
              <a:gd name="adj" fmla="val 10000"/>
            </a:avLst>
          </a:prstGeom>
          <a:solidFill>
            <a:schemeClr val="bg2"/>
          </a:solidFill>
          <a:ln w="12700">
            <a:solidFill>
              <a:schemeClr val="bg2"/>
            </a:solidFill>
            <a:prstDash val="solid"/>
          </a:ln>
        </p:spPr>
      </p:sp>
      <p:sp>
        <p:nvSpPr>
          <p:cNvPr id="17" name="Strip circle"/>
          <p:cNvSpPr/>
          <p:nvPr/>
        </p:nvSpPr>
        <p:spPr>
          <a:xfrm>
            <a:off x="914400" y="5029200"/>
            <a:ext cx="731520" cy="731520"/>
          </a:xfrm>
          <a:prstGeom prst="ellipse">
            <a:avLst/>
          </a:prstGeom>
          <a:solidFill>
            <a:schemeClr val="accent3"/>
          </a:solidFill>
          <a:ln w="12700">
            <a:solidFill>
              <a:schemeClr val="accent3"/>
            </a:solidFill>
            <a:prstDash val="solid"/>
          </a:ln>
        </p:spPr>
      </p:sp>
      <p:sp>
        <p:nvSpPr>
          <p:cNvPr id="18" name="Text 15"/>
          <p:cNvSpPr txBox="1"/>
          <p:nvPr/>
        </p:nvSpPr>
        <p:spPr>
          <a:xfrm>
            <a:off x="1920240" y="5029200"/>
            <a:ext cx="9326880" cy="731520"/>
          </a:xfrm>
          <a:prstGeom prst="rect">
            <a:avLst/>
          </a:prstGeom>
          <a:noFill/>
          <a:ln/>
        </p:spPr>
        <p:txBody>
          <a:bodyPr wrap="square" lIns="0" tIns="0" rIns="0" bIns="0" rtlCol="0" anchor="ctr"/>
          <a:lstStyle/>
          <a:p>
            <a:pPr indent="0" marL="0">
              <a:buNone/>
            </a:pPr>
            <a:r>
              <a:rPr lang="en-US" sz="1600" b="1" dirty="0">
                <a:solidFill>
                  <a:schemeClr val="tx1"/>
                </a:solidFill>
              </a:rPr>
              <a:t>Future work: </a:t>
            </a:r>
            <a:pPr indent="0" marL="0">
              <a:buNone/>
            </a:pPr>
            <a:r>
              <a:rPr lang="en-US" sz="1600" dirty="0">
                <a:solidFill>
                  <a:schemeClr val="tx1"/>
                </a:solidFill>
              </a:rPr>
              <a:t>real data with permission, cost-based thresholds, and generator settings where travel matters.</a:t>
            </a:r>
            <a:endParaRPr lang="en-US" sz="1600" dirty="0"/>
          </a:p>
        </p:txBody>
      </p:sp>
      <p:pic>
        <p:nvPicPr>
          <p:cNvPr id="19" name="Best model icon" descr="Best model">    </p:cNvPr>
          <p:cNvPicPr>
            <a:picLocks noChangeAspect="1"/>
          </p:cNvPicPr>
          <p:nvPr/>
        </p:nvPicPr>
        <p:blipFill>
          <a:blip r:embed="rId1"/>
          <a:stretch>
            <a:fillRect/>
          </a:stretch>
        </p:blipFill>
        <p:spPr>
          <a:xfrm>
            <a:off x="1055218" y="1969618"/>
            <a:ext cx="358445" cy="358445"/>
          </a:xfrm>
          <a:prstGeom prst="rect">
            <a:avLst/>
          </a:prstGeom>
        </p:spPr>
      </p:pic>
      <p:pic>
        <p:nvPicPr>
          <p:cNvPr id="20" name="History matters icon" descr="History matters">    </p:cNvPr>
          <p:cNvPicPr>
            <a:picLocks noChangeAspect="1"/>
          </p:cNvPicPr>
          <p:nvPr/>
        </p:nvPicPr>
        <p:blipFill>
          <a:blip r:embed="rId2"/>
          <a:stretch>
            <a:fillRect/>
          </a:stretch>
        </p:blipFill>
        <p:spPr>
          <a:xfrm>
            <a:off x="4773778" y="1969618"/>
            <a:ext cx="358445" cy="358445"/>
          </a:xfrm>
          <a:prstGeom prst="rect">
            <a:avLst/>
          </a:prstGeom>
        </p:spPr>
      </p:pic>
      <p:pic>
        <p:nvPicPr>
          <p:cNvPr id="21" name="Reduction has a cost icon" descr="Reduction has a cost">    </p:cNvPr>
          <p:cNvPicPr>
            <a:picLocks noChangeAspect="1"/>
          </p:cNvPicPr>
          <p:nvPr/>
        </p:nvPicPr>
        <p:blipFill>
          <a:blip r:embed="rId3"/>
          <a:stretch>
            <a:fillRect/>
          </a:stretch>
        </p:blipFill>
        <p:spPr>
          <a:xfrm>
            <a:off x="8492338" y="1969618"/>
            <a:ext cx="358445" cy="358445"/>
          </a:xfrm>
          <a:prstGeom prst="rect">
            <a:avLst/>
          </a:prstGeom>
        </p:spPr>
      </p:pic>
      <p:pic>
        <p:nvPicPr>
          <p:cNvPr id="22" name="Strip icon" descr="Strip">    </p:cNvPr>
          <p:cNvPicPr>
            <a:picLocks noChangeAspect="1"/>
          </p:cNvPicPr>
          <p:nvPr/>
        </p:nvPicPr>
        <p:blipFill>
          <a:blip r:embed="rId4"/>
          <a:stretch>
            <a:fillRect/>
          </a:stretch>
        </p:blipFill>
        <p:spPr>
          <a:xfrm>
            <a:off x="1075334" y="5190134"/>
            <a:ext cx="409651" cy="409651"/>
          </a:xfrm>
          <a:prstGeom prst="rect">
            <a:avLst/>
          </a:prstGeom>
        </p:spPr>
      </p:pic>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914400"/>
          </a:xfrm>
          <a:prstGeom prst="rect">
            <a:avLst/>
          </a:prstGeom>
          <a:noFill/>
          <a:ln/>
        </p:spPr>
        <p:txBody>
          <a:bodyPr wrap="square" lIns="0" tIns="0" rIns="0" bIns="0" rtlCol="0" anchor="ctr"/>
          <a:lstStyle/>
          <a:p>
            <a:pPr algn="l" indent="0" marL="0">
              <a:buNone/>
            </a:pPr>
            <a:r>
              <a:rPr lang="en-US" sz="3600" b="1" dirty="0">
                <a:solidFill>
                  <a:schemeClr val="tx1"/>
                </a:solidFill>
              </a:rPr>
              <a:t>Thank you and questions</a:t>
            </a:r>
            <a:endParaRPr lang="en-US" sz="3600" dirty="0"/>
          </a:p>
        </p:txBody>
      </p:sp>
      <p:sp>
        <p:nvSpPr>
          <p:cNvPr id="4" name="Person Josh"/>
          <p:cNvSpPr/>
          <p:nvPr/>
        </p:nvSpPr>
        <p:spPr>
          <a:xfrm>
            <a:off x="640080" y="1554480"/>
            <a:ext cx="5303520" cy="3017520"/>
          </a:xfrm>
          <a:prstGeom prst="roundRect">
            <a:avLst>
              <a:gd name="adj" fmla="val 3636"/>
            </a:avLst>
          </a:prstGeom>
          <a:solidFill>
            <a:schemeClr val="bg2"/>
          </a:solidFill>
          <a:ln w="12700">
            <a:solidFill>
              <a:schemeClr val="bg2"/>
            </a:solidFill>
            <a:prstDash val="solid"/>
          </a:ln>
        </p:spPr>
      </p:sp>
      <p:sp>
        <p:nvSpPr>
          <p:cNvPr id="5" name="Josh circle"/>
          <p:cNvSpPr/>
          <p:nvPr/>
        </p:nvSpPr>
        <p:spPr>
          <a:xfrm>
            <a:off x="960120" y="1828800"/>
            <a:ext cx="731520" cy="731520"/>
          </a:xfrm>
          <a:prstGeom prst="ellipse">
            <a:avLst/>
          </a:prstGeom>
          <a:solidFill>
            <a:schemeClr val="accent1"/>
          </a:solidFill>
          <a:ln w="12700">
            <a:solidFill>
              <a:schemeClr val="accent1"/>
            </a:solidFill>
            <a:prstDash val="solid"/>
          </a:ln>
        </p:spPr>
      </p:sp>
      <p:sp>
        <p:nvSpPr>
          <p:cNvPr id="6" name="Text 3"/>
          <p:cNvSpPr txBox="1"/>
          <p:nvPr/>
        </p:nvSpPr>
        <p:spPr>
          <a:xfrm>
            <a:off x="2011680" y="1920240"/>
            <a:ext cx="3200400" cy="548640"/>
          </a:xfrm>
          <a:prstGeom prst="rect">
            <a:avLst/>
          </a:prstGeom>
          <a:noFill/>
          <a:ln/>
        </p:spPr>
        <p:txBody>
          <a:bodyPr wrap="square" lIns="0" tIns="0" rIns="0" bIns="0" rtlCol="0" anchor="t"/>
          <a:lstStyle/>
          <a:p>
            <a:pPr indent="0" marL="0">
              <a:buNone/>
            </a:pPr>
            <a:r>
              <a:rPr lang="en-US" sz="2600" b="1" dirty="0">
                <a:solidFill>
                  <a:schemeClr val="tx1"/>
                </a:solidFill>
              </a:rPr>
              <a:t>Josh</a:t>
            </a:r>
            <a:endParaRPr lang="en-US" sz="2600" dirty="0"/>
          </a:p>
        </p:txBody>
      </p:sp>
      <p:sp>
        <p:nvSpPr>
          <p:cNvPr id="7" name="Text 4"/>
          <p:cNvSpPr txBox="1"/>
          <p:nvPr/>
        </p:nvSpPr>
        <p:spPr>
          <a:xfrm>
            <a:off x="960120" y="2926080"/>
            <a:ext cx="4663440" cy="1645920"/>
          </a:xfrm>
          <a:prstGeom prst="rect">
            <a:avLst/>
          </a:prstGeom>
          <a:noFill/>
          <a:ln/>
        </p:spPr>
        <p:txBody>
          <a:bodyPr wrap="square" lIns="0" tIns="0" rIns="0" bIns="0" rtlCol="0" anchor="t"/>
          <a:lstStyle/>
          <a:p>
            <a:pPr indent="0" marL="0">
              <a:spcAft>
                <a:spcPts val="800"/>
              </a:spcAft>
              <a:buNone/>
            </a:pPr>
            <a:r>
              <a:rPr lang="en-US" sz="1700" b="1" dirty="0">
                <a:solidFill>
                  <a:schemeClr val="tx1"/>
                </a:solidFill>
              </a:rPr>
              <a:t>Models: </a:t>
            </a:r>
            <a:pPr indent="0" marL="0">
              <a:spcAft>
                <a:spcPts val="800"/>
              </a:spcAft>
              <a:buNone/>
            </a:pPr>
            <a:r>
              <a:rPr lang="en-US" sz="1700" dirty="0">
                <a:solidFill>
                  <a:schemeClr val="tx1"/>
                </a:solidFill>
              </a:rPr>
              <a:t>Logistic regression and Decision tree</a:t>
            </a:r>
            <a:endParaRPr lang="en-US" sz="1700" dirty="0"/>
          </a:p>
          <a:p>
            <a:pPr indent="0" marL="0">
              <a:spcAft>
                <a:spcPts val="800"/>
              </a:spcAft>
              <a:buNone/>
            </a:pPr>
            <a:r>
              <a:rPr lang="en-US" sz="1700" b="1" dirty="0">
                <a:solidFill>
                  <a:schemeClr val="tx1"/>
                </a:solidFill>
              </a:rPr>
              <a:t>Also: </a:t>
            </a:r>
            <a:pPr indent="0" marL="0">
              <a:spcAft>
                <a:spcPts val="800"/>
              </a:spcAft>
              <a:buNone/>
            </a:pPr>
            <a:r>
              <a:rPr lang="en-US" sz="1700" dirty="0">
                <a:solidFill>
                  <a:schemeClr val="tx1"/>
                </a:solidFill>
              </a:rPr>
              <a:t>Feature pipeline and the ablation study</a:t>
            </a:r>
            <a:endParaRPr lang="en-US" sz="1700" dirty="0"/>
          </a:p>
        </p:txBody>
      </p:sp>
      <p:sp>
        <p:nvSpPr>
          <p:cNvPr id="8" name="Person Logan"/>
          <p:cNvSpPr/>
          <p:nvPr/>
        </p:nvSpPr>
        <p:spPr>
          <a:xfrm>
            <a:off x="6217920" y="1554480"/>
            <a:ext cx="5303520" cy="3017520"/>
          </a:xfrm>
          <a:prstGeom prst="roundRect">
            <a:avLst>
              <a:gd name="adj" fmla="val 3636"/>
            </a:avLst>
          </a:prstGeom>
          <a:solidFill>
            <a:schemeClr val="bg2"/>
          </a:solidFill>
          <a:ln w="12700">
            <a:solidFill>
              <a:schemeClr val="bg2"/>
            </a:solidFill>
            <a:prstDash val="solid"/>
          </a:ln>
        </p:spPr>
      </p:sp>
      <p:sp>
        <p:nvSpPr>
          <p:cNvPr id="9" name="Logan circle"/>
          <p:cNvSpPr/>
          <p:nvPr/>
        </p:nvSpPr>
        <p:spPr>
          <a:xfrm>
            <a:off x="6537960" y="1828800"/>
            <a:ext cx="731520" cy="731520"/>
          </a:xfrm>
          <a:prstGeom prst="ellipse">
            <a:avLst/>
          </a:prstGeom>
          <a:solidFill>
            <a:schemeClr val="accent1"/>
          </a:solidFill>
          <a:ln w="12700">
            <a:solidFill>
              <a:schemeClr val="accent1"/>
            </a:solidFill>
            <a:prstDash val="solid"/>
          </a:ln>
        </p:spPr>
      </p:sp>
      <p:sp>
        <p:nvSpPr>
          <p:cNvPr id="10" name="Text 7"/>
          <p:cNvSpPr txBox="1"/>
          <p:nvPr/>
        </p:nvSpPr>
        <p:spPr>
          <a:xfrm>
            <a:off x="7589520" y="1920240"/>
            <a:ext cx="3200400" cy="548640"/>
          </a:xfrm>
          <a:prstGeom prst="rect">
            <a:avLst/>
          </a:prstGeom>
          <a:noFill/>
          <a:ln/>
        </p:spPr>
        <p:txBody>
          <a:bodyPr wrap="square" lIns="0" tIns="0" rIns="0" bIns="0" rtlCol="0" anchor="t"/>
          <a:lstStyle/>
          <a:p>
            <a:pPr indent="0" marL="0">
              <a:buNone/>
            </a:pPr>
            <a:r>
              <a:rPr lang="en-US" sz="2600" b="1" dirty="0">
                <a:solidFill>
                  <a:schemeClr val="tx1"/>
                </a:solidFill>
              </a:rPr>
              <a:t>Logan</a:t>
            </a:r>
            <a:endParaRPr lang="en-US" sz="2600" dirty="0"/>
          </a:p>
        </p:txBody>
      </p:sp>
      <p:sp>
        <p:nvSpPr>
          <p:cNvPr id="11" name="Text 8"/>
          <p:cNvSpPr txBox="1"/>
          <p:nvPr/>
        </p:nvSpPr>
        <p:spPr>
          <a:xfrm>
            <a:off x="6537960" y="2926080"/>
            <a:ext cx="4663440" cy="1645920"/>
          </a:xfrm>
          <a:prstGeom prst="rect">
            <a:avLst/>
          </a:prstGeom>
          <a:noFill/>
          <a:ln/>
        </p:spPr>
        <p:txBody>
          <a:bodyPr wrap="square" lIns="0" tIns="0" rIns="0" bIns="0" rtlCol="0" anchor="t"/>
          <a:lstStyle/>
          <a:p>
            <a:pPr indent="0" marL="0">
              <a:spcAft>
                <a:spcPts val="800"/>
              </a:spcAft>
              <a:buNone/>
            </a:pPr>
            <a:r>
              <a:rPr lang="en-US" sz="1700" b="1" dirty="0">
                <a:solidFill>
                  <a:schemeClr val="tx1"/>
                </a:solidFill>
              </a:rPr>
              <a:t>Models: </a:t>
            </a:r>
            <a:pPr indent="0" marL="0">
              <a:spcAft>
                <a:spcPts val="800"/>
              </a:spcAft>
              <a:buNone/>
            </a:pPr>
            <a:r>
              <a:rPr lang="en-US" sz="1700" dirty="0">
                <a:solidFill>
                  <a:schemeClr val="tx1"/>
                </a:solidFill>
              </a:rPr>
              <a:t>Random forest and Gradient boosting</a:t>
            </a:r>
            <a:endParaRPr lang="en-US" sz="1700" dirty="0"/>
          </a:p>
          <a:p>
            <a:pPr indent="0" marL="0">
              <a:spcAft>
                <a:spcPts val="800"/>
              </a:spcAft>
              <a:buNone/>
            </a:pPr>
            <a:r>
              <a:rPr lang="en-US" sz="1700" b="1" dirty="0">
                <a:solidFill>
                  <a:schemeClr val="tx1"/>
                </a:solidFill>
              </a:rPr>
              <a:t>Also: </a:t>
            </a:r>
            <a:pPr indent="0" marL="0">
              <a:spcAft>
                <a:spcPts val="800"/>
              </a:spcAft>
              <a:buNone/>
            </a:pPr>
            <a:r>
              <a:rPr lang="en-US" sz="1700" dirty="0">
                <a:solidFill>
                  <a:schemeClr val="tx1"/>
                </a:solidFill>
              </a:rPr>
              <a:t>Tuning and threshold choice</a:t>
            </a:r>
            <a:endParaRPr lang="en-US" sz="1700" dirty="0"/>
          </a:p>
        </p:txBody>
      </p:sp>
      <p:sp>
        <p:nvSpPr>
          <p:cNvPr id="12" name="Strip"/>
          <p:cNvSpPr/>
          <p:nvPr/>
        </p:nvSpPr>
        <p:spPr>
          <a:xfrm>
            <a:off x="640080" y="4846320"/>
            <a:ext cx="10881360" cy="1097280"/>
          </a:xfrm>
          <a:prstGeom prst="roundRect">
            <a:avLst>
              <a:gd name="adj" fmla="val 10000"/>
            </a:avLst>
          </a:prstGeom>
          <a:solidFill>
            <a:schemeClr val="bg2"/>
          </a:solidFill>
          <a:ln w="12700">
            <a:solidFill>
              <a:schemeClr val="bg2"/>
            </a:solidFill>
            <a:prstDash val="solid"/>
          </a:ln>
        </p:spPr>
      </p:sp>
      <p:sp>
        <p:nvSpPr>
          <p:cNvPr id="13" name="Strip circle"/>
          <p:cNvSpPr/>
          <p:nvPr/>
        </p:nvSpPr>
        <p:spPr>
          <a:xfrm>
            <a:off x="914400" y="5029200"/>
            <a:ext cx="731520" cy="731520"/>
          </a:xfrm>
          <a:prstGeom prst="ellipse">
            <a:avLst/>
          </a:prstGeom>
          <a:solidFill>
            <a:schemeClr val="accent3"/>
          </a:solidFill>
          <a:ln w="12700">
            <a:solidFill>
              <a:schemeClr val="accent3"/>
            </a:solidFill>
            <a:prstDash val="solid"/>
          </a:ln>
        </p:spPr>
      </p:sp>
      <p:sp>
        <p:nvSpPr>
          <p:cNvPr id="14" name="Text 11"/>
          <p:cNvSpPr txBox="1"/>
          <p:nvPr/>
        </p:nvSpPr>
        <p:spPr>
          <a:xfrm>
            <a:off x="1920240" y="5029200"/>
            <a:ext cx="9326880" cy="731520"/>
          </a:xfrm>
          <a:prstGeom prst="rect">
            <a:avLst/>
          </a:prstGeom>
          <a:noFill/>
          <a:ln/>
        </p:spPr>
        <p:txBody>
          <a:bodyPr wrap="square" lIns="0" tIns="0" rIns="0" bIns="0" rtlCol="0" anchor="ctr"/>
          <a:lstStyle/>
          <a:p>
            <a:pPr indent="0" marL="0">
              <a:buNone/>
            </a:pPr>
            <a:r>
              <a:rPr lang="en-US" sz="1600" b="1" dirty="0">
                <a:solidFill>
                  <a:schemeClr val="tx1"/>
                </a:solidFill>
              </a:rPr>
              <a:t>Together: </a:t>
            </a:r>
            <a:pPr indent="0" marL="0">
              <a:buNone/>
            </a:pPr>
            <a:r>
              <a:rPr lang="en-US" sz="1600" dirty="0">
                <a:solidFill>
                  <a:schemeClr val="tx1"/>
                </a:solidFill>
              </a:rPr>
              <a:t>scoring demo, decks, final report, and the GitHub repository.</a:t>
            </a:r>
            <a:endParaRPr lang="en-US" sz="1600" dirty="0"/>
          </a:p>
        </p:txBody>
      </p:sp>
      <p:pic>
        <p:nvPicPr>
          <p:cNvPr id="15" name="Josh icon" descr="Josh">    </p:cNvPr>
          <p:cNvPicPr>
            <a:picLocks noChangeAspect="1"/>
          </p:cNvPicPr>
          <p:nvPr/>
        </p:nvPicPr>
        <p:blipFill>
          <a:blip r:embed="rId1"/>
          <a:stretch>
            <a:fillRect/>
          </a:stretch>
        </p:blipFill>
        <p:spPr>
          <a:xfrm>
            <a:off x="1121054" y="1989734"/>
            <a:ext cx="409651" cy="409651"/>
          </a:xfrm>
          <a:prstGeom prst="rect">
            <a:avLst/>
          </a:prstGeom>
        </p:spPr>
      </p:pic>
      <p:pic>
        <p:nvPicPr>
          <p:cNvPr id="16" name="Logan icon" descr="Logan">    </p:cNvPr>
          <p:cNvPicPr>
            <a:picLocks noChangeAspect="1"/>
          </p:cNvPicPr>
          <p:nvPr/>
        </p:nvPicPr>
        <p:blipFill>
          <a:blip r:embed="rId2"/>
          <a:stretch>
            <a:fillRect/>
          </a:stretch>
        </p:blipFill>
        <p:spPr>
          <a:xfrm>
            <a:off x="6698894" y="1989734"/>
            <a:ext cx="409651" cy="409651"/>
          </a:xfrm>
          <a:prstGeom prst="rect">
            <a:avLst/>
          </a:prstGeom>
        </p:spPr>
      </p:pic>
      <p:pic>
        <p:nvPicPr>
          <p:cNvPr id="17" name="Strip icon" descr="Strip">    </p:cNvPr>
          <p:cNvPicPr>
            <a:picLocks noChangeAspect="1"/>
          </p:cNvPicPr>
          <p:nvPr/>
        </p:nvPicPr>
        <p:blipFill>
          <a:blip r:embed="rId3"/>
          <a:stretch>
            <a:fillRect/>
          </a:stretch>
        </p:blipFill>
        <p:spPr>
          <a:xfrm>
            <a:off x="1075334" y="5190134"/>
            <a:ext cx="409651" cy="409651"/>
          </a:xfrm>
          <a:prstGeom prst="rect">
            <a:avLst/>
          </a:prstGeom>
        </p:spPr>
      </p:pic>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Fraud Signal">
  <a:themeElements>
    <a:clrScheme name="Fraud Signal">
      <a:dk1>
        <a:srgbClr val="17252A"/>
      </a:dk1>
      <a:lt1>
        <a:srgbClr val="FFFFFF"/>
      </a:lt1>
      <a:dk2>
        <a:srgbClr val="2B7A78"/>
      </a:dk2>
      <a:lt2>
        <a:srgbClr val="E3F4F2"/>
      </a:lt2>
      <a:accent1>
        <a:srgbClr val="2B7A78"/>
      </a:accent1>
      <a:accent2>
        <a:srgbClr val="E4572E"/>
      </a:accent2>
      <a:accent3>
        <a:srgbClr val="F2B134"/>
      </a:accent3>
      <a:accent4>
        <a:srgbClr val="3AAFA9"/>
      </a:accent4>
      <a:accent5>
        <a:srgbClr val="5C6B73"/>
      </a:accent5>
      <a:accent6>
        <a:srgbClr val="9BC1BC"/>
      </a:accent6>
      <a:hlink>
        <a:srgbClr val="2B7A78"/>
      </a:hlink>
      <a:folHlink>
        <a:srgbClr val="5C6B73"/>
      </a:folHlink>
    </a:clrScheme>
    <a:fontScheme name="Fraud Sign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Detection - ML Project Final Presentation</dc:title>
  <dc:subject>PptxGenJS Presentation</dc:subject>
  <dc:creator>PptxGenJS</dc:creator>
  <cp:lastModifiedBy>PptxGenJS</cp:lastModifiedBy>
  <cp:revision>1</cp:revision>
  <dcterms:created xsi:type="dcterms:W3CDTF">2026-10-29T23:40:05Z</dcterms:created>
  <dcterms:modified xsi:type="dcterms:W3CDTF">2026-10-29T23:40:05Z</dcterms:modified>
</cp:coreProperties>
</file>